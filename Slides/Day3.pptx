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52"/>
  </p:notesMasterIdLst>
  <p:sldIdLst>
    <p:sldId id="256" r:id="rId2"/>
    <p:sldId id="336" r:id="rId3"/>
    <p:sldId id="257" r:id="rId4"/>
    <p:sldId id="267" r:id="rId5"/>
    <p:sldId id="268" r:id="rId6"/>
    <p:sldId id="269" r:id="rId7"/>
    <p:sldId id="270" r:id="rId8"/>
    <p:sldId id="271" r:id="rId9"/>
    <p:sldId id="272" r:id="rId10"/>
    <p:sldId id="258" r:id="rId11"/>
    <p:sldId id="273" r:id="rId12"/>
    <p:sldId id="274" r:id="rId13"/>
    <p:sldId id="275" r:id="rId14"/>
    <p:sldId id="276" r:id="rId15"/>
    <p:sldId id="279" r:id="rId16"/>
    <p:sldId id="278" r:id="rId17"/>
    <p:sldId id="280" r:id="rId18"/>
    <p:sldId id="260" r:id="rId19"/>
    <p:sldId id="281" r:id="rId20"/>
    <p:sldId id="282" r:id="rId21"/>
    <p:sldId id="283" r:id="rId22"/>
    <p:sldId id="284" r:id="rId23"/>
    <p:sldId id="317" r:id="rId24"/>
    <p:sldId id="310" r:id="rId25"/>
    <p:sldId id="309" r:id="rId26"/>
    <p:sldId id="311" r:id="rId27"/>
    <p:sldId id="312" r:id="rId28"/>
    <p:sldId id="316" r:id="rId29"/>
    <p:sldId id="318" r:id="rId30"/>
    <p:sldId id="319" r:id="rId31"/>
    <p:sldId id="313" r:id="rId32"/>
    <p:sldId id="314" r:id="rId33"/>
    <p:sldId id="315" r:id="rId34"/>
    <p:sldId id="261" r:id="rId35"/>
    <p:sldId id="320" r:id="rId36"/>
    <p:sldId id="321" r:id="rId37"/>
    <p:sldId id="322" r:id="rId38"/>
    <p:sldId id="323" r:id="rId39"/>
    <p:sldId id="324" r:id="rId40"/>
    <p:sldId id="325" r:id="rId41"/>
    <p:sldId id="326" r:id="rId42"/>
    <p:sldId id="327" r:id="rId43"/>
    <p:sldId id="328" r:id="rId44"/>
    <p:sldId id="329" r:id="rId45"/>
    <p:sldId id="331" r:id="rId46"/>
    <p:sldId id="332" r:id="rId47"/>
    <p:sldId id="333" r:id="rId48"/>
    <p:sldId id="334" r:id="rId49"/>
    <p:sldId id="335" r:id="rId50"/>
    <p:sldId id="266" r:id="rId5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599"/>
    <p:restoredTop sz="96484"/>
  </p:normalViewPr>
  <p:slideViewPr>
    <p:cSldViewPr snapToGrid="0" snapToObjects="1">
      <p:cViewPr varScale="1">
        <p:scale>
          <a:sx n="134" d="100"/>
          <a:sy n="134" d="100"/>
        </p:scale>
        <p:origin x="400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34FB3F-13DB-504F-9137-363EC150ED77}" type="datetimeFigureOut">
              <a:rPr lang="en-US" smtClean="0"/>
              <a:t>6/4/25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92F93C-4798-C840-90C6-CEF74E015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06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TF-IDF easier to understand, so still quite used in social sciences.</a:t>
            </a:r>
          </a:p>
          <a:p>
            <a:r>
              <a:rPr lang="en-US" dirty="0"/>
              <a:t>Remember, not the best methods will win you a paper, it is the story that the method enables you to tell.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92F93C-4798-C840-90C6-CEF74E01534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9373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2D48A-8472-AE92-C53E-018A17F6C0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20F234-3698-709C-0D5F-011C43C943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8B4C0B-3C9E-6D3B-F289-02684E721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8FBAAC-3AB4-3024-E7E9-5A1C09EBB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EBBF74-C690-8E4D-36EA-0A82A1C83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643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47F89-EE62-8DCA-5861-0EE0120AF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FCD321-6CD9-745B-A7C5-C63B31E413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5AEC30-2F2F-F475-279F-3EDA8183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A1CF77-CCC6-36AB-8577-D66ED4656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62A54A-901F-A159-B48E-0965C6779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710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913DB-22D2-AD3C-F850-0C672AFD3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E8C474-805F-BDA5-DFC8-A4928D0B73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64B83D-A7C8-08CC-5393-FF8876956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1635C3-6962-8A9F-F273-03E18E7EE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43870-E5D5-A4A3-BD31-DEA975160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2976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BBBB5-16B5-349C-96ED-2BE423DBD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7A9F0B-945D-787F-CF11-8DA1F10DB4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917FAE-9B7C-2114-8A50-FC5D9884A3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379DBA-BD9D-2ECB-0856-C1A490C0D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FD7F32-B048-14D8-CB41-238C410B8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CE16DE-FD9E-99EC-F9D1-463CE3B62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063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9D625-6F54-DC54-3E4D-15D7CC662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E06C49-F707-6B00-6026-886D37FD5A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685A37-54C3-98F6-ECA8-05D51B0D90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347830-6B2E-B437-0C2C-3768EE1E09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D97844-74BD-C432-3E1E-F49422D27E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C00E69-564C-2FB6-30AC-54AC41178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17BF92-9F23-412B-8786-881E40C60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DC0DBE-3EEB-E8E4-F5A6-EDD7D4E94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055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1A1A4-FC9A-CA4C-DFF7-D0347C402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842919-DC87-9678-289D-B18596D93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6F538C-7DB6-FA27-8CFB-8865EF108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3D0C18-C702-0914-D409-320E41B70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241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F2EDCF-3358-8600-9E1E-6C900C554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6E00A8-C641-F181-39FC-CA4825B4D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D58444-BB1C-A51F-D0AB-9D962BC2D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678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3CCC5-23BB-B443-4B40-FCE9FE9E1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BDCD2E-1970-9049-6B17-47BFE1A6A2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303648-86EC-C561-6128-8E503B8078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3AB3EA-511B-1164-FF08-A11BC618C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0FEBC8-B08E-CB95-5EBA-B0F6ADF65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516FB6-65D2-CCD0-EA34-84D1A93D9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299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9E44F-427D-FF82-7210-1AF2BFF37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03D8C9-1B0B-CF7E-6DBF-AC1FFE4B15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0D7880-8017-D37E-F857-95574F967A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F52121-5688-EF95-8B85-3B6D2B24C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334905-4FF2-9981-60D9-5C36802C0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24FE73-137E-5B7F-40E4-355691EE3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343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7B29B-C78B-0629-A987-A55238EC2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4AF972-A5E6-DC43-4655-F6E9E5638F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BCB7EE-6C50-64B6-72AB-0D0C0AE8C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6EE57C-942A-F788-DD47-04E92172F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88926B-8344-4489-E1B7-D240A6597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065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49D498-60BD-14E5-3078-5246633951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13FDA0-A993-0414-EF6A-A7F3589825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F987B-EB60-9BB6-B3F1-D2C729D0B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4693B2-B5FE-79A1-14E6-190F43D97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11F024-BB21-C396-6D28-70D2AFAA9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979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7EC41B-0EA5-8546-A6F2-08E687944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338FC3-8560-23F5-8F93-E356E61A6F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EB8513-AFBF-548E-051A-48970F8995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BB2FD-3C29-D25B-E7E2-A3CFBD76C0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46CD4C-C995-3EBF-5AEA-68C73759BA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297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pmc.ncbi.nlm.nih.gov/articles/PMC9578521/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Day 3 - </a:t>
            </a:r>
            <a:r>
              <a:rPr dirty="0"/>
              <a:t>Text (Advanced)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UMN CSS Workshop 2025</a:t>
            </a:r>
          </a:p>
          <a:p>
            <a:r>
              <a:rPr lang="en-US" dirty="0"/>
              <a:t>Instructor: Alvin Zhou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25686-D0A1-5EF4-C7BF-7B5F8E7B4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20DF3-D51D-1C73-4013-1480A2627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996BC5-99A6-892F-24CF-951BA85DA6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3669030" cy="4351338"/>
          </a:xfrm>
        </p:spPr>
        <p:txBody>
          <a:bodyPr>
            <a:normAutofit/>
          </a:bodyPr>
          <a:lstStyle/>
          <a:p>
            <a:r>
              <a:rPr lang="en-US" dirty="0"/>
              <a:t>Group 1</a:t>
            </a:r>
          </a:p>
          <a:p>
            <a:pPr lvl="1"/>
            <a:r>
              <a:rPr lang="en-US" dirty="0"/>
              <a:t>Gretchen Corcoran</a:t>
            </a:r>
          </a:p>
          <a:p>
            <a:pPr lvl="1"/>
            <a:r>
              <a:rPr lang="en-US" dirty="0"/>
              <a:t>Jikai Sun</a:t>
            </a:r>
          </a:p>
          <a:p>
            <a:pPr lvl="1"/>
            <a:r>
              <a:rPr lang="en-US" dirty="0"/>
              <a:t>Shreepriya Dogra</a:t>
            </a:r>
          </a:p>
          <a:p>
            <a:pPr lvl="1"/>
            <a:r>
              <a:rPr lang="en-US" dirty="0" err="1"/>
              <a:t>Jialu</a:t>
            </a:r>
            <a:r>
              <a:rPr lang="en-US" dirty="0"/>
              <a:t> Fan</a:t>
            </a:r>
          </a:p>
          <a:p>
            <a:r>
              <a:rPr lang="en-US" dirty="0"/>
              <a:t>Group 2</a:t>
            </a:r>
          </a:p>
          <a:p>
            <a:pPr lvl="1"/>
            <a:r>
              <a:rPr lang="en-US" dirty="0"/>
              <a:t>Jiacheng Huang</a:t>
            </a:r>
          </a:p>
          <a:p>
            <a:pPr lvl="1"/>
            <a:r>
              <a:rPr lang="en-US" dirty="0"/>
              <a:t>Paulina Vergara Buitrago</a:t>
            </a:r>
          </a:p>
          <a:p>
            <a:pPr lvl="1"/>
            <a:r>
              <a:rPr lang="en-US" dirty="0"/>
              <a:t>Jong Won Lee</a:t>
            </a:r>
          </a:p>
          <a:p>
            <a:pPr lvl="1"/>
            <a:r>
              <a:rPr lang="en-US" dirty="0"/>
              <a:t>Eun Sun Kyoung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25AE864-4C68-99A7-B2CE-9E78C12C31BD}"/>
              </a:ext>
            </a:extLst>
          </p:cNvPr>
          <p:cNvSpPr txBox="1">
            <a:spLocks/>
          </p:cNvSpPr>
          <p:nvPr/>
        </p:nvSpPr>
        <p:spPr>
          <a:xfrm>
            <a:off x="4776978" y="1825625"/>
            <a:ext cx="366903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Group 3</a:t>
            </a:r>
          </a:p>
          <a:p>
            <a:pPr lvl="1"/>
            <a:r>
              <a:rPr lang="en-US" dirty="0"/>
              <a:t>Sijin Chen</a:t>
            </a:r>
          </a:p>
          <a:p>
            <a:pPr lvl="1"/>
            <a:r>
              <a:rPr lang="en-US" dirty="0"/>
              <a:t>Michael Ofori</a:t>
            </a:r>
          </a:p>
          <a:p>
            <a:pPr lvl="1"/>
            <a:r>
              <a:rPr lang="en-US" dirty="0"/>
              <a:t>Jinny Zhang</a:t>
            </a:r>
          </a:p>
          <a:p>
            <a:pPr lvl="1"/>
            <a:r>
              <a:rPr lang="en-US" dirty="0" err="1"/>
              <a:t>Dongwook</a:t>
            </a:r>
            <a:r>
              <a:rPr lang="en-US" dirty="0"/>
              <a:t> Kim</a:t>
            </a:r>
          </a:p>
          <a:p>
            <a:r>
              <a:rPr lang="en-US" dirty="0"/>
              <a:t>Group 4</a:t>
            </a:r>
          </a:p>
          <a:p>
            <a:pPr lvl="1"/>
            <a:r>
              <a:rPr lang="en-US" dirty="0"/>
              <a:t>Raj Wahlquist</a:t>
            </a:r>
          </a:p>
          <a:p>
            <a:pPr lvl="1"/>
            <a:r>
              <a:rPr lang="en-US" dirty="0"/>
              <a:t>Nicole Marie </a:t>
            </a:r>
            <a:r>
              <a:rPr lang="en-US" dirty="0" err="1"/>
              <a:t>Klevanskaya</a:t>
            </a:r>
            <a:endParaRPr lang="en-US" dirty="0"/>
          </a:p>
          <a:p>
            <a:pPr lvl="1"/>
            <a:r>
              <a:rPr lang="en-US" dirty="0"/>
              <a:t>Wenhui Cheng</a:t>
            </a:r>
          </a:p>
          <a:p>
            <a:pPr lvl="1"/>
            <a:r>
              <a:rPr lang="en-US" dirty="0"/>
              <a:t>Rita </a:t>
            </a:r>
            <a:r>
              <a:rPr lang="en-US" dirty="0" err="1"/>
              <a:t>Rongwei</a:t>
            </a:r>
            <a:r>
              <a:rPr lang="en-US" dirty="0"/>
              <a:t> Tang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ADBF076-E960-DF23-3DBF-B8F1A52BA94F}"/>
              </a:ext>
            </a:extLst>
          </p:cNvPr>
          <p:cNvSpPr txBox="1">
            <a:spLocks/>
          </p:cNvSpPr>
          <p:nvPr/>
        </p:nvSpPr>
        <p:spPr>
          <a:xfrm>
            <a:off x="628650" y="5354255"/>
            <a:ext cx="7886700" cy="1138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Mixed background and coding skills</a:t>
            </a:r>
          </a:p>
          <a:p>
            <a:r>
              <a:rPr lang="en-US"/>
              <a:t>Group members who are confident in their coding skills, please help other members during the afternoon coding labs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3735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Learning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Learn word embedding</a:t>
            </a:r>
          </a:p>
          <a:p>
            <a:r>
              <a:rPr dirty="0"/>
              <a:t>Understand topic modeling and its use in social science</a:t>
            </a:r>
          </a:p>
          <a:p>
            <a:r>
              <a:rPr dirty="0"/>
              <a:t>Explore creative uses of computational text methods</a:t>
            </a:r>
          </a:p>
          <a:p>
            <a:r>
              <a:rPr lang="en-US" dirty="0"/>
              <a:t>Practice using external text APIs and topic modeling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5DB8F-FBC4-787D-109E-5D07BBD0B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4D3463-21F3-47B4-EE69-C6A2A4EDA9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Dictionary-Based Methods</a:t>
            </a:r>
          </a:p>
          <a:p>
            <a:r>
              <a:rPr lang="en-US" dirty="0"/>
              <a:t>Traditional Classifier (pre-2020)</a:t>
            </a:r>
          </a:p>
          <a:p>
            <a:pPr lvl="1"/>
            <a:r>
              <a:rPr lang="en-US" dirty="0"/>
              <a:t>Create features (independent variables) from text: n-grams (bag of words), metadata (emoji, length), TF-IDF, dictionaries (LIWC, MFD)</a:t>
            </a:r>
          </a:p>
          <a:p>
            <a:pPr lvl="2"/>
            <a:r>
              <a:rPr lang="en-US" dirty="0"/>
              <a:t>For example, the text “I love data science! 🧪” can have these features</a:t>
            </a:r>
          </a:p>
          <a:p>
            <a:pPr lvl="3"/>
            <a:r>
              <a:rPr lang="en-US" dirty="0"/>
              <a:t>"I": 1, "love": 1, "data": 1, "science": 1, “🧪”: 1</a:t>
            </a:r>
          </a:p>
          <a:p>
            <a:pPr lvl="3"/>
            <a:r>
              <a:rPr lang="en-US" dirty="0"/>
              <a:t>No. of Characters: 22</a:t>
            </a:r>
          </a:p>
          <a:p>
            <a:pPr lvl="3"/>
            <a:r>
              <a:rPr lang="en-US" dirty="0"/>
              <a:t>Punctuation Count: 1</a:t>
            </a:r>
          </a:p>
          <a:p>
            <a:pPr lvl="3"/>
            <a:r>
              <a:rPr lang="en-US" dirty="0"/>
              <a:t>"PRP (personal pronoun)": 1, "VBP (verb)": 1, "NN (noun)": 2, "SYM (symbol)”: 1</a:t>
            </a:r>
          </a:p>
          <a:p>
            <a:pPr lvl="2"/>
            <a:r>
              <a:rPr lang="en-US" dirty="0"/>
              <a:t>The Y (dependent variable) is binary (uncivil/civil; relevant/irrelevant, etc.)</a:t>
            </a:r>
          </a:p>
          <a:p>
            <a:pPr lvl="2"/>
            <a:r>
              <a:rPr lang="en-US" dirty="0"/>
              <a:t>Fit different models (e.g., logistic regression with regularization) with training data</a:t>
            </a:r>
          </a:p>
          <a:p>
            <a:pPr lvl="2"/>
            <a:r>
              <a:rPr lang="en-US" dirty="0"/>
              <a:t>Evaluate how the model performs</a:t>
            </a:r>
          </a:p>
          <a:p>
            <a:pPr lvl="2"/>
            <a:r>
              <a:rPr lang="en-US" dirty="0"/>
              <a:t>Apply the model to the remaining dataset</a:t>
            </a:r>
          </a:p>
        </p:txBody>
      </p:sp>
    </p:spTree>
    <p:extLst>
      <p:ext uri="{BB962C8B-B14F-4D97-AF65-F5344CB8AC3E}">
        <p14:creationId xmlns:p14="http://schemas.microsoft.com/office/powerpoint/2010/main" val="26847749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F1251-0967-2DD5-E8B4-33C7229AB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of Traditional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3EC592-BAD6-BC57-212E-7AAB1DDD87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Bag of Words and TF-IDF are sparse and high-dimensional</a:t>
            </a:r>
          </a:p>
          <a:p>
            <a:r>
              <a:rPr lang="en-US" dirty="0"/>
              <a:t>Vocabulary is rigid: struggles with new/rare words</a:t>
            </a:r>
          </a:p>
          <a:p>
            <a:r>
              <a:rPr lang="en-US" dirty="0"/>
              <a:t>Ignores word meaning and semantic similarity</a:t>
            </a:r>
          </a:p>
          <a:p>
            <a:pPr lvl="1"/>
            <a:r>
              <a:rPr lang="en-US" dirty="0"/>
              <a:t>“happy” and “joyful” are treated as unrelated</a:t>
            </a:r>
          </a:p>
          <a:p>
            <a:r>
              <a:rPr lang="en-US" dirty="0"/>
              <a:t>Doesn’t capture context: “good” ≠ “not good”</a:t>
            </a:r>
          </a:p>
          <a:p>
            <a:r>
              <a:rPr lang="en-US" dirty="0"/>
              <a:t>Performance plateaus in many classification tasks</a:t>
            </a:r>
          </a:p>
        </p:txBody>
      </p:sp>
    </p:spTree>
    <p:extLst>
      <p:ext uri="{BB962C8B-B14F-4D97-AF65-F5344CB8AC3E}">
        <p14:creationId xmlns:p14="http://schemas.microsoft.com/office/powerpoint/2010/main" val="11236203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D174E-F94F-3D1B-F29D-90198E1AE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14A62-4939-D39E-8708-5A00815DB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Word Embedding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CB5797-3289-AB58-8D68-3E40BEDC18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word is represented by a vector</a:t>
            </a:r>
          </a:p>
          <a:p>
            <a:r>
              <a:rPr lang="en-US" dirty="0"/>
              <a:t>Words with similar meanings are close in vector space</a:t>
            </a:r>
          </a:p>
          <a:p>
            <a:r>
              <a:rPr lang="en-US" dirty="0"/>
              <a:t>Captures semantic and syntactic similarity</a:t>
            </a:r>
          </a:p>
          <a:p>
            <a:pPr lvl="1"/>
            <a:r>
              <a:rPr lang="en-US" dirty="0"/>
              <a:t>“king” – “man” + “woman” ≈ “queen”</a:t>
            </a:r>
          </a:p>
          <a:p>
            <a:pPr lvl="1"/>
            <a:r>
              <a:rPr lang="en-US" dirty="0"/>
              <a:t>“love” and “like” have similar embeddings</a:t>
            </a:r>
          </a:p>
          <a:p>
            <a:r>
              <a:rPr lang="en-US" dirty="0"/>
              <a:t>The “</a:t>
            </a:r>
            <a:r>
              <a:rPr lang="en-US" dirty="0" err="1"/>
              <a:t>GloVe</a:t>
            </a:r>
            <a:r>
              <a:rPr lang="en-US" dirty="0"/>
              <a:t> 6B 300-dimensional” model from Stanford</a:t>
            </a:r>
          </a:p>
          <a:p>
            <a:pPr lvl="1"/>
            <a:r>
              <a:rPr lang="en-US" dirty="0"/>
              <a:t>trained on Wikipedia + </a:t>
            </a:r>
            <a:r>
              <a:rPr lang="en-US" dirty="0" err="1"/>
              <a:t>Gigaword</a:t>
            </a:r>
            <a:r>
              <a:rPr lang="en-US" dirty="0"/>
              <a:t>, in which:</a:t>
            </a:r>
          </a:p>
          <a:p>
            <a:pPr lvl="1"/>
            <a:r>
              <a:rPr lang="en-US" dirty="0"/>
              <a:t>"man" → [ 0.20217, 0.12963, -0.17952, -0.00857, 0.05105, -0.32036, 0.18403, 0.39143, 0.46551, -0.22903, ... ]</a:t>
            </a:r>
          </a:p>
          <a:p>
            <a:pPr lvl="1"/>
            <a:r>
              <a:rPr lang="en-US" dirty="0" err="1"/>
              <a:t>cosine_similarity</a:t>
            </a:r>
            <a:r>
              <a:rPr lang="en-US" dirty="0"/>
              <a:t>("man", "woman") ≈ high</a:t>
            </a:r>
          </a:p>
        </p:txBody>
      </p:sp>
    </p:spTree>
    <p:extLst>
      <p:ext uri="{BB962C8B-B14F-4D97-AF65-F5344CB8AC3E}">
        <p14:creationId xmlns:p14="http://schemas.microsoft.com/office/powerpoint/2010/main" val="4680819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57DB2-8908-6B2B-F1F3-5C8787C67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D4A58-F325-BE23-4501-F337D900C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Use Word Embeddings? (post-2020)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A489C-6564-C412-A735-27497D109E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Low-dimensional: ~100–300 dimensions vs. 10,000s for </a:t>
            </a:r>
            <a:r>
              <a:rPr lang="en-US" dirty="0" err="1"/>
              <a:t>BoW</a:t>
            </a:r>
            <a:endParaRPr lang="en-US" dirty="0"/>
          </a:p>
          <a:p>
            <a:r>
              <a:rPr lang="en-US" dirty="0"/>
              <a:t>Generalizes across similar terms (e.g., “happy”, “joyful”)</a:t>
            </a:r>
          </a:p>
          <a:p>
            <a:r>
              <a:rPr lang="en-US" dirty="0"/>
              <a:t>Pretrained models available (Word2Vec, </a:t>
            </a:r>
            <a:r>
              <a:rPr lang="en-US" dirty="0" err="1"/>
              <a:t>GloVe</a:t>
            </a:r>
            <a:r>
              <a:rPr lang="en-US" dirty="0"/>
              <a:t>, BERT) – simply download to your computer and you are good to go</a:t>
            </a:r>
          </a:p>
          <a:p>
            <a:r>
              <a:rPr lang="en-US" dirty="0"/>
              <a:t>Reduces need for manual feature engineering (e.g., L1/L2 regularization)</a:t>
            </a:r>
          </a:p>
          <a:p>
            <a:r>
              <a:rPr lang="en-US" dirty="0"/>
              <a:t>Improved performance in many areas of NLP</a:t>
            </a:r>
          </a:p>
        </p:txBody>
      </p:sp>
    </p:spTree>
    <p:extLst>
      <p:ext uri="{BB962C8B-B14F-4D97-AF65-F5344CB8AC3E}">
        <p14:creationId xmlns:p14="http://schemas.microsoft.com/office/powerpoint/2010/main" val="28538342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96549-8574-D5ED-0B07-22F527705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E183C-BACB-FBA8-155E-27396F847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Embeddings Are Used in 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EBBAD8-9A3C-8367-95F7-50154E443D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Average word vectors for each document, so that one document is represented by a vector. If</a:t>
            </a:r>
          </a:p>
          <a:p>
            <a:pPr lvl="1"/>
            <a:r>
              <a:rPr lang="en-US" dirty="0"/>
              <a:t>“man” is [1, 0, 1]</a:t>
            </a:r>
          </a:p>
          <a:p>
            <a:pPr lvl="1"/>
            <a:r>
              <a:rPr lang="en-US" dirty="0"/>
              <a:t>“and” is [1, 0, 0]</a:t>
            </a:r>
          </a:p>
          <a:p>
            <a:pPr lvl="1"/>
            <a:r>
              <a:rPr lang="en-US" dirty="0"/>
              <a:t>“woman” is [1, 1, 1]</a:t>
            </a:r>
          </a:p>
          <a:p>
            <a:pPr lvl="1"/>
            <a:r>
              <a:rPr lang="en-US" dirty="0"/>
              <a:t>A document with “man and woman” is represented as [1, 0.333, 0.666]</a:t>
            </a:r>
          </a:p>
          <a:p>
            <a:r>
              <a:rPr lang="en-US" dirty="0"/>
              <a:t>TF-IDF–weighted average</a:t>
            </a:r>
          </a:p>
          <a:p>
            <a:pPr lvl="1"/>
            <a:r>
              <a:rPr lang="en-US" dirty="0"/>
              <a:t>If “man” appears too many times in the document, its influence on “averaging word vectors for each document” decreases</a:t>
            </a:r>
          </a:p>
          <a:p>
            <a:r>
              <a:rPr lang="en-US" dirty="0"/>
              <a:t>Sentence or document embeddings (e.g., Sentence-BERT)</a:t>
            </a:r>
          </a:p>
          <a:p>
            <a:endParaRPr lang="en-US" dirty="0"/>
          </a:p>
          <a:p>
            <a:r>
              <a:rPr lang="en-US" b="1" dirty="0"/>
              <a:t>Feed into any classifier (logistic, SVM, NN)</a:t>
            </a:r>
          </a:p>
        </p:txBody>
      </p:sp>
    </p:spTree>
    <p:extLst>
      <p:ext uri="{BB962C8B-B14F-4D97-AF65-F5344CB8AC3E}">
        <p14:creationId xmlns:p14="http://schemas.microsoft.com/office/powerpoint/2010/main" val="25959363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7E5F5-7827-9F16-1704-F95B85DE0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TF-IDF vs. Word Embedding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48A375D-8985-7CA3-E6CB-992F6AA51D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6579972"/>
              </p:ext>
            </p:extLst>
          </p:nvPr>
        </p:nvGraphicFramePr>
        <p:xfrm>
          <a:off x="628650" y="4304189"/>
          <a:ext cx="7886700" cy="2080260"/>
        </p:xfrm>
        <a:graphic>
          <a:graphicData uri="http://schemas.openxmlformats.org/drawingml/2006/table">
            <a:tbl>
              <a:tblPr firstRow="1">
                <a:tableStyleId>{616DA210-FB5B-4158-B5E0-FEB733F419BA}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89902766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9107528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1840016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Feature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TF-IDF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Word Embedding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24477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Sparse/Dense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Sparse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Dense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21301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Dimensionality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Low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82242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Handles Synonyms?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60526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Context-Aware?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Sometimes (if BERT)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04913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Pretrained?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Not really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Yes (Word2Vec, GloVe, BERT)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941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Model Input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Classic ML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ML + DL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8753432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648DAC7C-7653-04FE-FFD8-BE5405DC46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7B09DD-32C3-F667-9740-B3D19CB03F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87" y="2039940"/>
            <a:ext cx="8998226" cy="1706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1673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Presentation</a:t>
            </a:r>
            <a:r>
              <a:rPr dirty="0"/>
              <a:t>: </a:t>
            </a:r>
            <a:r>
              <a:rPr lang="en-US" dirty="0"/>
              <a:t>Toubia et al. (2021)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3AD31-8C15-1DE4-8CA3-2AE63A853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CFE91-077F-ECBB-EAD1-4924A1546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Presentation: Toubia et al. (2021)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292E9E-0101-EDCE-888E-675DD43DFE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How quantifying the shape of stories predicts success</a:t>
            </a:r>
          </a:p>
          <a:p>
            <a:r>
              <a:rPr dirty="0"/>
              <a:t>Track emotional arc over time using NLP</a:t>
            </a:r>
          </a:p>
          <a:p>
            <a:r>
              <a:rPr dirty="0"/>
              <a:t>Shape features predict box office revenue</a:t>
            </a:r>
          </a:p>
          <a:p>
            <a:r>
              <a:rPr dirty="0"/>
              <a:t>Social science application: narrative structure &amp; diffusion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BB775F-2445-11B0-3571-667C3625E1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1225" y="3626803"/>
            <a:ext cx="4781550" cy="2550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9809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36162D-56B9-DCB4-7BED-000F3A49F6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TF-IDF studies usually “start from scratch”</a:t>
            </a:r>
          </a:p>
          <a:p>
            <a:r>
              <a:rPr lang="en-US" dirty="0"/>
              <a:t>But studies using embeddings usually grab an existing model and fine-tune it with new data</a:t>
            </a:r>
          </a:p>
          <a:p>
            <a:r>
              <a:rPr lang="en-US" dirty="0"/>
              <a:t>“Fine-tuning” means continuing to train a pretrained model on a new, domain-specific corpus, so it adapts to the language and meaning specific to your data.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F80A66-7626-94E0-E815-1326979CB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 can fine-tune embeddings for your study</a:t>
            </a:r>
          </a:p>
        </p:txBody>
      </p:sp>
    </p:spTree>
    <p:extLst>
      <p:ext uri="{BB962C8B-B14F-4D97-AF65-F5344CB8AC3E}">
        <p14:creationId xmlns:p14="http://schemas.microsoft.com/office/powerpoint/2010/main" val="1297794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8046BF-025E-CBF0-6344-483E82D40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F834BB-D75B-ACB9-E5C3-2223BF0384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Fine-Tuning </a:t>
            </a:r>
            <a:r>
              <a:rPr lang="en-US" dirty="0" err="1"/>
              <a:t>GloVe</a:t>
            </a:r>
            <a:r>
              <a:rPr lang="en-US" dirty="0"/>
              <a:t> on Social Media</a:t>
            </a:r>
          </a:p>
          <a:p>
            <a:pPr lvl="1"/>
            <a:r>
              <a:rPr lang="en-US" dirty="0"/>
              <a:t>Let’s say you’re studying vaccine discourse on Twitter. You start with </a:t>
            </a:r>
            <a:r>
              <a:rPr lang="en-US" dirty="0" err="1"/>
              <a:t>GloVe</a:t>
            </a:r>
            <a:r>
              <a:rPr lang="en-US" dirty="0"/>
              <a:t> (trained on news/Wikipedia), but you want to adapt it to Twitter slang + COVID-specific terms.</a:t>
            </a:r>
          </a:p>
          <a:p>
            <a:pPr lvl="1"/>
            <a:r>
              <a:rPr lang="en-US" dirty="0"/>
              <a:t>In Python (conceptually):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38101D-37A0-5A75-B68E-26C17774C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DFD607-8ED1-7C6B-4D58-9F1FB62ADE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133" t="16007" r="12622" b="16335"/>
          <a:stretch>
            <a:fillRect/>
          </a:stretch>
        </p:blipFill>
        <p:spPr>
          <a:xfrm>
            <a:off x="2038350" y="3343492"/>
            <a:ext cx="5067300" cy="3400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5470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70438-9E9A-A586-38F6-A64992976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24573D-CBDD-5173-71C0-614B613B2E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get an embedding model that understands “vax,” “jabbed,” “anti-vaxxer” as used in your data, but still retains core semantic structure from </a:t>
            </a:r>
            <a:r>
              <a:rPr lang="en-US" dirty="0" err="1"/>
              <a:t>GloVe</a:t>
            </a:r>
            <a:r>
              <a:rPr lang="en-US" dirty="0"/>
              <a:t>.</a:t>
            </a:r>
          </a:p>
          <a:p>
            <a:r>
              <a:rPr lang="en-US" dirty="0">
                <a:hlinkClick r:id="rId2"/>
              </a:rPr>
              <a:t>https://pmc.ncbi.nlm.nih.gov/articles/PMC9578521/</a:t>
            </a:r>
            <a:endParaRPr lang="en-US" dirty="0"/>
          </a:p>
          <a:p>
            <a:pPr lvl="1"/>
            <a:r>
              <a:rPr lang="en-US" dirty="0"/>
              <a:t>Our study investigated and compared public sentiment related to COVID-19 vaccines expressed on 2 popular social media platforms—Reddit and Twitter—harvested from January 1, 2020, to March 1, 2022.</a:t>
            </a:r>
          </a:p>
          <a:p>
            <a:pPr lvl="1"/>
            <a:r>
              <a:rPr lang="en-US" dirty="0"/>
              <a:t>To accomplish this task, we created a fine-tuned </a:t>
            </a:r>
            <a:r>
              <a:rPr lang="en-US" dirty="0" err="1"/>
              <a:t>DistilRoBERTa</a:t>
            </a:r>
            <a:r>
              <a:rPr lang="en-US" dirty="0"/>
              <a:t> model to predict the sentiments of approximately 9.5 million tweets and 70 thousand Reddit comments. To fine-tune our model, our team manually labeled the sentiment of 3600 tweets and then augmented our data set through back-translation. Text sentiment for each social media platform was then classified with our fine-tuned model using Python programming language and the Hugging Face sentiment analysis pipeline.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4DDA52-0E5E-D0C9-50A8-CDBED5E5A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Example</a:t>
            </a:r>
          </a:p>
        </p:txBody>
      </p:sp>
    </p:spTree>
    <p:extLst>
      <p:ext uri="{BB962C8B-B14F-4D97-AF65-F5344CB8AC3E}">
        <p14:creationId xmlns:p14="http://schemas.microsoft.com/office/powerpoint/2010/main" val="8888799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F4AB1-F542-27A0-E024-40B5BB48B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A0FDB-3E65-C547-CA31-B5AE39145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 can definitely train it from scratch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C0C6AAC-2F0C-3961-2821-DDBFAFE9FA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Presentation: Kozlowski et al. (2019)</a:t>
            </a:r>
          </a:p>
        </p:txBody>
      </p:sp>
    </p:spTree>
    <p:extLst>
      <p:ext uri="{BB962C8B-B14F-4D97-AF65-F5344CB8AC3E}">
        <p14:creationId xmlns:p14="http://schemas.microsoft.com/office/powerpoint/2010/main" val="17456323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3A2BF-6A02-F894-2EDD-06CED1B69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EE2CE-09A2-DDCD-3E7B-2249121A7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Presentation</a:t>
            </a:r>
            <a:r>
              <a:rPr dirty="0"/>
              <a:t>: Kozlowski et al. (2019)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B824F-B296-10FD-0754-A8E361F0EB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Trained custom Word2Vec embeddings on Google Books </a:t>
            </a:r>
            <a:r>
              <a:rPr lang="en-US" dirty="0" err="1"/>
              <a:t>Ngram</a:t>
            </a:r>
            <a:r>
              <a:rPr lang="en-US" dirty="0"/>
              <a:t> data from each decade (1900–1999)</a:t>
            </a:r>
          </a:p>
          <a:p>
            <a:pPr lvl="1"/>
            <a:r>
              <a:rPr lang="en-US" dirty="0"/>
              <a:t>Downloaded the Google Books </a:t>
            </a:r>
            <a:r>
              <a:rPr lang="en-US" dirty="0" err="1"/>
              <a:t>Ngram</a:t>
            </a:r>
            <a:r>
              <a:rPr lang="en-US" dirty="0"/>
              <a:t> corpus, stratified by decade (1900–1999).</a:t>
            </a:r>
          </a:p>
          <a:p>
            <a:pPr lvl="1"/>
            <a:r>
              <a:rPr lang="en-US" dirty="0"/>
              <a:t>Trained separate Word2Vec models for each decade.</a:t>
            </a:r>
          </a:p>
          <a:p>
            <a:pPr lvl="1"/>
            <a:r>
              <a:rPr lang="en-US" dirty="0"/>
              <a:t>Used these decade-specific embeddings to:</a:t>
            </a:r>
          </a:p>
          <a:p>
            <a:pPr lvl="2"/>
            <a:r>
              <a:rPr lang="en-US" dirty="0"/>
              <a:t>Measure how meanings of cultural terms shifted across time.</a:t>
            </a:r>
          </a:p>
          <a:p>
            <a:pPr lvl="2"/>
            <a:r>
              <a:rPr lang="en-US" dirty="0"/>
              <a:t>Project words into latent dimensions (e.g., class, gender, affluence) defined by antonym word pairs (e.g., rich vs. poor).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234612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63B17-CD60-2092-2713-FBE44858C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Text-Based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0294BA-B35B-FEF1-EF67-BB81CBE9C1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Choose methods to answer your questions!</a:t>
            </a:r>
          </a:p>
          <a:p>
            <a:pPr lvl="1"/>
            <a:r>
              <a:rPr lang="en-US" dirty="0"/>
              <a:t>Named entity recognition</a:t>
            </a:r>
          </a:p>
          <a:p>
            <a:pPr lvl="1"/>
            <a:r>
              <a:rPr lang="en-US" dirty="0" err="1"/>
              <a:t>PoS</a:t>
            </a:r>
            <a:r>
              <a:rPr lang="en-US" dirty="0"/>
              <a:t> Tagging</a:t>
            </a:r>
          </a:p>
          <a:p>
            <a:pPr lvl="1"/>
            <a:r>
              <a:rPr lang="en-US" dirty="0"/>
              <a:t>Topic models</a:t>
            </a:r>
          </a:p>
        </p:txBody>
      </p:sp>
    </p:spTree>
    <p:extLst>
      <p:ext uri="{BB962C8B-B14F-4D97-AF65-F5344CB8AC3E}">
        <p14:creationId xmlns:p14="http://schemas.microsoft.com/office/powerpoint/2010/main" val="34839904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Presentation</a:t>
            </a:r>
            <a:r>
              <a:rPr dirty="0"/>
              <a:t>: Knight (2022)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C08E286-1677-E01F-06FA-735A88276C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844F7-93ED-E75A-90E7-2446C90EE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91863-A913-373A-9F3C-3DD99C87C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Presentation</a:t>
            </a:r>
            <a:r>
              <a:rPr dirty="0"/>
              <a:t>: Knight (2022)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EFCA8-0CF3-D95D-EAB6-3AB18B4DE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5032375"/>
          </a:xfrm>
        </p:spPr>
        <p:txBody>
          <a:bodyPr>
            <a:normAutofit/>
          </a:bodyPr>
          <a:lstStyle/>
          <a:p>
            <a:r>
              <a:rPr lang="en-US" dirty="0"/>
              <a:t>The New York Times (1890−1934) and Wall Street Journal (1905−1934)</a:t>
            </a:r>
          </a:p>
          <a:p>
            <a:pPr lvl="1"/>
            <a:r>
              <a:rPr lang="en-US" dirty="0"/>
              <a:t>OCR, 400,000+ articles</a:t>
            </a:r>
          </a:p>
          <a:p>
            <a:r>
              <a:rPr lang="en-US" dirty="0"/>
              <a:t>Analyzed “agentic talk” — linguistic indicators that describe corporations as intentional actors (e.g., “decided,” “believed”)</a:t>
            </a:r>
          </a:p>
          <a:p>
            <a:r>
              <a:rPr lang="en-US" dirty="0"/>
              <a:t>Named entity recognition (NER) to identify organizations</a:t>
            </a:r>
          </a:p>
          <a:p>
            <a:pPr lvl="1"/>
            <a:r>
              <a:rPr lang="en-US" dirty="0"/>
              <a:t>Standard Named Entity Recognizer</a:t>
            </a:r>
          </a:p>
          <a:p>
            <a:pPr lvl="1"/>
            <a:r>
              <a:rPr lang="en-US" dirty="0"/>
              <a:t>Authors’ own + manual cleaning</a:t>
            </a:r>
          </a:p>
          <a:p>
            <a:r>
              <a:rPr lang="en-US" dirty="0"/>
              <a:t>Parsing</a:t>
            </a:r>
          </a:p>
          <a:p>
            <a:pPr lvl="1"/>
            <a:r>
              <a:rPr lang="en-US" dirty="0"/>
              <a:t>“</a:t>
            </a:r>
            <a:r>
              <a:rPr lang="en-US" dirty="0" err="1"/>
              <a:t>nsubj</a:t>
            </a:r>
            <a:r>
              <a:rPr lang="en-US" dirty="0"/>
              <a:t>” - the active subject in a sentence</a:t>
            </a:r>
          </a:p>
          <a:p>
            <a:pPr lvl="1"/>
            <a:r>
              <a:rPr lang="en-US" dirty="0"/>
              <a:t>Stanford Tagger + manual cleaning</a:t>
            </a:r>
          </a:p>
          <a:p>
            <a:r>
              <a:rPr lang="en-US" dirty="0"/>
              <a:t>Dictionary for Verbs</a:t>
            </a:r>
          </a:p>
          <a:p>
            <a:pPr lvl="1"/>
            <a:r>
              <a:rPr lang="en-US" dirty="0"/>
              <a:t>Harvard General Inquirer database</a:t>
            </a:r>
          </a:p>
          <a:p>
            <a:pPr lvl="1"/>
            <a:r>
              <a:rPr lang="en-US" dirty="0"/>
              <a:t>“cognitive orientation” and “communicating”</a:t>
            </a:r>
          </a:p>
          <a:p>
            <a:r>
              <a:rPr lang="en-US" dirty="0"/>
              <a:t>STM</a:t>
            </a:r>
          </a:p>
        </p:txBody>
      </p:sp>
    </p:spTree>
    <p:extLst>
      <p:ext uri="{BB962C8B-B14F-4D97-AF65-F5344CB8AC3E}">
        <p14:creationId xmlns:p14="http://schemas.microsoft.com/office/powerpoint/2010/main" val="39254922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F807D-DFCA-4EB6-EFE5-EC95166F8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ECF80E-53E4-6510-2D49-14377B67A8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unsupervised method to discover hidden thematic structure</a:t>
            </a:r>
          </a:p>
          <a:p>
            <a:pPr lvl="1"/>
            <a:r>
              <a:rPr lang="en-US" dirty="0"/>
              <a:t>“what do these documents/text talk about?”</a:t>
            </a:r>
          </a:p>
          <a:p>
            <a:r>
              <a:rPr lang="en-US" dirty="0"/>
              <a:t>Useful for exploratory analysis when labels aren't available</a:t>
            </a:r>
          </a:p>
          <a:p>
            <a:r>
              <a:rPr lang="en-US" dirty="0"/>
              <a:t>Widely popular in social sciences</a:t>
            </a:r>
          </a:p>
        </p:txBody>
      </p:sp>
    </p:spTree>
    <p:extLst>
      <p:ext uri="{BB962C8B-B14F-4D97-AF65-F5344CB8AC3E}">
        <p14:creationId xmlns:p14="http://schemas.microsoft.com/office/powerpoint/2010/main" val="8680053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7DEEF-6EB5-0F00-BD0F-EEAF2D302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Logic of Topic Modeling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D7A0E-5139-2980-707F-8773AD54C8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Three Levels:</a:t>
            </a:r>
          </a:p>
          <a:p>
            <a:pPr lvl="1"/>
            <a:r>
              <a:rPr lang="en-US" dirty="0"/>
              <a:t>Documents</a:t>
            </a:r>
          </a:p>
          <a:p>
            <a:pPr lvl="1"/>
            <a:r>
              <a:rPr lang="en-US" dirty="0"/>
              <a:t>Topics</a:t>
            </a:r>
          </a:p>
          <a:p>
            <a:pPr lvl="1"/>
            <a:r>
              <a:rPr lang="en-US" dirty="0"/>
              <a:t>Words</a:t>
            </a:r>
          </a:p>
          <a:p>
            <a:endParaRPr lang="en-US" dirty="0"/>
          </a:p>
          <a:p>
            <a:r>
              <a:rPr lang="en-US" dirty="0"/>
              <a:t>Documents are composed of multiple topics, with weights</a:t>
            </a:r>
          </a:p>
          <a:p>
            <a:r>
              <a:rPr lang="en-US" dirty="0"/>
              <a:t>Each topic is described by a set of words, with weights</a:t>
            </a:r>
          </a:p>
        </p:txBody>
      </p:sp>
    </p:spTree>
    <p:extLst>
      <p:ext uri="{BB962C8B-B14F-4D97-AF65-F5344CB8AC3E}">
        <p14:creationId xmlns:p14="http://schemas.microsoft.com/office/powerpoint/2010/main" val="4992989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2F52C-0C51-8DC5-155A-2C36D9302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EBFDB-94A8-AE83-9D1E-CD5974C41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Logic of Topic Modeling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FD19FAE-916B-75FE-B454-DFDB2244240F}"/>
              </a:ext>
            </a:extLst>
          </p:cNvPr>
          <p:cNvSpPr txBox="1">
            <a:spLocks/>
          </p:cNvSpPr>
          <p:nvPr/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Early/Most topic models based on TF-IDF</a:t>
            </a:r>
          </a:p>
          <a:p>
            <a:r>
              <a:rPr lang="en-US" dirty="0"/>
              <a:t>Newer models based on word embedding</a:t>
            </a:r>
          </a:p>
          <a:p>
            <a:endParaRPr lang="en-US" dirty="0"/>
          </a:p>
          <a:p>
            <a:r>
              <a:rPr lang="en-US" dirty="0"/>
              <a:t>If two words (word 1 and word 2) always co-occur, the computer understands that they might belong to the same topic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E95591AF-703D-9B2A-BA8E-299F9DC127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24884"/>
          <a:stretch>
            <a:fillRect/>
          </a:stretch>
        </p:blipFill>
        <p:spPr>
          <a:xfrm>
            <a:off x="628650" y="4001294"/>
            <a:ext cx="8479031" cy="2014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1125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EB824-2864-6302-7639-8CE35C2ED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85606-2D87-050B-22B7-8CD115310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Logic of Topic Modeling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FD224BE-030F-A103-B345-5AA3637164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2114240"/>
            <a:ext cx="7886700" cy="3774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6006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74662-D92E-FFCF-BE3B-E680E2088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8BD1F-A878-4D64-D293-4B753ADA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Logic of Topic Modeling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B05C0B4-098F-BE44-41B7-3A0960E677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857097"/>
            <a:ext cx="7886700" cy="4288393"/>
          </a:xfrm>
        </p:spPr>
      </p:pic>
    </p:spTree>
    <p:extLst>
      <p:ext uri="{BB962C8B-B14F-4D97-AF65-F5344CB8AC3E}">
        <p14:creationId xmlns:p14="http://schemas.microsoft.com/office/powerpoint/2010/main" val="10105534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Latent Dirichlet Allocation (LDA)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Introduced by Blei, Ng, and Jordan (2003)</a:t>
            </a:r>
          </a:p>
          <a:p>
            <a:r>
              <a:rPr dirty="0"/>
              <a:t>Assum</a:t>
            </a:r>
            <a:r>
              <a:rPr lang="en-US" dirty="0"/>
              <a:t>ption</a:t>
            </a:r>
          </a:p>
          <a:p>
            <a:pPr lvl="1"/>
            <a:r>
              <a:rPr lang="en-US" dirty="0"/>
              <a:t>Each document is a mixture of topics</a:t>
            </a:r>
          </a:p>
          <a:p>
            <a:pPr lvl="1"/>
            <a:r>
              <a:rPr lang="en-US" dirty="0"/>
              <a:t>Each topic is a mixture of words</a:t>
            </a:r>
          </a:p>
          <a:p>
            <a:pPr lvl="1"/>
            <a:r>
              <a:rPr lang="en-US" b="1" dirty="0"/>
              <a:t>Both mixtures are drawn from Dirichlet distributions</a:t>
            </a:r>
          </a:p>
          <a:p>
            <a:r>
              <a:rPr dirty="0"/>
              <a:t>Widely used, but</a:t>
            </a:r>
            <a:r>
              <a:rPr lang="en-US" dirty="0"/>
              <a:t> with limitations:</a:t>
            </a:r>
          </a:p>
          <a:p>
            <a:pPr lvl="1"/>
            <a:r>
              <a:rPr lang="en-US" dirty="0"/>
              <a:t>Cannot i</a:t>
            </a:r>
            <a:r>
              <a:rPr dirty="0"/>
              <a:t>ntegrating metadata</a:t>
            </a:r>
            <a:endParaRPr lang="en-US" dirty="0"/>
          </a:p>
          <a:p>
            <a:pPr lvl="1"/>
            <a:r>
              <a:rPr lang="en-US" dirty="0"/>
              <a:t>Doesn’t work well with short text</a:t>
            </a:r>
            <a:endParaRPr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Structural Topic Modeling (STM)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Extends LDA by incorporating document-level metadata</a:t>
            </a:r>
            <a:r>
              <a:rPr lang="en-US" dirty="0"/>
              <a:t>/covariate</a:t>
            </a:r>
          </a:p>
          <a:p>
            <a:pPr lvl="1"/>
            <a:r>
              <a:rPr lang="en-US" dirty="0"/>
              <a:t>Year</a:t>
            </a:r>
          </a:p>
          <a:p>
            <a:pPr lvl="1"/>
            <a:r>
              <a:rPr lang="en-US" dirty="0"/>
              <a:t>Political Party</a:t>
            </a:r>
          </a:p>
          <a:p>
            <a:pPr lvl="1"/>
            <a:r>
              <a:rPr lang="en-US" dirty="0"/>
              <a:t>Before/After Treatment</a:t>
            </a:r>
            <a:endParaRPr dirty="0"/>
          </a:p>
          <a:p>
            <a:r>
              <a:rPr lang="en-US" dirty="0"/>
              <a:t>Instead of assuming Dirichlet distributions, it uses logistic-normal prior (has a normal distribution in log-space)</a:t>
            </a:r>
          </a:p>
          <a:p>
            <a:pPr lvl="1"/>
            <a:r>
              <a:rPr lang="en-US" dirty="0"/>
              <a:t>Don’t ask me what they mean </a:t>
            </a:r>
            <a:r>
              <a:rPr lang="en-US" dirty="0">
                <a:sym typeface="Wingdings" pitchFamily="2" charset="2"/>
              </a:rPr>
              <a:t></a:t>
            </a:r>
            <a:endParaRPr lang="en-US" dirty="0"/>
          </a:p>
          <a:p>
            <a:r>
              <a:rPr dirty="0"/>
              <a:t>Allows topic prevalence and content to vary by covariates</a:t>
            </a:r>
          </a:p>
          <a:p>
            <a:r>
              <a:rPr dirty="0"/>
              <a:t>Excellent for theory-testing in social science</a:t>
            </a:r>
          </a:p>
          <a:p>
            <a:r>
              <a:rPr dirty="0"/>
              <a:t>Implemented in R using </a:t>
            </a:r>
            <a:r>
              <a:rPr dirty="0" err="1"/>
              <a:t>stm</a:t>
            </a:r>
            <a:r>
              <a:rPr dirty="0"/>
              <a:t> package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LDA/</a:t>
            </a:r>
            <a:r>
              <a:rPr dirty="0"/>
              <a:t>STM Output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You get:</a:t>
            </a:r>
          </a:p>
          <a:p>
            <a:pPr lvl="1"/>
            <a:r>
              <a:rPr dirty="0"/>
              <a:t>A list of topics (top words per topic)</a:t>
            </a:r>
            <a:endParaRPr lang="en-US" dirty="0"/>
          </a:p>
          <a:p>
            <a:pPr lvl="2"/>
            <a:r>
              <a:rPr lang="en-US" dirty="0"/>
              <a:t>Topic 1’s top words: animal, cat, dog, cow, farm, …</a:t>
            </a:r>
          </a:p>
          <a:p>
            <a:pPr lvl="2"/>
            <a:r>
              <a:rPr lang="en-US" dirty="0"/>
              <a:t>Topic 2’s top words: work, employ, farm, rice…</a:t>
            </a:r>
          </a:p>
          <a:p>
            <a:pPr lvl="2"/>
            <a:r>
              <a:rPr lang="en-US" dirty="0"/>
              <a:t>…</a:t>
            </a:r>
            <a:endParaRPr dirty="0"/>
          </a:p>
          <a:p>
            <a:pPr lvl="1"/>
            <a:r>
              <a:rPr dirty="0"/>
              <a:t>Document-topic proportions</a:t>
            </a:r>
            <a:endParaRPr lang="en-US" dirty="0"/>
          </a:p>
          <a:p>
            <a:pPr lvl="2"/>
            <a:r>
              <a:rPr lang="en-US" dirty="0"/>
              <a:t>This document consists of 50% Topic 1, 25% Topic 2, 15% Topic 3, and 10% Topic 4</a:t>
            </a:r>
          </a:p>
          <a:p>
            <a:r>
              <a:rPr lang="en-US" dirty="0"/>
              <a:t>Specific to STM:</a:t>
            </a:r>
          </a:p>
          <a:p>
            <a:pPr lvl="1"/>
            <a:r>
              <a:rPr dirty="0"/>
              <a:t>Topic correlations</a:t>
            </a:r>
            <a:r>
              <a:rPr lang="en-US" dirty="0"/>
              <a:t> across all documents</a:t>
            </a:r>
          </a:p>
          <a:p>
            <a:pPr lvl="2"/>
            <a:r>
              <a:rPr lang="en-US" dirty="0"/>
              <a:t>How likely Topic 1 and Topic 2 can co-occur (i.e., a network)</a:t>
            </a:r>
            <a:endParaRPr dirty="0"/>
          </a:p>
          <a:p>
            <a:pPr lvl="1"/>
            <a:r>
              <a:rPr dirty="0"/>
              <a:t>Covariate effect (e.g., topic prevalence by party</a:t>
            </a:r>
            <a:r>
              <a:rPr lang="en-US" dirty="0"/>
              <a:t>/</a:t>
            </a:r>
            <a:r>
              <a:rPr dirty="0"/>
              <a:t>time</a:t>
            </a:r>
            <a:r>
              <a:rPr lang="en-US" dirty="0"/>
              <a:t>/treatment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225BF-A308-9FF0-A0F4-A9A509464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743B3-1AA2-63CC-5351-DBD926164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 Modeling Does Not Give You Labels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DE9917-8DEA-7E46-12BD-AE69F6F22B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5032376"/>
          </a:xfrm>
        </p:spPr>
        <p:txBody>
          <a:bodyPr/>
          <a:lstStyle/>
          <a:p>
            <a:r>
              <a:rPr lang="en-US" dirty="0"/>
              <a:t>You get:</a:t>
            </a:r>
          </a:p>
          <a:p>
            <a:pPr lvl="1"/>
            <a:r>
              <a:rPr lang="en-US" dirty="0"/>
              <a:t>A list of topics (top words per topic)</a:t>
            </a:r>
          </a:p>
          <a:p>
            <a:pPr lvl="2"/>
            <a:r>
              <a:rPr lang="en-US" dirty="0"/>
              <a:t>Topic 1’s top words: animal, cat, dog, cow, farm, …</a:t>
            </a:r>
          </a:p>
          <a:p>
            <a:pPr lvl="2"/>
            <a:r>
              <a:rPr lang="en-US" dirty="0"/>
              <a:t>Topic 2’s top words: work, employ, farm, rice…</a:t>
            </a:r>
          </a:p>
          <a:p>
            <a:pPr lvl="2"/>
            <a:r>
              <a:rPr lang="en-US" dirty="0"/>
              <a:t>…</a:t>
            </a:r>
          </a:p>
          <a:p>
            <a:r>
              <a:rPr lang="en-US" dirty="0"/>
              <a:t>But they never tell you what the topics are, the computer only knows that these words seem to co-occur here</a:t>
            </a:r>
          </a:p>
          <a:p>
            <a:pPr lvl="1"/>
            <a:r>
              <a:rPr lang="en-US" dirty="0"/>
              <a:t>No labels like “animal,” “farming,” or “climate change” / “terrorism” </a:t>
            </a:r>
            <a:r>
              <a:rPr lang="en-US" dirty="0" err="1"/>
              <a:t>etc</a:t>
            </a:r>
            <a:endParaRPr lang="en-US" dirty="0"/>
          </a:p>
          <a:p>
            <a:pPr lvl="1"/>
            <a:r>
              <a:rPr lang="en-US" dirty="0"/>
              <a:t>Labels are interpretive, researcher-assigned summaries</a:t>
            </a:r>
          </a:p>
          <a:p>
            <a:pPr lvl="1"/>
            <a:r>
              <a:rPr lang="en-US" dirty="0"/>
              <a:t>Needs researchers’ substantial expertise to cover research areas</a:t>
            </a:r>
          </a:p>
          <a:p>
            <a:r>
              <a:rPr lang="en-US" dirty="0"/>
              <a:t>You must:</a:t>
            </a:r>
          </a:p>
          <a:p>
            <a:pPr lvl="1"/>
            <a:r>
              <a:rPr lang="en-US" dirty="0"/>
              <a:t>Inspect top words</a:t>
            </a:r>
          </a:p>
          <a:p>
            <a:pPr lvl="1"/>
            <a:r>
              <a:rPr lang="en-US" dirty="0"/>
              <a:t>Read exemplar documents for each topic</a:t>
            </a:r>
          </a:p>
          <a:p>
            <a:pPr lvl="1"/>
            <a:r>
              <a:rPr lang="en-US" dirty="0"/>
              <a:t>Assign a topic label and discuss with co-authors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507619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36DE9-86C5-5F73-932B-F2886C70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C2AE4-8352-AD47-ED32-BD25DD678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 Modeling Does Not Give You Labels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ABCFE0-EDF6-B3D2-3C79-B3073D2CA5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5032376"/>
          </a:xfrm>
        </p:spPr>
        <p:txBody>
          <a:bodyPr/>
          <a:lstStyle/>
          <a:p>
            <a:r>
              <a:rPr lang="en-US" dirty="0"/>
              <a:t>Topic modeling is a discovery tool, not a labeling machine.</a:t>
            </a:r>
          </a:p>
          <a:p>
            <a:r>
              <a:rPr lang="en-US" dirty="0"/>
              <a:t>It helps uncover patterns — you provide the meaning.</a:t>
            </a:r>
          </a:p>
          <a:p>
            <a:endParaRPr lang="en-US" dirty="0"/>
          </a:p>
          <a:p>
            <a:r>
              <a:rPr lang="en-US" dirty="0"/>
              <a:t>A topic with top words like “children,” “school,” “teacher,” “lunch,” “bus” might sound like it’s about “Education”</a:t>
            </a:r>
          </a:p>
          <a:p>
            <a:r>
              <a:rPr lang="en-US" dirty="0"/>
              <a:t>But since I am aware that the documents I have are all NY Times articles mentioning “gun,” I should know that it’s mostly about “school shootings.”</a:t>
            </a:r>
          </a:p>
          <a:p>
            <a:r>
              <a:rPr lang="en-US" dirty="0"/>
              <a:t>If I did the search about “poverty,” then I should label it “childhood hunger.”</a:t>
            </a:r>
          </a:p>
          <a:p>
            <a:r>
              <a:rPr lang="en-US" dirty="0"/>
              <a:t>Reading top representative documents is also helpful.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135430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4FAB8-6119-B72C-179D-0029B02FD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Specify the No. of Topics (</a:t>
            </a:r>
            <a:r>
              <a:rPr lang="en-US" i="1" dirty="0"/>
              <a:t>K</a:t>
            </a:r>
            <a:r>
              <a:rPr lang="en-US" dirty="0"/>
              <a:t>) (LDA/STM)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CC071-BC33-8B0B-5B83-69C96365A3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5032375"/>
          </a:xfrm>
        </p:spPr>
        <p:txBody>
          <a:bodyPr/>
          <a:lstStyle/>
          <a:p>
            <a:r>
              <a:rPr lang="en-US" dirty="0"/>
              <a:t>There is no “correct” K, as much art as science</a:t>
            </a:r>
          </a:p>
          <a:p>
            <a:pPr lvl="1"/>
            <a:r>
              <a:rPr lang="en-US" dirty="0"/>
              <a:t>It’s a modeling choice, not a ground truth</a:t>
            </a:r>
          </a:p>
          <a:p>
            <a:pPr lvl="1"/>
            <a:r>
              <a:rPr lang="en-US" dirty="0"/>
              <a:t>Too few topics → overgeneralized, mixed themes</a:t>
            </a:r>
          </a:p>
          <a:p>
            <a:pPr lvl="1"/>
            <a:r>
              <a:rPr lang="en-US" dirty="0"/>
              <a:t>Too many topics → fragmented, redundant, hard to interpret</a:t>
            </a:r>
          </a:p>
          <a:p>
            <a:pPr lvl="1"/>
            <a:r>
              <a:rPr lang="en-US" dirty="0"/>
              <a:t>Need to find a balanced </a:t>
            </a:r>
            <a:r>
              <a:rPr lang="en-US" i="1" dirty="0"/>
              <a:t>K</a:t>
            </a:r>
            <a:r>
              <a:rPr lang="en-US" dirty="0"/>
              <a:t> with human interpretation</a:t>
            </a:r>
          </a:p>
          <a:p>
            <a:r>
              <a:rPr lang="en-US" dirty="0"/>
              <a:t>Model diagnosis does help</a:t>
            </a:r>
          </a:p>
          <a:p>
            <a:pPr lvl="1"/>
            <a:r>
              <a:rPr lang="en-US" dirty="0"/>
              <a:t>Held-out likelihood (predictive performance)</a:t>
            </a:r>
          </a:p>
          <a:p>
            <a:pPr lvl="1"/>
            <a:r>
              <a:rPr lang="en-US" dirty="0"/>
              <a:t>Semantic coherence (do top words make sense together?)</a:t>
            </a:r>
          </a:p>
          <a:p>
            <a:pPr lvl="1"/>
            <a:r>
              <a:rPr lang="en-US" dirty="0"/>
              <a:t>Exclusivity (are top words unique to topics?)</a:t>
            </a:r>
          </a:p>
          <a:p>
            <a:pPr lvl="1"/>
            <a:r>
              <a:rPr lang="en-US" dirty="0"/>
              <a:t>But most important: </a:t>
            </a:r>
            <a:r>
              <a:rPr lang="en-US" b="1" u="sng" dirty="0"/>
              <a:t>Interpretability</a:t>
            </a:r>
            <a:r>
              <a:rPr lang="en-US" dirty="0"/>
              <a:t> (read top documents, qualitative)</a:t>
            </a:r>
          </a:p>
          <a:p>
            <a:r>
              <a:rPr lang="en-US" dirty="0"/>
              <a:t>Tip</a:t>
            </a:r>
          </a:p>
          <a:p>
            <a:pPr lvl="1"/>
            <a:r>
              <a:rPr lang="en-US" dirty="0"/>
              <a:t>Plot “Exclusivity vs. Semantic Coherence” to find a sweet spot</a:t>
            </a:r>
          </a:p>
          <a:p>
            <a:pPr lvl="1"/>
            <a:r>
              <a:rPr lang="en-US" dirty="0"/>
              <a:t>Favor interpretability over statistical fit for most social science audiences</a:t>
            </a:r>
          </a:p>
          <a:p>
            <a:pPr lvl="1"/>
            <a:r>
              <a:rPr lang="en-US" dirty="0"/>
              <a:t>Be transparent and communicate the transparency (in appendix)</a:t>
            </a:r>
          </a:p>
        </p:txBody>
      </p:sp>
    </p:spTree>
    <p:extLst>
      <p:ext uri="{BB962C8B-B14F-4D97-AF65-F5344CB8AC3E}">
        <p14:creationId xmlns:p14="http://schemas.microsoft.com/office/powerpoint/2010/main" val="28929277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Limitations of LDA/STM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Bag-of-words assumption: no word order</a:t>
            </a:r>
          </a:p>
          <a:p>
            <a:r>
              <a:rPr dirty="0"/>
              <a:t>Topics can be hard to interpret</a:t>
            </a:r>
          </a:p>
          <a:p>
            <a:r>
              <a:rPr dirty="0"/>
              <a:t>Sensitive to preprocessing choices</a:t>
            </a:r>
          </a:p>
          <a:p>
            <a:r>
              <a:rPr dirty="0"/>
              <a:t>STM assumes linear effects of covariates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What Comes After STM?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BERTopic</a:t>
            </a:r>
            <a:r>
              <a:rPr dirty="0"/>
              <a:t>: </a:t>
            </a:r>
            <a:r>
              <a:rPr lang="en-US" dirty="0"/>
              <a:t>Uses </a:t>
            </a:r>
            <a:r>
              <a:rPr dirty="0"/>
              <a:t>embeddings </a:t>
            </a:r>
            <a:r>
              <a:rPr lang="en-US" dirty="0"/>
              <a:t>instead of TF-IDF</a:t>
            </a:r>
            <a:endParaRPr dirty="0"/>
          </a:p>
          <a:p>
            <a:pPr lvl="1"/>
            <a:r>
              <a:rPr b="1" dirty="0"/>
              <a:t>No need to specify topic count in advance</a:t>
            </a:r>
          </a:p>
          <a:p>
            <a:pPr lvl="1"/>
            <a:r>
              <a:rPr dirty="0"/>
              <a:t>More coherent topics via sentence-level context</a:t>
            </a:r>
          </a:p>
          <a:p>
            <a:pPr lvl="1"/>
            <a:r>
              <a:rPr dirty="0"/>
              <a:t>Better for short texts (e.g., tweets)</a:t>
            </a:r>
            <a:endParaRPr lang="en-US" dirty="0"/>
          </a:p>
          <a:p>
            <a:endParaRPr lang="en-US" dirty="0"/>
          </a:p>
          <a:p>
            <a:r>
              <a:rPr lang="en-US" dirty="0"/>
              <a:t>Not always good</a:t>
            </a:r>
          </a:p>
          <a:p>
            <a:pPr lvl="1"/>
            <a:r>
              <a:rPr lang="en-US" dirty="0"/>
              <a:t>You might get 15 topics, but your theory posits 6 dimensions</a:t>
            </a:r>
          </a:p>
          <a:p>
            <a:pPr lvl="1"/>
            <a:r>
              <a:rPr lang="en-US" dirty="0"/>
              <a:t>So when social scientists use </a:t>
            </a:r>
            <a:r>
              <a:rPr lang="en-US" dirty="0" err="1"/>
              <a:t>BERTopic</a:t>
            </a:r>
            <a:r>
              <a:rPr lang="en-US" dirty="0"/>
              <a:t> (which typically returns more topics than they want), they have to do </a:t>
            </a:r>
            <a:r>
              <a:rPr lang="en-US" i="1" dirty="0"/>
              <a:t>post-hoc merging</a:t>
            </a:r>
            <a:endParaRPr lang="en-US" dirty="0"/>
          </a:p>
          <a:p>
            <a:pPr lvl="2"/>
            <a:r>
              <a:rPr lang="en-US" dirty="0"/>
              <a:t>Merge topics 3, 8, and 14 because they all relate to “government surveillance.”</a:t>
            </a:r>
          </a:p>
          <a:p>
            <a:pPr lvl="1"/>
            <a:r>
              <a:rPr lang="en-US" dirty="0"/>
              <a:t>This is defensible but might come off weird in eyes of reviewers</a:t>
            </a:r>
          </a:p>
          <a:p>
            <a:r>
              <a:rPr lang="en-US" dirty="0"/>
              <a:t>Instead, use STM, run various </a:t>
            </a:r>
            <a:r>
              <a:rPr lang="en-US" i="1" dirty="0"/>
              <a:t>K </a:t>
            </a:r>
            <a:r>
              <a:rPr lang="en-US" dirty="0"/>
              <a:t>models, and pick the consensus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Modeling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Use LDA </a:t>
            </a:r>
            <a:r>
              <a:rPr lang="en-US" dirty="0"/>
              <a:t>to explore </a:t>
            </a:r>
            <a:r>
              <a:rPr dirty="0"/>
              <a:t>topics</a:t>
            </a:r>
            <a:r>
              <a:rPr lang="en-US" dirty="0"/>
              <a:t> of long documents</a:t>
            </a:r>
            <a:endParaRPr dirty="0"/>
          </a:p>
          <a:p>
            <a:r>
              <a:rPr dirty="0"/>
              <a:t>Use STM when you have metadata and theory-driven questions</a:t>
            </a:r>
          </a:p>
          <a:p>
            <a:r>
              <a:rPr dirty="0"/>
              <a:t>Use </a:t>
            </a:r>
            <a:r>
              <a:rPr dirty="0" err="1"/>
              <a:t>BERTopic</a:t>
            </a:r>
            <a:r>
              <a:rPr dirty="0"/>
              <a:t> for modern, contextual embeddings + better clustering</a:t>
            </a:r>
          </a:p>
          <a:p>
            <a:r>
              <a:rPr dirty="0"/>
              <a:t>All topic models are tools — interpret with care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Case: Zhou et al. (2023)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Exploring PR research topics via topic modeling</a:t>
            </a:r>
          </a:p>
          <a:p>
            <a:r>
              <a:rPr dirty="0"/>
              <a:t>Use STM to identify topics and clusters</a:t>
            </a:r>
          </a:p>
          <a:p>
            <a:r>
              <a:rPr dirty="0"/>
              <a:t>Compare topic distributions across journals</a:t>
            </a:r>
            <a:r>
              <a:rPr lang="en-US" dirty="0"/>
              <a:t> and time</a:t>
            </a:r>
            <a:endParaRPr dirty="0"/>
          </a:p>
          <a:p>
            <a:r>
              <a:rPr lang="en-US" dirty="0"/>
              <a:t>Network simulation to test </a:t>
            </a:r>
            <a:r>
              <a:rPr dirty="0"/>
              <a:t>inter-cluster dynamics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59620-18B7-1BF0-F7B5-68C5C9437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7EEEC-42E4-1D80-3A2C-DACA25427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RQ &amp; Findings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32EA03-BA39-0C60-B3A6-0B08BE0C1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topics do public relations scholars study?</a:t>
            </a:r>
          </a:p>
          <a:p>
            <a:r>
              <a:rPr lang="en-US" dirty="0"/>
              <a:t>What clusters/themes emerge?</a:t>
            </a:r>
          </a:p>
          <a:p>
            <a:r>
              <a:rPr lang="en-US" dirty="0"/>
              <a:t>Do these clusters/themes intersect with each other?</a:t>
            </a:r>
          </a:p>
        </p:txBody>
      </p:sp>
    </p:spTree>
    <p:extLst>
      <p:ext uri="{BB962C8B-B14F-4D97-AF65-F5344CB8AC3E}">
        <p14:creationId xmlns:p14="http://schemas.microsoft.com/office/powerpoint/2010/main" val="10360014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24186D-68F0-2524-957F-69CF4C631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F4560-8B90-15D8-94AB-54EBFC65B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RQ &amp; Findings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EA101E-580A-D57C-79A1-D72CF3BD8A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topics do public relations scholars study?</a:t>
            </a:r>
          </a:p>
          <a:p>
            <a:r>
              <a:rPr lang="en-US" dirty="0"/>
              <a:t>What clusters/themes emerge?</a:t>
            </a:r>
          </a:p>
          <a:p>
            <a:r>
              <a:rPr lang="en-US" dirty="0"/>
              <a:t>Do these clusters/themes intersect with each other?</a:t>
            </a:r>
          </a:p>
          <a:p>
            <a:endParaRPr lang="en-US" dirty="0"/>
          </a:p>
          <a:p>
            <a:r>
              <a:rPr lang="en-US" dirty="0"/>
              <a:t>Identify 65 topics</a:t>
            </a:r>
          </a:p>
          <a:p>
            <a:r>
              <a:rPr lang="en-US" dirty="0"/>
              <a:t>These 65 topics cluster into 9 subfields</a:t>
            </a:r>
          </a:p>
          <a:p>
            <a:r>
              <a:rPr lang="en-US" dirty="0"/>
              <a:t>These subfields do not talk to each other</a:t>
            </a:r>
          </a:p>
        </p:txBody>
      </p:sp>
    </p:spTree>
    <p:extLst>
      <p:ext uri="{BB962C8B-B14F-4D97-AF65-F5344CB8AC3E}">
        <p14:creationId xmlns:p14="http://schemas.microsoft.com/office/powerpoint/2010/main" val="13876159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A215C-E309-837B-9A4A-5D64431E9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A2C6E-1309-19D3-BCF1-EBA36DF1E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and Methods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8B5BA0-F297-48FA-48F7-8524E81CF4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Web Scraping Data</a:t>
            </a:r>
          </a:p>
          <a:p>
            <a:pPr lvl="1"/>
            <a:r>
              <a:rPr lang="en-US" dirty="0"/>
              <a:t>Time: from 2010 to 2020</a:t>
            </a:r>
          </a:p>
          <a:p>
            <a:pPr lvl="1"/>
            <a:r>
              <a:rPr lang="en-US" dirty="0"/>
              <a:t>Journals:</a:t>
            </a:r>
          </a:p>
          <a:p>
            <a:pPr lvl="2"/>
            <a:r>
              <a:rPr lang="en-US" dirty="0"/>
              <a:t>Public Relations Review (PRR)</a:t>
            </a:r>
          </a:p>
          <a:p>
            <a:pPr lvl="2"/>
            <a:r>
              <a:rPr lang="en-US" dirty="0"/>
              <a:t>Journal of Public Relations Research (JPRR)</a:t>
            </a:r>
          </a:p>
          <a:p>
            <a:pPr lvl="1"/>
            <a:r>
              <a:rPr lang="en-US" dirty="0"/>
              <a:t>1093 papers from PRR and 200 from JPRR</a:t>
            </a:r>
          </a:p>
          <a:p>
            <a:pPr lvl="1"/>
            <a:r>
              <a:rPr lang="en-US" dirty="0"/>
              <a:t>7,400,685 words</a:t>
            </a:r>
          </a:p>
        </p:txBody>
      </p:sp>
    </p:spTree>
    <p:extLst>
      <p:ext uri="{BB962C8B-B14F-4D97-AF65-F5344CB8AC3E}">
        <p14:creationId xmlns:p14="http://schemas.microsoft.com/office/powerpoint/2010/main" val="365759659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03972-8CD3-7875-9F99-65CE56C99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74088-8C26-788C-33A4-8CD1096E5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and Methods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061D06-C300-E6E9-BE03-A35CC313E4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Method 1: Structural Topic Modeling</a:t>
            </a:r>
          </a:p>
          <a:p>
            <a:pPr lvl="1"/>
            <a:r>
              <a:rPr lang="en-US" dirty="0"/>
              <a:t>We identified 65 topics, such as</a:t>
            </a:r>
          </a:p>
          <a:p>
            <a:pPr lvl="2"/>
            <a:r>
              <a:rPr lang="en-US" dirty="0"/>
              <a:t>“Twitter” “Facebook”</a:t>
            </a:r>
          </a:p>
          <a:p>
            <a:pPr lvl="2"/>
            <a:r>
              <a:rPr lang="en-US" dirty="0"/>
              <a:t>“Relationship management” “Nonprofit Management”</a:t>
            </a:r>
          </a:p>
          <a:p>
            <a:pPr lvl="2"/>
            <a:r>
              <a:rPr lang="en-US" dirty="0"/>
              <a:t>“Image Repair” “Situational Crisis Communication Theory”</a:t>
            </a:r>
          </a:p>
        </p:txBody>
      </p:sp>
    </p:spTree>
    <p:extLst>
      <p:ext uri="{BB962C8B-B14F-4D97-AF65-F5344CB8AC3E}">
        <p14:creationId xmlns:p14="http://schemas.microsoft.com/office/powerpoint/2010/main" val="280296980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147CB-AEAA-C584-7C8D-8DDB8F956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50AFF-970A-AB74-1988-22C14F93C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and Methods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65B29A-6978-7117-42F9-A77FEB1925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Method 1: Structural Topic Modeling</a:t>
            </a:r>
          </a:p>
          <a:p>
            <a:pPr lvl="1"/>
            <a:r>
              <a:rPr lang="en-US" dirty="0"/>
              <a:t>We identified 65 topics, such as</a:t>
            </a:r>
          </a:p>
          <a:p>
            <a:pPr lvl="2"/>
            <a:r>
              <a:rPr lang="en-US" dirty="0"/>
              <a:t>“Twitter” “Facebook” </a:t>
            </a:r>
            <a:r>
              <a:rPr lang="en-US" dirty="0">
                <a:solidFill>
                  <a:srgbClr val="FF0000"/>
                </a:solidFill>
              </a:rPr>
              <a:t>--- “Digital Media”</a:t>
            </a:r>
          </a:p>
          <a:p>
            <a:pPr lvl="2"/>
            <a:r>
              <a:rPr lang="en-US" dirty="0"/>
              <a:t>“Relationship management” “Nonprofit Management” </a:t>
            </a:r>
            <a:r>
              <a:rPr lang="en-US" dirty="0">
                <a:solidFill>
                  <a:srgbClr val="FF0000"/>
                </a:solidFill>
              </a:rPr>
              <a:t>---  “Strategic Management”</a:t>
            </a:r>
          </a:p>
          <a:p>
            <a:pPr lvl="2"/>
            <a:r>
              <a:rPr lang="en-US" dirty="0"/>
              <a:t>“Image Repair” “Situational Crisis Communication Theory” </a:t>
            </a:r>
            <a:r>
              <a:rPr lang="en-US" dirty="0">
                <a:solidFill>
                  <a:srgbClr val="FF0000"/>
                </a:solidFill>
              </a:rPr>
              <a:t>--- “Crisis Comm”</a:t>
            </a:r>
          </a:p>
        </p:txBody>
      </p:sp>
    </p:spTree>
    <p:extLst>
      <p:ext uri="{BB962C8B-B14F-4D97-AF65-F5344CB8AC3E}">
        <p14:creationId xmlns:p14="http://schemas.microsoft.com/office/powerpoint/2010/main" val="261389511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FEE5F-2AB2-7F82-EE60-DE6AAB9D1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71A91-056B-A6A8-F63C-92B0FC9F7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and Methods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5652DC-70E1-4067-A4B1-34C298AE32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Method 1: Structural Topic Modeling</a:t>
            </a:r>
          </a:p>
          <a:p>
            <a:pPr lvl="1"/>
            <a:r>
              <a:rPr lang="en-US" dirty="0"/>
              <a:t>We identified 65 topics, such as</a:t>
            </a:r>
          </a:p>
          <a:p>
            <a:pPr lvl="2"/>
            <a:r>
              <a:rPr lang="en-US" dirty="0"/>
              <a:t>“Twitter” “Facebook” </a:t>
            </a:r>
            <a:r>
              <a:rPr lang="en-US" dirty="0">
                <a:solidFill>
                  <a:srgbClr val="FF0000"/>
                </a:solidFill>
              </a:rPr>
              <a:t>--- “Digital Media”</a:t>
            </a:r>
          </a:p>
          <a:p>
            <a:pPr lvl="2"/>
            <a:r>
              <a:rPr lang="en-US" dirty="0"/>
              <a:t>“Relationship management” “Nonprofit Management” </a:t>
            </a:r>
            <a:r>
              <a:rPr lang="en-US" dirty="0">
                <a:solidFill>
                  <a:srgbClr val="FF0000"/>
                </a:solidFill>
              </a:rPr>
              <a:t>---  “Strategic Management”</a:t>
            </a:r>
          </a:p>
          <a:p>
            <a:pPr lvl="2"/>
            <a:r>
              <a:rPr lang="en-US" dirty="0"/>
              <a:t>“Image Repair” “Situational Crisis Communication Theory” </a:t>
            </a:r>
            <a:r>
              <a:rPr lang="en-US" dirty="0">
                <a:solidFill>
                  <a:srgbClr val="FF0000"/>
                </a:solidFill>
              </a:rPr>
              <a:t>--- “Crisis Comm”</a:t>
            </a:r>
          </a:p>
          <a:p>
            <a:pPr lvl="1"/>
            <a:endParaRPr lang="en-US" dirty="0">
              <a:solidFill>
                <a:srgbClr val="FF0000"/>
              </a:solidFill>
            </a:endParaRPr>
          </a:p>
          <a:p>
            <a:pPr lvl="1"/>
            <a:r>
              <a:rPr lang="en-US" dirty="0"/>
              <a:t>&lt;Like, comment, and share on Facebook: How each behavior differs from the other&gt; is detected to have:</a:t>
            </a:r>
          </a:p>
          <a:p>
            <a:pPr lvl="2"/>
            <a:r>
              <a:rPr lang="en-US" dirty="0"/>
              <a:t>Digital Media (73.7%)</a:t>
            </a:r>
          </a:p>
          <a:p>
            <a:pPr lvl="2"/>
            <a:r>
              <a:rPr lang="en-US" dirty="0"/>
              <a:t>Strategic Management (18.7%)</a:t>
            </a:r>
          </a:p>
          <a:p>
            <a:pPr lvl="2"/>
            <a:r>
              <a:rPr lang="en-US" dirty="0"/>
              <a:t>Public Relations Professionalism (0.1%), Crisis Communication (2.3%), Internal Communication (0.8%), Global Public Relations (0.0%), Rhetoric and Philosophy (0.1%), Media Relations (0.2%), Critical Studies (0.0%)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87438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3A5BD-B75E-66D4-A0F5-19B3ECB5B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9DA97-A73B-EE4F-37DB-5DAC9A84A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and Methods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77985B-D2CB-B9A7-968E-1BA674D23B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Method 2: Inter-Cluster Network Analysis</a:t>
            </a:r>
          </a:p>
          <a:p>
            <a:endParaRPr lang="en-US" dirty="0"/>
          </a:p>
        </p:txBody>
      </p:sp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61A42341-A61D-A1EA-1BA9-2704680432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4619"/>
          <a:stretch>
            <a:fillRect/>
          </a:stretch>
        </p:blipFill>
        <p:spPr>
          <a:xfrm>
            <a:off x="362881" y="2621411"/>
            <a:ext cx="5608886" cy="2676358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C46F5685-A8AD-5DB9-79B6-02BB997E78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4228" y="2750107"/>
            <a:ext cx="2828085" cy="254768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24294350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0BBEF-76B4-4367-5928-89E728FF6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320FE-BEFA-9AC1-E5D5-D931C2949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and Methods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C303F9-C167-0C41-277F-96F1FBEF13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Method 2: Inter-Cluster Network Analysis</a:t>
            </a:r>
          </a:p>
          <a:p>
            <a:endParaRPr lang="en-US" dirty="0"/>
          </a:p>
        </p:txBody>
      </p:sp>
      <p:pic>
        <p:nvPicPr>
          <p:cNvPr id="6" name="NetworkVis.pdf" descr="NetworkVis.pdf">
            <a:extLst>
              <a:ext uri="{FF2B5EF4-FFF2-40B4-BE49-F238E27FC236}">
                <a16:creationId xmlns:a16="http://schemas.microsoft.com/office/drawing/2014/main" id="{EC054598-7222-98F9-E4C4-504E6D6F80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9230" y="2432092"/>
            <a:ext cx="4085539" cy="406078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5599104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FA700-98FB-6E28-7B9A-CA894D952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ABF51-6AEE-B49D-2E04-66E902F3E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and Methods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A9333-2A67-DB59-79E7-F7719699C2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Method 3: Network Simulation</a:t>
            </a:r>
          </a:p>
        </p:txBody>
      </p:sp>
      <p:pic>
        <p:nvPicPr>
          <p:cNvPr id="4" name="Appendix_1.JPG" descr="Appendix_1.JPG">
            <a:extLst>
              <a:ext uri="{FF2B5EF4-FFF2-40B4-BE49-F238E27FC236}">
                <a16:creationId xmlns:a16="http://schemas.microsoft.com/office/drawing/2014/main" id="{7CECE45F-F7AF-3E6B-E85D-98527B1D9F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434" y="2661596"/>
            <a:ext cx="7189133" cy="2648628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77621442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8F6F8-9887-F6C9-23BA-E9CE2DC3C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C662D-2F80-323B-45A9-6F637A986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and Methods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DCFBB-2B7E-AEF0-2AFA-17F515B221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Method 3: Network Simulation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For each article, cluster proportions add up to 100%</a:t>
            </a:r>
          </a:p>
          <a:p>
            <a:pPr lvl="1"/>
            <a:r>
              <a:rPr lang="en-US" dirty="0"/>
              <a:t>For each cluster, its proportion across all articles remains the same</a:t>
            </a:r>
          </a:p>
        </p:txBody>
      </p:sp>
      <p:graphicFrame>
        <p:nvGraphicFramePr>
          <p:cNvPr id="5" name="Table 1">
            <a:extLst>
              <a:ext uri="{FF2B5EF4-FFF2-40B4-BE49-F238E27FC236}">
                <a16:creationId xmlns:a16="http://schemas.microsoft.com/office/drawing/2014/main" id="{759FB087-FD74-987C-A5CB-DA98D3C3E3A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59490305"/>
              </p:ext>
            </p:extLst>
          </p:nvPr>
        </p:nvGraphicFramePr>
        <p:xfrm>
          <a:off x="628650" y="3084723"/>
          <a:ext cx="7886700" cy="3304294"/>
        </p:xfrm>
        <a:graphic>
          <a:graphicData uri="http://schemas.openxmlformats.org/drawingml/2006/table">
            <a:tbl>
              <a:tblPr firstRow="1" firstCol="1">
                <a:tableStyleId>{616DA210-FB5B-4158-B5E0-FEB733F419BA}</a:tableStyleId>
              </a:tblPr>
              <a:tblGrid>
                <a:gridCol w="87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72042"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 dirty="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200" dirty="0">
                          <a:solidFill>
                            <a:schemeClr val="tx1"/>
                          </a:solidFill>
                        </a:rPr>
                        <a:t>Cluster 1</a:t>
                      </a: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chemeClr val="tx1"/>
                          </a:solidFill>
                        </a:rPr>
                        <a:t>Cluster 2</a:t>
                      </a: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chemeClr val="tx1"/>
                          </a:solidFill>
                        </a:rPr>
                        <a:t>Cluster 3</a:t>
                      </a: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chemeClr val="tx1"/>
                          </a:solidFill>
                        </a:rPr>
                        <a:t>Cluster 4</a:t>
                      </a: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chemeClr val="tx1"/>
                          </a:solidFill>
                        </a:rPr>
                        <a:t>Cluster 7</a:t>
                      </a: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chemeClr val="tx1"/>
                          </a:solidFill>
                        </a:rPr>
                        <a:t>Cluster 8</a:t>
                      </a: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chemeClr val="tx1"/>
                          </a:solidFill>
                        </a:rPr>
                        <a:t>Cluster 9</a:t>
                      </a:r>
                    </a:p>
                  </a:txBody>
                  <a:tcPr marL="19050" marR="19050" marT="19050" marB="1905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2042"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chemeClr val="tx1"/>
                          </a:solidFill>
                        </a:rPr>
                        <a:t>Paper 1</a:t>
                      </a: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 dirty="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 dirty="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 dirty="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 dirty="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 dirty="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 dirty="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 dirty="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 dirty="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042"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200" dirty="0">
                          <a:solidFill>
                            <a:schemeClr val="tx1"/>
                          </a:solidFill>
                        </a:rPr>
                        <a:t>Paper 2</a:t>
                      </a: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2042"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chemeClr val="tx1"/>
                          </a:solidFill>
                        </a:rPr>
                        <a:t>Paper 3</a:t>
                      </a: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2042"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2042"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chemeClr val="tx1"/>
                          </a:solidFill>
                        </a:rPr>
                        <a:t>Paper 1292</a:t>
                      </a: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2042"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200" dirty="0">
                          <a:solidFill>
                            <a:schemeClr val="tx1"/>
                          </a:solidFill>
                        </a:rPr>
                        <a:t>Paper 1293</a:t>
                      </a: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 dirty="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 dirty="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 dirty="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64902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8ABA6-150E-147B-DCE3-EAD1EFF4E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28BD9-56DC-9C01-1DA0-8B9BFDF4C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and Methods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590D9C-A4BE-B3F7-A834-834B9C981B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Method 3: Network Simulation</a:t>
            </a:r>
          </a:p>
          <a:p>
            <a:pPr lvl="1"/>
            <a:r>
              <a:rPr lang="en-US" dirty="0"/>
              <a:t>For each article, cluster proportions add up to 100%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For each cluster, its proportion across all articles remains the same</a:t>
            </a:r>
          </a:p>
        </p:txBody>
      </p:sp>
      <p:graphicFrame>
        <p:nvGraphicFramePr>
          <p:cNvPr id="5" name="Table 1">
            <a:extLst>
              <a:ext uri="{FF2B5EF4-FFF2-40B4-BE49-F238E27FC236}">
                <a16:creationId xmlns:a16="http://schemas.microsoft.com/office/drawing/2014/main" id="{1CB178D8-1D5A-9B37-6E5B-90EC81F3763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30291304"/>
              </p:ext>
            </p:extLst>
          </p:nvPr>
        </p:nvGraphicFramePr>
        <p:xfrm>
          <a:off x="628650" y="3084723"/>
          <a:ext cx="7886700" cy="3304294"/>
        </p:xfrm>
        <a:graphic>
          <a:graphicData uri="http://schemas.openxmlformats.org/drawingml/2006/table">
            <a:tbl>
              <a:tblPr firstRow="1" firstCol="1">
                <a:tableStyleId>{616DA210-FB5B-4158-B5E0-FEB733F419BA}</a:tableStyleId>
              </a:tblPr>
              <a:tblGrid>
                <a:gridCol w="87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72042"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 dirty="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200" dirty="0">
                          <a:solidFill>
                            <a:schemeClr val="tx1"/>
                          </a:solidFill>
                        </a:rPr>
                        <a:t>Cluster 1</a:t>
                      </a: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chemeClr val="tx1"/>
                          </a:solidFill>
                        </a:rPr>
                        <a:t>Cluster 2</a:t>
                      </a: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chemeClr val="tx1"/>
                          </a:solidFill>
                        </a:rPr>
                        <a:t>Cluster 3</a:t>
                      </a: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chemeClr val="tx1"/>
                          </a:solidFill>
                        </a:rPr>
                        <a:t>Cluster 4</a:t>
                      </a: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chemeClr val="tx1"/>
                          </a:solidFill>
                        </a:rPr>
                        <a:t>Cluster 7</a:t>
                      </a: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chemeClr val="tx1"/>
                          </a:solidFill>
                        </a:rPr>
                        <a:t>Cluster 8</a:t>
                      </a: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chemeClr val="tx1"/>
                          </a:solidFill>
                        </a:rPr>
                        <a:t>Cluster 9</a:t>
                      </a:r>
                    </a:p>
                  </a:txBody>
                  <a:tcPr marL="19050" marR="19050" marT="19050" marB="1905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2042"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chemeClr val="tx1"/>
                          </a:solidFill>
                        </a:rPr>
                        <a:t>Paper 1</a:t>
                      </a: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 dirty="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 dirty="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 dirty="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 dirty="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 dirty="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 dirty="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 dirty="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 dirty="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042"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200" dirty="0">
                          <a:solidFill>
                            <a:schemeClr val="tx1"/>
                          </a:solidFill>
                        </a:rPr>
                        <a:t>Paper 2</a:t>
                      </a: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 dirty="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2042"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chemeClr val="tx1"/>
                          </a:solidFill>
                        </a:rPr>
                        <a:t>Paper 3</a:t>
                      </a: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 dirty="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2042"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 dirty="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2042"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chemeClr val="tx1"/>
                          </a:solidFill>
                        </a:rPr>
                        <a:t>Paper 1292</a:t>
                      </a: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 dirty="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2042"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200" dirty="0">
                          <a:solidFill>
                            <a:schemeClr val="tx1"/>
                          </a:solidFill>
                        </a:rPr>
                        <a:t>Paper 1293</a:t>
                      </a: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 dirty="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 dirty="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 dirty="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24006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72651-AFC3-B084-3598-093DE13C5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0D3B5-5415-7750-062F-ECA111FE2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and Methods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7CC12E-9B5D-57C0-84A9-43F097D405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Method 3: Network Simulation</a:t>
            </a:r>
          </a:p>
          <a:p>
            <a:pPr lvl="1"/>
            <a:r>
              <a:rPr lang="en-US" dirty="0"/>
              <a:t>For each article, cluster proportions add up to 100%</a:t>
            </a:r>
          </a:p>
          <a:p>
            <a:pPr lvl="1"/>
            <a:r>
              <a:rPr lang="en-US" dirty="0"/>
              <a:t>For each cluster, its proportion across all articles remains the same</a:t>
            </a:r>
          </a:p>
        </p:txBody>
      </p:sp>
      <p:graphicFrame>
        <p:nvGraphicFramePr>
          <p:cNvPr id="5" name="Table 1">
            <a:extLst>
              <a:ext uri="{FF2B5EF4-FFF2-40B4-BE49-F238E27FC236}">
                <a16:creationId xmlns:a16="http://schemas.microsoft.com/office/drawing/2014/main" id="{C0CF3BA3-55AB-A7FD-60F1-C19A95C5446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5689268"/>
              </p:ext>
            </p:extLst>
          </p:nvPr>
        </p:nvGraphicFramePr>
        <p:xfrm>
          <a:off x="628650" y="3084723"/>
          <a:ext cx="7886700" cy="3304294"/>
        </p:xfrm>
        <a:graphic>
          <a:graphicData uri="http://schemas.openxmlformats.org/drawingml/2006/table">
            <a:tbl>
              <a:tblPr firstRow="1" firstCol="1">
                <a:tableStyleId>{616DA210-FB5B-4158-B5E0-FEB733F419BA}</a:tableStyleId>
              </a:tblPr>
              <a:tblGrid>
                <a:gridCol w="87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72042"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 dirty="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200" dirty="0">
                          <a:solidFill>
                            <a:schemeClr val="tx1"/>
                          </a:solidFill>
                        </a:rPr>
                        <a:t>Cluster 1</a:t>
                      </a: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200" dirty="0">
                          <a:solidFill>
                            <a:schemeClr val="tx1"/>
                          </a:solidFill>
                        </a:rPr>
                        <a:t>Cluster 2</a:t>
                      </a: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chemeClr val="tx1"/>
                          </a:solidFill>
                        </a:rPr>
                        <a:t>Cluster 3</a:t>
                      </a: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chemeClr val="tx1"/>
                          </a:solidFill>
                        </a:rPr>
                        <a:t>Cluster 4</a:t>
                      </a: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chemeClr val="tx1"/>
                          </a:solidFill>
                        </a:rPr>
                        <a:t>Cluster 7</a:t>
                      </a: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chemeClr val="tx1"/>
                          </a:solidFill>
                        </a:rPr>
                        <a:t>Cluster 8</a:t>
                      </a: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chemeClr val="tx1"/>
                          </a:solidFill>
                        </a:rPr>
                        <a:t>Cluster 9</a:t>
                      </a:r>
                    </a:p>
                  </a:txBody>
                  <a:tcPr marL="19050" marR="19050" marT="19050" marB="1905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2042"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chemeClr val="tx1"/>
                          </a:solidFill>
                        </a:rPr>
                        <a:t>Paper 1</a:t>
                      </a: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 dirty="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 dirty="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 dirty="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 dirty="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 dirty="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 dirty="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 dirty="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 dirty="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042"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200" dirty="0">
                          <a:solidFill>
                            <a:schemeClr val="tx1"/>
                          </a:solidFill>
                        </a:rPr>
                        <a:t>Paper 2</a:t>
                      </a: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 dirty="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2042"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chemeClr val="tx1"/>
                          </a:solidFill>
                        </a:rPr>
                        <a:t>Paper 3</a:t>
                      </a: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 dirty="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[i</a:t>
                      </a:r>
                      <a:r>
                        <a:rPr lang="en-US" sz="1600" baseline="-2500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, j</a:t>
                      </a:r>
                      <a:r>
                        <a:rPr lang="en-US" sz="1600" baseline="-2500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]</a:t>
                      </a:r>
                    </a:p>
                  </a:txBody>
                  <a:tcPr marL="19050" marR="19050" marT="19050" marB="19050" anchor="ctr" horzOverflow="overflow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 dirty="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2438338" rtl="0" eaLnBrk="1" fontAlgn="auto" latinLnBrk="0" hangingPunct="1">
                        <a:lnSpc>
                          <a:spcPct val="90000"/>
                        </a:lnSpc>
                        <a:spcBef>
                          <a:spcPts val="45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240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[i</a:t>
                      </a:r>
                      <a:r>
                        <a:rPr lang="en-US" sz="1600" baseline="-2500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, j</a:t>
                      </a:r>
                      <a:r>
                        <a:rPr lang="en-US" sz="1600" baseline="-250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]</a:t>
                      </a:r>
                    </a:p>
                  </a:txBody>
                  <a:tcPr marL="19050" marR="19050" marT="19050" marB="19050" anchor="ctr" horzOverflow="overflow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2042"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 dirty="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2042"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chemeClr val="tx1"/>
                          </a:solidFill>
                        </a:rPr>
                        <a:t>Paper 1292</a:t>
                      </a: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 dirty="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2438338" rtl="0" eaLnBrk="1" fontAlgn="auto" latinLnBrk="0" hangingPunct="1">
                        <a:lnSpc>
                          <a:spcPct val="90000"/>
                        </a:lnSpc>
                        <a:spcBef>
                          <a:spcPts val="45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240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[i</a:t>
                      </a:r>
                      <a:r>
                        <a:rPr lang="en-US" sz="1600" baseline="-250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, j</a:t>
                      </a:r>
                      <a:r>
                        <a:rPr lang="en-US" sz="1600" baseline="-2500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]</a:t>
                      </a:r>
                    </a:p>
                  </a:txBody>
                  <a:tcPr marL="19050" marR="19050" marT="19050" marB="19050" anchor="ctr" horzOverflow="overflow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2438338" rtl="0" eaLnBrk="1" fontAlgn="auto" latinLnBrk="0" hangingPunct="1">
                        <a:lnSpc>
                          <a:spcPct val="90000"/>
                        </a:lnSpc>
                        <a:spcBef>
                          <a:spcPts val="45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240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[i</a:t>
                      </a:r>
                      <a:r>
                        <a:rPr lang="en-US" sz="1600" baseline="-250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, j</a:t>
                      </a:r>
                      <a:r>
                        <a:rPr lang="en-US" sz="1600" baseline="-250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]</a:t>
                      </a:r>
                    </a:p>
                  </a:txBody>
                  <a:tcPr marL="19050" marR="19050" marT="19050" marB="19050" anchor="ctr" horzOverflow="overflow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2042"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200" dirty="0">
                          <a:solidFill>
                            <a:schemeClr val="tx1"/>
                          </a:solidFill>
                        </a:rPr>
                        <a:t>Paper 1293</a:t>
                      </a: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 dirty="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 dirty="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 dirty="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60624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D5FD9-65E1-E09F-B2F9-D46667432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0575F-1848-317B-74D9-757939676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and Methods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7805B4-22E8-7E8F-EAB7-984E1E2012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Method 3: Network Simulation</a:t>
            </a:r>
          </a:p>
          <a:p>
            <a:pPr lvl="1"/>
            <a:r>
              <a:rPr lang="en-US" dirty="0"/>
              <a:t>For each article, cluster proportions add up to 100%</a:t>
            </a:r>
          </a:p>
          <a:p>
            <a:pPr lvl="1"/>
            <a:r>
              <a:rPr lang="en-US" dirty="0"/>
              <a:t>For each cluster, its proportion across all articles remains the same</a:t>
            </a:r>
          </a:p>
        </p:txBody>
      </p:sp>
      <p:graphicFrame>
        <p:nvGraphicFramePr>
          <p:cNvPr id="5" name="Table 1">
            <a:extLst>
              <a:ext uri="{FF2B5EF4-FFF2-40B4-BE49-F238E27FC236}">
                <a16:creationId xmlns:a16="http://schemas.microsoft.com/office/drawing/2014/main" id="{CA1F86BB-6C32-F515-D57E-5310659D7B4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30809896"/>
              </p:ext>
            </p:extLst>
          </p:nvPr>
        </p:nvGraphicFramePr>
        <p:xfrm>
          <a:off x="628650" y="3084723"/>
          <a:ext cx="7886700" cy="3304294"/>
        </p:xfrm>
        <a:graphic>
          <a:graphicData uri="http://schemas.openxmlformats.org/drawingml/2006/table">
            <a:tbl>
              <a:tblPr firstRow="1" firstCol="1">
                <a:tableStyleId>{616DA210-FB5B-4158-B5E0-FEB733F419BA}</a:tableStyleId>
              </a:tblPr>
              <a:tblGrid>
                <a:gridCol w="87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72042"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 dirty="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200" dirty="0">
                          <a:solidFill>
                            <a:schemeClr val="tx1"/>
                          </a:solidFill>
                        </a:rPr>
                        <a:t>Cluster 1</a:t>
                      </a: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200" dirty="0">
                          <a:solidFill>
                            <a:schemeClr val="tx1"/>
                          </a:solidFill>
                        </a:rPr>
                        <a:t>Cluster 2</a:t>
                      </a: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chemeClr val="tx1"/>
                          </a:solidFill>
                        </a:rPr>
                        <a:t>Cluster 3</a:t>
                      </a: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chemeClr val="tx1"/>
                          </a:solidFill>
                        </a:rPr>
                        <a:t>Cluster 4</a:t>
                      </a: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chemeClr val="tx1"/>
                          </a:solidFill>
                        </a:rPr>
                        <a:t>Cluster 7</a:t>
                      </a: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chemeClr val="tx1"/>
                          </a:solidFill>
                        </a:rPr>
                        <a:t>Cluster 8</a:t>
                      </a: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chemeClr val="tx1"/>
                          </a:solidFill>
                        </a:rPr>
                        <a:t>Cluster 9</a:t>
                      </a:r>
                    </a:p>
                  </a:txBody>
                  <a:tcPr marL="19050" marR="19050" marT="19050" marB="1905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2042"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chemeClr val="tx1"/>
                          </a:solidFill>
                        </a:rPr>
                        <a:t>Paper 1</a:t>
                      </a: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 dirty="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 dirty="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 dirty="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 dirty="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 dirty="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 dirty="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 dirty="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 dirty="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042"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200" dirty="0">
                          <a:solidFill>
                            <a:schemeClr val="tx1"/>
                          </a:solidFill>
                        </a:rPr>
                        <a:t>Paper 2</a:t>
                      </a: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 dirty="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2042"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chemeClr val="tx1"/>
                          </a:solidFill>
                        </a:rPr>
                        <a:t>Paper 3</a:t>
                      </a: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 dirty="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[i</a:t>
                      </a:r>
                      <a:r>
                        <a:rPr lang="en-US" sz="1600" baseline="-2500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, j</a:t>
                      </a:r>
                      <a:r>
                        <a:rPr lang="en-US" sz="1600" baseline="-2500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]</a:t>
                      </a:r>
                      <a:r>
                        <a:rPr lang="en-US" sz="1600" i="0" dirty="0"/>
                        <a:t> - ∆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 dirty="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2438338" rtl="0" eaLnBrk="1" fontAlgn="auto" latinLnBrk="0" hangingPunct="1">
                        <a:lnSpc>
                          <a:spcPct val="90000"/>
                        </a:lnSpc>
                        <a:spcBef>
                          <a:spcPts val="45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240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[i</a:t>
                      </a:r>
                      <a:r>
                        <a:rPr lang="en-US" sz="1600" baseline="-2500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, j</a:t>
                      </a:r>
                      <a:r>
                        <a:rPr lang="en-US" sz="1600" baseline="-250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]</a:t>
                      </a:r>
                      <a:r>
                        <a:rPr lang="en-US" sz="1600" i="0" dirty="0"/>
                        <a:t> + ∆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2042"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 dirty="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2042"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chemeClr val="tx1"/>
                          </a:solidFill>
                        </a:rPr>
                        <a:t>Paper 1292</a:t>
                      </a: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 dirty="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2438338" rtl="0" eaLnBrk="1" fontAlgn="auto" latinLnBrk="0" hangingPunct="1">
                        <a:lnSpc>
                          <a:spcPct val="90000"/>
                        </a:lnSpc>
                        <a:spcBef>
                          <a:spcPts val="45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240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[i</a:t>
                      </a:r>
                      <a:r>
                        <a:rPr lang="en-US" sz="1600" baseline="-250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, j</a:t>
                      </a:r>
                      <a:r>
                        <a:rPr lang="en-US" sz="1600" baseline="-2500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]</a:t>
                      </a:r>
                      <a:r>
                        <a:rPr lang="en-US" sz="1600" i="0" dirty="0"/>
                        <a:t> + ∆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2438338" rtl="0" eaLnBrk="1" fontAlgn="auto" latinLnBrk="0" hangingPunct="1">
                        <a:lnSpc>
                          <a:spcPct val="90000"/>
                        </a:lnSpc>
                        <a:spcBef>
                          <a:spcPts val="45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240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[i</a:t>
                      </a:r>
                      <a:r>
                        <a:rPr lang="en-US" sz="1600" baseline="-250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, j</a:t>
                      </a:r>
                      <a:r>
                        <a:rPr lang="en-US" sz="1600" baseline="-250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]</a:t>
                      </a:r>
                      <a:r>
                        <a:rPr lang="en-US" sz="1600" i="0" dirty="0"/>
                        <a:t> - ∆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2042"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200" dirty="0">
                          <a:solidFill>
                            <a:schemeClr val="tx1"/>
                          </a:solidFill>
                        </a:rPr>
                        <a:t>Paper 1293</a:t>
                      </a: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 dirty="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 dirty="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2400">
                          <a:solidFill>
                            <a:srgbClr val="000000"/>
                          </a:solidFill>
                        </a:defRPr>
                      </a:pPr>
                      <a:endParaRPr sz="1200" dirty="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387317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0427A-6A11-0F6E-C546-EE25412DC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2D938-6AF7-BEE8-7854-61790E772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and Methods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29881-A28F-7183-A611-3AAC126CAC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Method 3: Network Simulation</a:t>
            </a:r>
          </a:p>
          <a:p>
            <a:pPr lvl="1"/>
            <a:r>
              <a:rPr lang="en-US" dirty="0"/>
              <a:t>For each article, cluster proportions add up to 100%</a:t>
            </a:r>
          </a:p>
          <a:p>
            <a:pPr lvl="1"/>
            <a:r>
              <a:rPr lang="en-US" dirty="0"/>
              <a:t>For each cluster, its proportion across all articles remains the same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1000 Simulated Networks / Alternative Universes/Timelines</a:t>
            </a:r>
          </a:p>
          <a:p>
            <a:r>
              <a:rPr lang="en-US" dirty="0"/>
              <a:t>95%/5% upper/lower bound as the confidence interval for tie strengths</a:t>
            </a:r>
          </a:p>
          <a:p>
            <a:r>
              <a:rPr lang="en-US" dirty="0"/>
              <a:t>We simulated “what the field’s interconnection could have been”.</a:t>
            </a:r>
          </a:p>
        </p:txBody>
      </p:sp>
    </p:spTree>
    <p:extLst>
      <p:ext uri="{BB962C8B-B14F-4D97-AF65-F5344CB8AC3E}">
        <p14:creationId xmlns:p14="http://schemas.microsoft.com/office/powerpoint/2010/main" val="366174162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9A217-8722-C942-CA27-A7A64330A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19D0B-FA5D-69D2-8977-08E942A9E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and Methods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F98D4-BEA1-C2EA-0283-8FD999B413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Method 3: Network Simulation</a:t>
            </a:r>
          </a:p>
        </p:txBody>
      </p:sp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0D3C2588-D75D-DB36-75C6-069583FD17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2246867"/>
            <a:ext cx="7886700" cy="4396304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9961239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Preview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5032375"/>
          </a:xfrm>
        </p:spPr>
        <p:txBody>
          <a:bodyPr>
            <a:normAutofit/>
          </a:bodyPr>
          <a:lstStyle/>
          <a:p>
            <a:r>
              <a:rPr lang="en-US" dirty="0"/>
              <a:t>Explore semantic similarity using word embedding</a:t>
            </a:r>
          </a:p>
          <a:p>
            <a:endParaRPr lang="en-US" dirty="0"/>
          </a:p>
          <a:p>
            <a:r>
              <a:rPr dirty="0"/>
              <a:t>Practice Google Perspective API</a:t>
            </a:r>
          </a:p>
          <a:p>
            <a:endParaRPr lang="en-US" dirty="0"/>
          </a:p>
          <a:p>
            <a:r>
              <a:rPr dirty="0"/>
              <a:t>Run STM with </a:t>
            </a:r>
            <a:r>
              <a:rPr lang="en-US" dirty="0"/>
              <a:t>presidential</a:t>
            </a:r>
            <a:r>
              <a:rPr dirty="0"/>
              <a:t> </a:t>
            </a:r>
            <a:r>
              <a:rPr lang="en-US" dirty="0"/>
              <a:t>speech </a:t>
            </a:r>
            <a:r>
              <a:rPr dirty="0"/>
              <a:t>corpus and metadata</a:t>
            </a:r>
            <a:endParaRPr lang="en-US" dirty="0"/>
          </a:p>
          <a:p>
            <a:r>
              <a:rPr lang="en-US" dirty="0"/>
              <a:t>Pick </a:t>
            </a:r>
            <a:r>
              <a:rPr lang="en-US" i="1" dirty="0"/>
              <a:t>K</a:t>
            </a:r>
            <a:r>
              <a:rPr lang="en-US" dirty="0"/>
              <a:t>, generate the model, label topics</a:t>
            </a:r>
          </a:p>
          <a:p>
            <a:r>
              <a:rPr lang="en-US" dirty="0"/>
              <a:t>Explore covariates’ effects on topical proportion</a:t>
            </a:r>
            <a:endParaRPr dirty="0"/>
          </a:p>
          <a:p>
            <a:r>
              <a:rPr dirty="0"/>
              <a:t>Visualize topic correlations</a:t>
            </a:r>
            <a:endParaRPr lang="en-US" dirty="0"/>
          </a:p>
          <a:p>
            <a:endParaRPr lang="en-US" dirty="0"/>
          </a:p>
          <a:p>
            <a:r>
              <a:rPr lang="en-US" dirty="0"/>
              <a:t>Tomorrow’s Presentation</a:t>
            </a:r>
          </a:p>
          <a:p>
            <a:pPr lvl="1"/>
            <a:r>
              <a:rPr lang="en-US" dirty="0" err="1"/>
              <a:t>Eunsun</a:t>
            </a:r>
            <a:r>
              <a:rPr lang="en-US" dirty="0"/>
              <a:t> Kyoung</a:t>
            </a:r>
          </a:p>
          <a:p>
            <a:pPr lvl="1"/>
            <a:r>
              <a:rPr lang="en-US" dirty="0" err="1"/>
              <a:t>Dongwook</a:t>
            </a:r>
            <a:r>
              <a:rPr lang="en-US" dirty="0"/>
              <a:t> Kim</a:t>
            </a:r>
          </a:p>
          <a:p>
            <a:pPr lvl="1"/>
            <a:r>
              <a:rPr lang="en-US"/>
              <a:t>Rita </a:t>
            </a:r>
            <a:r>
              <a:rPr lang="en-US" dirty="0"/>
              <a:t>Tang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1717</TotalTime>
  <Words>2991</Words>
  <Application>Microsoft Macintosh PowerPoint</Application>
  <PresentationFormat>On-screen Show (4:3)</PresentationFormat>
  <Paragraphs>421</Paragraphs>
  <Slides>50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5" baseType="lpstr">
      <vt:lpstr>Aptos</vt:lpstr>
      <vt:lpstr>Aptos Display</vt:lpstr>
      <vt:lpstr>Arial</vt:lpstr>
      <vt:lpstr>Wingdings</vt:lpstr>
      <vt:lpstr>Office Theme</vt:lpstr>
      <vt:lpstr>Day 3 - Text (Advanced)</vt:lpstr>
      <vt:lpstr>Group</vt:lpstr>
      <vt:lpstr>Learning Goals</vt:lpstr>
      <vt:lpstr>Last Class</vt:lpstr>
      <vt:lpstr>Limitations of Traditional Features</vt:lpstr>
      <vt:lpstr>Word Embedding</vt:lpstr>
      <vt:lpstr>Why Use Word Embeddings? (post-2020)</vt:lpstr>
      <vt:lpstr>How Embeddings Are Used in Practice</vt:lpstr>
      <vt:lpstr>TF-IDF vs. Word Embedding</vt:lpstr>
      <vt:lpstr>Presentation: Toubia et al. (2021)</vt:lpstr>
      <vt:lpstr>Presentation: Toubia et al. (2021)</vt:lpstr>
      <vt:lpstr>You can fine-tune embeddings for your study</vt:lpstr>
      <vt:lpstr>For Example</vt:lpstr>
      <vt:lpstr>For Example</vt:lpstr>
      <vt:lpstr>You can definitely train it from scratch</vt:lpstr>
      <vt:lpstr>Presentation: Kozlowski et al. (2019)</vt:lpstr>
      <vt:lpstr>Other Text-Based Methods</vt:lpstr>
      <vt:lpstr>Presentation: Knight (2022)</vt:lpstr>
      <vt:lpstr>Presentation: Knight (2022)</vt:lpstr>
      <vt:lpstr>Topic Models</vt:lpstr>
      <vt:lpstr>Basic Logic of Topic Modeling</vt:lpstr>
      <vt:lpstr>Basic Logic of Topic Modeling</vt:lpstr>
      <vt:lpstr>Basic Logic of Topic Modeling</vt:lpstr>
      <vt:lpstr>Basic Logic of Topic Modeling</vt:lpstr>
      <vt:lpstr>Latent Dirichlet Allocation (LDA)</vt:lpstr>
      <vt:lpstr>Structural Topic Modeling (STM)</vt:lpstr>
      <vt:lpstr>LDA/STM Output Example</vt:lpstr>
      <vt:lpstr>Topic Modeling Does Not Give You Labels</vt:lpstr>
      <vt:lpstr>Topic Modeling Does Not Give You Labels</vt:lpstr>
      <vt:lpstr>Specify the No. of Topics (K) (LDA/STM)</vt:lpstr>
      <vt:lpstr>Limitations of LDA/STM</vt:lpstr>
      <vt:lpstr>What Comes After STM?</vt:lpstr>
      <vt:lpstr>Topic Modeling Summary</vt:lpstr>
      <vt:lpstr>Case: Zhou et al. (2023)</vt:lpstr>
      <vt:lpstr>RQ &amp; Findings</vt:lpstr>
      <vt:lpstr>RQ &amp; Findings</vt:lpstr>
      <vt:lpstr>Data and Methods</vt:lpstr>
      <vt:lpstr>Data and Methods</vt:lpstr>
      <vt:lpstr>Data and Methods</vt:lpstr>
      <vt:lpstr>Data and Methods</vt:lpstr>
      <vt:lpstr>Data and Methods</vt:lpstr>
      <vt:lpstr>Data and Methods</vt:lpstr>
      <vt:lpstr>Data and Methods</vt:lpstr>
      <vt:lpstr>Data and Methods</vt:lpstr>
      <vt:lpstr>Data and Methods</vt:lpstr>
      <vt:lpstr>Data and Methods</vt:lpstr>
      <vt:lpstr>Data and Methods</vt:lpstr>
      <vt:lpstr>Data and Methods</vt:lpstr>
      <vt:lpstr>Data and Methods</vt:lpstr>
      <vt:lpstr>Lab Preview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Alvin Zhou</cp:lastModifiedBy>
  <cp:revision>183</cp:revision>
  <dcterms:created xsi:type="dcterms:W3CDTF">2013-01-27T09:14:16Z</dcterms:created>
  <dcterms:modified xsi:type="dcterms:W3CDTF">2025-06-04T16:35:07Z</dcterms:modified>
  <cp:category/>
</cp:coreProperties>
</file>