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62" r:id="rId1"/>
  </p:sldMasterIdLst>
  <p:notesMasterIdLst>
    <p:notesMasterId r:id="rId42"/>
  </p:notesMasterIdLst>
  <p:sldIdLst>
    <p:sldId id="257" r:id="rId2"/>
    <p:sldId id="28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2" r:id="rId11"/>
    <p:sldId id="283" r:id="rId12"/>
    <p:sldId id="284" r:id="rId13"/>
    <p:sldId id="285" r:id="rId14"/>
    <p:sldId id="286" r:id="rId15"/>
    <p:sldId id="265" r:id="rId16"/>
    <p:sldId id="266" r:id="rId17"/>
    <p:sldId id="287" r:id="rId18"/>
    <p:sldId id="288" r:id="rId19"/>
    <p:sldId id="267" r:id="rId20"/>
    <p:sldId id="300" r:id="rId21"/>
    <p:sldId id="289" r:id="rId22"/>
    <p:sldId id="268" r:id="rId23"/>
    <p:sldId id="269" r:id="rId24"/>
    <p:sldId id="299" r:id="rId25"/>
    <p:sldId id="298" r:id="rId26"/>
    <p:sldId id="271" r:id="rId27"/>
    <p:sldId id="272" r:id="rId28"/>
    <p:sldId id="290" r:id="rId29"/>
    <p:sldId id="292" r:id="rId30"/>
    <p:sldId id="291" r:id="rId31"/>
    <p:sldId id="293" r:id="rId32"/>
    <p:sldId id="294" r:id="rId33"/>
    <p:sldId id="296" r:id="rId34"/>
    <p:sldId id="274" r:id="rId35"/>
    <p:sldId id="295" r:id="rId36"/>
    <p:sldId id="297" r:id="rId37"/>
    <p:sldId id="275" r:id="rId38"/>
    <p:sldId id="276" r:id="rId39"/>
    <p:sldId id="279" r:id="rId40"/>
    <p:sldId id="280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58"/>
    <p:restoredTop sz="76302"/>
  </p:normalViewPr>
  <p:slideViewPr>
    <p:cSldViewPr snapToGrid="0" snapToObjects="1">
      <p:cViewPr varScale="1">
        <p:scale>
          <a:sx n="101" d="100"/>
          <a:sy n="101" d="100"/>
        </p:scale>
        <p:origin x="16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0AF53-9AF2-214A-92A8-DA7D510607BF}" type="datetimeFigureOut">
              <a:rPr lang="en-US" smtClean="0"/>
              <a:t>6/3/25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C57447-0CDB-8046-AA5B-E891C63F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72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say you have 1,000 tweets. You tokenize them and build a document-term matrix (DTM).</a:t>
            </a:r>
          </a:p>
          <a:p>
            <a:r>
              <a:rPr lang="en-US" dirty="0"/>
              <a:t>Suppose your corpus has 20,000 unique words (after cleaning).</a:t>
            </a:r>
          </a:p>
          <a:p>
            <a:r>
              <a:rPr lang="en-US" dirty="0"/>
              <a:t>Each tweet (observation) is then represented as a </a:t>
            </a:r>
            <a:r>
              <a:rPr lang="en-US" b="1" dirty="0"/>
              <a:t>vector of 20,000 dimensions</a:t>
            </a:r>
            <a:r>
              <a:rPr lang="en-US" dirty="0"/>
              <a:t>.</a:t>
            </a:r>
          </a:p>
          <a:p>
            <a:r>
              <a:rPr lang="en-US" dirty="0"/>
              <a:t>Each dimension corresponds to the frequency (or presence) of a single word.</a:t>
            </a:r>
          </a:p>
          <a:p>
            <a:endParaRPr lang="en-US" dirty="0"/>
          </a:p>
          <a:p>
            <a:r>
              <a:rPr lang="en-US" dirty="0"/>
              <a:t>So even though you only have 1,000 rows (documents), you now have </a:t>
            </a:r>
            <a:r>
              <a:rPr lang="en-US" b="1" dirty="0"/>
              <a:t>20,000 columns (features)</a:t>
            </a:r>
            <a:r>
              <a:rPr lang="en-US" dirty="0"/>
              <a:t> — that’s high-dimensional data.</a:t>
            </a:r>
          </a:p>
          <a:p>
            <a:endParaRPr lang="en-US" dirty="0"/>
          </a:p>
          <a:p>
            <a:r>
              <a:rPr lang="en-US" b="1" dirty="0"/>
              <a:t>🧠 Why This Matters</a:t>
            </a:r>
          </a:p>
          <a:p>
            <a:r>
              <a:rPr lang="en-US" b="1" dirty="0"/>
              <a:t>Sparsity:</a:t>
            </a:r>
            <a:r>
              <a:rPr lang="en-US" dirty="0"/>
              <a:t> Most documents only contain a tiny fraction of all words, so the matrix is mostly zeros.</a:t>
            </a:r>
          </a:p>
          <a:p>
            <a:r>
              <a:rPr lang="en-US" b="1" dirty="0"/>
              <a:t>Overfitting:</a:t>
            </a:r>
            <a:r>
              <a:rPr lang="en-US" dirty="0"/>
              <a:t> More dimensions than observations means models can easily memorize instead of generalize.</a:t>
            </a:r>
          </a:p>
          <a:p>
            <a:r>
              <a:rPr lang="en-US" b="1" dirty="0"/>
              <a:t>Computational Cost:</a:t>
            </a:r>
            <a:r>
              <a:rPr lang="en-US" dirty="0"/>
              <a:t> Operations on large, sparse matrices are memory and compute intensive.</a:t>
            </a:r>
          </a:p>
          <a:p>
            <a:r>
              <a:rPr lang="en-US" b="1" dirty="0"/>
              <a:t>Noise Sensitivity:</a:t>
            </a:r>
            <a:r>
              <a:rPr lang="en-US" dirty="0"/>
              <a:t> Many rare words are irrelevant or even harmful to model accuracy.</a:t>
            </a:r>
          </a:p>
          <a:p>
            <a:endParaRPr lang="en-US" dirty="0"/>
          </a:p>
          <a:p>
            <a:r>
              <a:rPr lang="en-US" b="1" dirty="0"/>
              <a:t>🎯 Common Fixes</a:t>
            </a:r>
          </a:p>
          <a:p>
            <a:r>
              <a:rPr lang="en-US" dirty="0"/>
              <a:t>Use only the top </a:t>
            </a:r>
            <a:r>
              <a:rPr lang="en-US" i="1" dirty="0"/>
              <a:t>k</a:t>
            </a:r>
            <a:r>
              <a:rPr lang="en-US" dirty="0"/>
              <a:t> most frequent terms (e.g., top 5,000).</a:t>
            </a:r>
          </a:p>
          <a:p>
            <a:r>
              <a:rPr lang="en-US" dirty="0"/>
              <a:t>Apply dimensionality reduction (e.g., PCA, SVD).</a:t>
            </a:r>
          </a:p>
          <a:p>
            <a:r>
              <a:rPr lang="en-US" dirty="0"/>
              <a:t>Use dense embeddings (e.g., BERT, </a:t>
            </a:r>
            <a:r>
              <a:rPr lang="en-US" dirty="0" err="1"/>
              <a:t>GloVe</a:t>
            </a:r>
            <a:r>
              <a:rPr lang="en-US" dirty="0"/>
              <a:t>) instead of raw DTM.</a:t>
            </a:r>
          </a:p>
          <a:p>
            <a:endParaRPr lang="en-US" dirty="0"/>
          </a:p>
          <a:p>
            <a:r>
              <a:rPr lang="en-US" dirty="0"/>
              <a:t>----------------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Sentences vary in length, grammar, and syntax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Words have </a:t>
            </a:r>
            <a:r>
              <a:rPr lang="en-US" b="1" dirty="0"/>
              <a:t>context-dependent</a:t>
            </a:r>
            <a:r>
              <a:rPr lang="en-US" dirty="0"/>
              <a:t> meaning (e.g., “bank” = river vs. money)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Contains emojis, slang, typos, sarcasm, irony,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57447-0CDB-8046-AA5B-E891C63FCE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687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If Interpretability matters (e.g., dictionaries, topic modeling), </a:t>
            </a:r>
            <a:r>
              <a:rPr lang="en-US" b="1" dirty="0"/>
              <a:t>lemmatization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You’re publishing results or care about linguistic accuracy, </a:t>
            </a:r>
            <a:r>
              <a:rPr lang="en-US" b="1" dirty="0"/>
              <a:t>lemmatization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57447-0CDB-8046-AA5B-E891C63FCE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38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TF-IDF is still used in exploratory analysis</a:t>
            </a:r>
            <a:r>
              <a:rPr lang="en-US" dirty="0"/>
              <a:t>, especially when interpretability is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57447-0CDB-8046-AA5B-E891C63FCE2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09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57447-0CDB-8046-AA5B-E891C63FCE2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848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57447-0CDB-8046-AA5B-E891C63FCE2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1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45E21-2E43-E3F1-BE76-5C9FE34D6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83A8E7-6768-6585-7E6D-03F0B8A5DE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09AFC-2843-7D53-CFFF-7239BC787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FDC4A-7696-4006-5216-788CA83A3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26E64-3503-5599-1217-CF97397F5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89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7C58A-41CD-54D2-740D-8509FFF8A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C7F09-E7C9-C8D2-2311-F9789B831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5B095-7BCB-D7E1-597C-65CC4A2BE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F99AC-DC7A-E1EA-0D80-CAA01DFB0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46EFC-7579-4190-B9EE-23510A1B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59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C5BF3-F441-C02D-DD0F-AF9324491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84869-2F07-F9E7-AB4E-88F4E846F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CCA3F-B5B7-3E3B-47E4-F954AD39A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5F649-4728-3CEB-3CA3-A493DD0A2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E04A5-D3D8-38BA-A018-E5B14381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647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18548-3195-87F0-7B23-95FE63A7B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B5E25-851F-4156-1880-388621991F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3C181-D3FA-3A6B-8F43-BFF468042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19784-97D6-824E-E037-9F78464B7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E45A0-CDE0-BE7C-7E11-4A3E55E76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1D606-363F-FE17-8931-B8F2BADFD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92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89B74-CE70-0D6E-3515-1C6EB637D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C7BFF-5EBE-65A5-3B06-880CABD72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1839C-D050-37F9-8203-C8F723997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F58C44-E1DF-E481-AEB1-E86081F1E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9A4ED3-A12D-D339-7592-1EA2BF739F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FDC28C-E2F9-25A8-EA30-BEAB60E82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2755C0-2791-B59C-4DB1-46F88538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B2E42E-F3DB-C1C1-8155-7C023C42C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858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C4EB3-B397-36F9-ADD9-0325FA0A7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E55F62-97BB-DBAC-5068-0A2208D8B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634C57-74F6-9E4F-9201-4E0764D5B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5B0907-7E42-046A-5F95-7E3B04B98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62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327974-9599-3561-182A-F3EFEC90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67D710-C014-0B80-D62D-87C4EE036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B3D6F-1D7F-3863-7227-DAE0D0198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503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050AA-A0C5-CAF6-4514-FB4EA8E92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5D41C-3E48-96A0-FC6B-8E113A10F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A4CF1-5CC3-7913-E10C-BA2E76030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6DB8C-01E5-BD26-94AE-5F14BE30C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4F517-EFB4-F874-674E-0E2ABE983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67D0F-36D8-BCAB-F527-455E2D37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83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9B91E-3F03-9F43-622F-3FE73087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72806E-363A-BC5E-D411-90E9FAD7DC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F1A86-B492-1EB7-C934-3C603D921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A6C97-F47F-2859-1D69-BC1AA8C31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C170F-69BC-45A2-9000-7CFAA6587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AA8D7-18C1-3E3A-3E49-03D71DFE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22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012A3-88AD-5EC5-7005-CA402FE50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2C258-7DDE-4DB7-00F7-7781D1F43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F60B4-6E97-0D44-3038-4E6DCF6E8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51BC5-4A94-667E-7752-3EB84149F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EB61F-0933-28D6-83B3-BA5E96C98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831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A462F4-B4FF-4E1A-E88E-9DA98E864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E46B8-07D0-5ACF-7EE5-E4ECD1B36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CDB16-A63E-CFF1-29AE-95DC3B9E6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3ECA8-9677-0D8A-4C56-4FA5C6DB7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DDED3-4319-0F4D-7513-532FC435B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68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2904EB-840D-E120-7DD8-6814FAA4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B3758-AF2A-C596-345D-F55893DA3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888B3-400E-7576-BA11-93F55CD9EF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182DC-59D4-4680-F048-929DFCA3C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06EA5-FB99-9718-35D8-BAF0020118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30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3" r:id="rId1"/>
    <p:sldLayoutId id="2147484064" r:id="rId2"/>
    <p:sldLayoutId id="2147484065" r:id="rId3"/>
    <p:sldLayoutId id="2147484066" r:id="rId4"/>
    <p:sldLayoutId id="2147484067" r:id="rId5"/>
    <p:sldLayoutId id="2147484068" r:id="rId6"/>
    <p:sldLayoutId id="2147484069" r:id="rId7"/>
    <p:sldLayoutId id="2147484070" r:id="rId8"/>
    <p:sldLayoutId id="2147484071" r:id="rId9"/>
    <p:sldLayoutId id="2147484072" r:id="rId10"/>
    <p:sldLayoutId id="214748407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7/a001514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7/pan.2025.6" TargetMode="External"/><Relationship Id="rId5" Type="http://schemas.openxmlformats.org/officeDocument/2006/relationships/hyperlink" Target="https://doi.org/10.3758/s13428-020-01433-0" TargetMode="External"/><Relationship Id="rId4" Type="http://schemas.openxmlformats.org/officeDocument/2006/relationships/hyperlink" Target="https://osf.io/ezn37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Day 2 – Text (Basic)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UMN CSS Workshop 2025</a:t>
            </a:r>
          </a:p>
          <a:p>
            <a:r>
              <a:rPr dirty="0"/>
              <a:t>Instructor: Alvin Zhou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25686-D0A1-5EF4-C7BF-7B5F8E7B4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20DF3-D51D-1C73-4013-1480A2627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96BC5-99A6-892F-24CF-951BA85DA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669030" cy="4351338"/>
          </a:xfrm>
        </p:spPr>
        <p:txBody>
          <a:bodyPr>
            <a:normAutofit/>
          </a:bodyPr>
          <a:lstStyle/>
          <a:p>
            <a:r>
              <a:rPr lang="en-US" dirty="0"/>
              <a:t>Group 1</a:t>
            </a:r>
          </a:p>
          <a:p>
            <a:pPr lvl="1"/>
            <a:r>
              <a:rPr lang="en-US" dirty="0"/>
              <a:t>Gretchen Corcoran</a:t>
            </a:r>
          </a:p>
          <a:p>
            <a:pPr lvl="1"/>
            <a:r>
              <a:rPr lang="en-US" dirty="0"/>
              <a:t>Jikai Sun</a:t>
            </a:r>
          </a:p>
          <a:p>
            <a:pPr lvl="1"/>
            <a:r>
              <a:rPr lang="en-US" dirty="0"/>
              <a:t>Shreepriya Dogra</a:t>
            </a:r>
          </a:p>
          <a:p>
            <a:pPr lvl="1"/>
            <a:r>
              <a:rPr lang="en-US" dirty="0" err="1"/>
              <a:t>Jialu</a:t>
            </a:r>
            <a:r>
              <a:rPr lang="en-US" dirty="0"/>
              <a:t> Fan</a:t>
            </a:r>
          </a:p>
          <a:p>
            <a:r>
              <a:rPr lang="en-US" dirty="0"/>
              <a:t>Group 2</a:t>
            </a:r>
          </a:p>
          <a:p>
            <a:pPr lvl="1"/>
            <a:r>
              <a:rPr lang="en-US" dirty="0"/>
              <a:t>Jiacheng Huang</a:t>
            </a:r>
          </a:p>
          <a:p>
            <a:pPr lvl="1"/>
            <a:r>
              <a:rPr lang="en-US" dirty="0"/>
              <a:t>Paulina Vergara Buitrago</a:t>
            </a:r>
          </a:p>
          <a:p>
            <a:pPr lvl="1"/>
            <a:r>
              <a:rPr lang="en-US" dirty="0"/>
              <a:t>Jong Won Lee</a:t>
            </a:r>
          </a:p>
          <a:p>
            <a:pPr lvl="1"/>
            <a:r>
              <a:rPr lang="en-US" dirty="0"/>
              <a:t>Eun Sun Kyoung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5AE864-4C68-99A7-B2CE-9E78C12C31BD}"/>
              </a:ext>
            </a:extLst>
          </p:cNvPr>
          <p:cNvSpPr txBox="1">
            <a:spLocks/>
          </p:cNvSpPr>
          <p:nvPr/>
        </p:nvSpPr>
        <p:spPr>
          <a:xfrm>
            <a:off x="4776978" y="1825625"/>
            <a:ext cx="36690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Group 3</a:t>
            </a:r>
          </a:p>
          <a:p>
            <a:pPr lvl="1"/>
            <a:r>
              <a:rPr lang="en-US" dirty="0"/>
              <a:t>Sijin Chen</a:t>
            </a:r>
          </a:p>
          <a:p>
            <a:pPr lvl="1"/>
            <a:r>
              <a:rPr lang="en-US" dirty="0"/>
              <a:t>Michael Ofori</a:t>
            </a:r>
          </a:p>
          <a:p>
            <a:pPr lvl="1"/>
            <a:r>
              <a:rPr lang="en-US" dirty="0"/>
              <a:t>Jinny Zhang</a:t>
            </a:r>
          </a:p>
          <a:p>
            <a:pPr lvl="1"/>
            <a:r>
              <a:rPr lang="en-US" dirty="0" err="1"/>
              <a:t>Dongwook</a:t>
            </a:r>
            <a:r>
              <a:rPr lang="en-US" dirty="0"/>
              <a:t> Kim</a:t>
            </a:r>
          </a:p>
          <a:p>
            <a:r>
              <a:rPr lang="en-US" dirty="0"/>
              <a:t>Group 4</a:t>
            </a:r>
          </a:p>
          <a:p>
            <a:pPr lvl="1"/>
            <a:r>
              <a:rPr lang="en-US" dirty="0"/>
              <a:t>Raj Wahlquist</a:t>
            </a:r>
          </a:p>
          <a:p>
            <a:pPr lvl="1"/>
            <a:r>
              <a:rPr lang="en-US" dirty="0"/>
              <a:t>Nicole Marie </a:t>
            </a:r>
            <a:r>
              <a:rPr lang="en-US" dirty="0" err="1"/>
              <a:t>Klevanskaya</a:t>
            </a:r>
            <a:endParaRPr lang="en-US" dirty="0"/>
          </a:p>
          <a:p>
            <a:pPr lvl="1"/>
            <a:r>
              <a:rPr lang="en-US" dirty="0"/>
              <a:t>Wenhui Cheng</a:t>
            </a:r>
          </a:p>
          <a:p>
            <a:pPr lvl="1"/>
            <a:r>
              <a:rPr lang="en-US" dirty="0"/>
              <a:t>Rita </a:t>
            </a:r>
            <a:r>
              <a:rPr lang="en-US" dirty="0" err="1"/>
              <a:t>Rongwei</a:t>
            </a:r>
            <a:r>
              <a:rPr lang="en-US" dirty="0"/>
              <a:t> Tang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DBF076-E960-DF23-3DBF-B8F1A52BA94F}"/>
              </a:ext>
            </a:extLst>
          </p:cNvPr>
          <p:cNvSpPr txBox="1">
            <a:spLocks/>
          </p:cNvSpPr>
          <p:nvPr/>
        </p:nvSpPr>
        <p:spPr>
          <a:xfrm>
            <a:off x="628650" y="5354255"/>
            <a:ext cx="7886700" cy="113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Mixed background and coding skills</a:t>
            </a:r>
          </a:p>
          <a:p>
            <a:r>
              <a:rPr lang="en-US"/>
              <a:t>Group members who are confident in their coding skills, please help other members during the afternoon coding labs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73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Understand the logic behind basic text analysis</a:t>
            </a:r>
          </a:p>
          <a:p>
            <a:r>
              <a:rPr dirty="0"/>
              <a:t>Learn core techniques: preprocessing, dictionary methods, classification</a:t>
            </a:r>
          </a:p>
          <a:p>
            <a:r>
              <a:rPr dirty="0"/>
              <a:t>Recognize common pitfalls</a:t>
            </a:r>
          </a:p>
          <a:p>
            <a:r>
              <a:rPr dirty="0"/>
              <a:t>Interpret empirical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Text? Why Now?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Explosion of text data (social media, news, transcripts)</a:t>
            </a:r>
            <a:endParaRPr lang="en-US" dirty="0"/>
          </a:p>
          <a:p>
            <a:r>
              <a:rPr lang="en-US" dirty="0"/>
              <a:t>Still the foundational data source</a:t>
            </a:r>
          </a:p>
          <a:p>
            <a:r>
              <a:rPr lang="en-US" dirty="0"/>
              <a:t>Easy to collect, easy to analyze, and with robust communities</a:t>
            </a:r>
            <a:endParaRPr dirty="0"/>
          </a:p>
          <a:p>
            <a:r>
              <a:rPr dirty="0"/>
              <a:t>Text as behavior, signal, belief, and strategy</a:t>
            </a:r>
          </a:p>
          <a:p>
            <a:r>
              <a:rPr dirty="0"/>
              <a:t>Social scientists want to measure, predict, and explain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as Data: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High-dimensional, unstructured</a:t>
            </a:r>
            <a:endParaRPr lang="en-US" dirty="0"/>
          </a:p>
          <a:p>
            <a:pPr lvl="1"/>
            <a:r>
              <a:rPr lang="en-US" dirty="0"/>
              <a:t>Once you convert raw text into a format that a machine can process—usually as a vector of features—it often has a huge number of variables (dimensions) relative to the number of observations (documents).</a:t>
            </a:r>
          </a:p>
          <a:p>
            <a:pPr lvl="1"/>
            <a:r>
              <a:rPr lang="en-US" dirty="0"/>
              <a:t>Unstructured means the data is not “clean” with a pre-defined format</a:t>
            </a:r>
            <a:endParaRPr dirty="0"/>
          </a:p>
          <a:p>
            <a:r>
              <a:rPr dirty="0"/>
              <a:t>Context sensitivity (e.g., irony, </a:t>
            </a:r>
            <a:r>
              <a:rPr lang="en-US" dirty="0"/>
              <a:t>sarcasm</a:t>
            </a:r>
            <a:r>
              <a:rPr dirty="0"/>
              <a:t>)</a:t>
            </a:r>
          </a:p>
          <a:p>
            <a:r>
              <a:rPr dirty="0"/>
              <a:t>Requires transformation into features</a:t>
            </a:r>
            <a:r>
              <a:rPr lang="en-US" dirty="0"/>
              <a:t>: </a:t>
            </a:r>
            <a:r>
              <a:rPr lang="en-US" b="1" dirty="0"/>
              <a:t>preprocessing </a:t>
            </a:r>
            <a:r>
              <a:rPr lang="en-US" dirty="0"/>
              <a:t>so that we can process text as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Foundational </a:t>
            </a:r>
            <a:r>
              <a:rPr dirty="0"/>
              <a:t>Workflow</a:t>
            </a:r>
            <a:r>
              <a:rPr lang="en-US" dirty="0"/>
              <a:t> - Tokenization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Tokenization: the process of breaking down the text</a:t>
            </a:r>
          </a:p>
          <a:p>
            <a:r>
              <a:rPr dirty="0"/>
              <a:t>Raw text → Tokens → Features → Models → Interpretatio</a:t>
            </a:r>
            <a:r>
              <a:rPr lang="en-US" dirty="0"/>
              <a:t>n</a:t>
            </a:r>
          </a:p>
          <a:p>
            <a:r>
              <a:rPr lang="en-US" dirty="0"/>
              <a:t>Instead of working with text, text-as-data works with the matrix</a:t>
            </a:r>
          </a:p>
          <a:p>
            <a:r>
              <a:rPr lang="en-US" dirty="0"/>
              <a:t>text = "Cats are cute." → ["Cats", "are", "cute"]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6A35DC-91F1-DBE0-AEEE-6D81B81C7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624193"/>
            <a:ext cx="7662909" cy="30455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Preprocessing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32375"/>
          </a:xfrm>
        </p:spPr>
        <p:txBody>
          <a:bodyPr>
            <a:normAutofit/>
          </a:bodyPr>
          <a:lstStyle/>
          <a:p>
            <a:r>
              <a:rPr dirty="0"/>
              <a:t>Lowercasing, punctuation removal</a:t>
            </a:r>
            <a:r>
              <a:rPr lang="en-US" dirty="0"/>
              <a:t>, etc.</a:t>
            </a:r>
            <a:endParaRPr dirty="0"/>
          </a:p>
          <a:p>
            <a:r>
              <a:rPr dirty="0"/>
              <a:t>Tokenization: words vs. </a:t>
            </a:r>
            <a:r>
              <a:rPr dirty="0" err="1"/>
              <a:t>subwords</a:t>
            </a:r>
            <a:endParaRPr lang="en-US" dirty="0"/>
          </a:p>
          <a:p>
            <a:pPr lvl="1"/>
            <a:r>
              <a:rPr lang="en-US" dirty="0"/>
              <a:t>Words: "I love backpacking!" → ["I", "love", "backpacking"]</a:t>
            </a:r>
          </a:p>
          <a:p>
            <a:pPr lvl="2"/>
            <a:r>
              <a:rPr lang="en-US" dirty="0"/>
              <a:t>Simplicity, speed, but can’t handle rare/new words</a:t>
            </a:r>
          </a:p>
          <a:p>
            <a:pPr lvl="1"/>
            <a:r>
              <a:rPr lang="en-US" dirty="0" err="1"/>
              <a:t>Subwords</a:t>
            </a:r>
            <a:r>
              <a:rPr lang="en-US" dirty="0"/>
              <a:t>: "backpacking" → ["back", "##pack", "##</a:t>
            </a:r>
            <a:r>
              <a:rPr lang="en-US" dirty="0" err="1"/>
              <a:t>ing</a:t>
            </a:r>
            <a:r>
              <a:rPr lang="en-US" dirty="0"/>
              <a:t>"]</a:t>
            </a:r>
          </a:p>
          <a:p>
            <a:pPr lvl="2"/>
            <a:r>
              <a:rPr lang="en-US" dirty="0"/>
              <a:t>Flexibility, efficiency, but harder to interpret</a:t>
            </a:r>
            <a:endParaRPr dirty="0"/>
          </a:p>
          <a:p>
            <a:r>
              <a:rPr dirty="0" err="1"/>
              <a:t>Stopword</a:t>
            </a:r>
            <a:r>
              <a:rPr dirty="0"/>
              <a:t> removal</a:t>
            </a:r>
            <a:endParaRPr lang="en-US" dirty="0"/>
          </a:p>
          <a:p>
            <a:pPr lvl="1"/>
            <a:r>
              <a:rPr lang="en-US" dirty="0"/>
              <a:t>“the” “a” “so” “then”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Context-dependent, you can designate new </a:t>
            </a:r>
            <a:r>
              <a:rPr lang="en-US" dirty="0" err="1"/>
              <a:t>stopwords</a:t>
            </a:r>
            <a:r>
              <a:rPr lang="en-US" dirty="0"/>
              <a:t> that are of no relevance to your research questions</a:t>
            </a:r>
            <a:endParaRPr dirty="0"/>
          </a:p>
          <a:p>
            <a:r>
              <a:rPr dirty="0"/>
              <a:t>Lemmatization vs. stemming</a:t>
            </a:r>
            <a:endParaRPr lang="en-US" dirty="0"/>
          </a:p>
          <a:p>
            <a:pPr lvl="1"/>
            <a:r>
              <a:rPr lang="en-US" dirty="0"/>
              <a:t>Stemming: chop off word endings with no mercy, fast but crude</a:t>
            </a:r>
          </a:p>
          <a:p>
            <a:pPr lvl="2"/>
            <a:r>
              <a:rPr lang="en-US" dirty="0"/>
              <a:t>running → run  studies → </a:t>
            </a:r>
            <a:r>
              <a:rPr lang="en-US" dirty="0" err="1"/>
              <a:t>studi</a:t>
            </a:r>
            <a:r>
              <a:rPr lang="en-US" dirty="0"/>
              <a:t>  universities → </a:t>
            </a:r>
            <a:r>
              <a:rPr lang="en-US" dirty="0" err="1"/>
              <a:t>univers</a:t>
            </a:r>
            <a:endParaRPr lang="en-US" dirty="0"/>
          </a:p>
          <a:p>
            <a:pPr lvl="1"/>
            <a:r>
              <a:rPr lang="en-US" dirty="0"/>
              <a:t>Lemmatization: dictionary + grammar to find the root</a:t>
            </a:r>
          </a:p>
          <a:p>
            <a:pPr lvl="2"/>
            <a:r>
              <a:rPr lang="en-US" dirty="0"/>
              <a:t>running → run  studies → study  better → good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n-Grams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Unigrams, bigrams, trigrams</a:t>
            </a:r>
          </a:p>
          <a:p>
            <a:r>
              <a:rPr lang="en-US" dirty="0"/>
              <a:t>Why use n-grams:</a:t>
            </a:r>
          </a:p>
          <a:p>
            <a:pPr lvl="1"/>
            <a:r>
              <a:rPr dirty="0"/>
              <a:t>Capture adjacent context (e.g., “not good”)</a:t>
            </a:r>
          </a:p>
          <a:p>
            <a:r>
              <a:rPr dirty="0"/>
              <a:t>Tradeoff: complexity vs. sparsity</a:t>
            </a:r>
            <a:endParaRPr lang="en-US" dirty="0"/>
          </a:p>
          <a:p>
            <a:r>
              <a:rPr lang="en-US" dirty="0"/>
              <a:t>Most methods we discuss use unigram.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Text to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32375"/>
          </a:xfrm>
        </p:spPr>
        <p:txBody>
          <a:bodyPr>
            <a:normAutofit/>
          </a:bodyPr>
          <a:lstStyle/>
          <a:p>
            <a:r>
              <a:rPr dirty="0"/>
              <a:t>Document-Term Matrix (DTM)</a:t>
            </a:r>
          </a:p>
          <a:p>
            <a:pPr lvl="1"/>
            <a:r>
              <a:rPr dirty="0"/>
              <a:t>Sparse, high-dimensional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342900" lvl="1" indent="0">
              <a:buNone/>
            </a:pPr>
            <a:endParaRPr dirty="0"/>
          </a:p>
          <a:p>
            <a:r>
              <a:rPr dirty="0"/>
              <a:t>TF</a:t>
            </a:r>
            <a:r>
              <a:rPr lang="en-US" dirty="0"/>
              <a:t> (Term Frequency, frequency of a word in a document): In the sentence "Data is the new oil", TF for "data" is 1/5 = 0.2</a:t>
            </a:r>
          </a:p>
          <a:p>
            <a:r>
              <a:rPr dirty="0"/>
              <a:t>IDF</a:t>
            </a:r>
            <a:r>
              <a:rPr lang="en-US" dirty="0"/>
              <a:t> (Inverse Document Frequency, how unique is a word across documents): Words that appear in many documents (like “the”, “is”) get low IDF, while unique words get higher IDF</a:t>
            </a:r>
          </a:p>
          <a:p>
            <a:r>
              <a:rPr dirty="0"/>
              <a:t>TF-IDF</a:t>
            </a:r>
            <a:r>
              <a:rPr lang="en-US" dirty="0"/>
              <a:t>: Putting it Together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CB27D2-7095-8E44-D1B3-0D82FCF8D4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884"/>
          <a:stretch>
            <a:fillRect/>
          </a:stretch>
        </p:blipFill>
        <p:spPr>
          <a:xfrm>
            <a:off x="1372339" y="2614543"/>
            <a:ext cx="6399321" cy="15201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54422-EFCA-0590-DEAE-FCB1D61AD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TF-IDF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F1607-5D7F-EF25-2162-B85892C8F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Term Frequency × Inverse Document Frequency</a:t>
            </a:r>
          </a:p>
          <a:p>
            <a:r>
              <a:rPr lang="en-US" dirty="0"/>
              <a:t>High </a:t>
            </a:r>
            <a:r>
              <a:rPr lang="en-US" b="1" dirty="0"/>
              <a:t>TF-IDF</a:t>
            </a:r>
            <a:r>
              <a:rPr lang="en-US" dirty="0"/>
              <a:t> = word is frequent in a document </a:t>
            </a:r>
            <a:r>
              <a:rPr lang="en-US" b="1" dirty="0"/>
              <a:t>but rare in the corpus</a:t>
            </a:r>
            <a:endParaRPr lang="en-US" dirty="0"/>
          </a:p>
          <a:p>
            <a:r>
              <a:rPr lang="en-US" dirty="0"/>
              <a:t>Filters out common “filler” words</a:t>
            </a:r>
          </a:p>
          <a:p>
            <a:r>
              <a:rPr lang="en-US" dirty="0"/>
              <a:t>Retains contextually meaningful, distinctive terms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2F2FAF-9C7F-C594-0984-B8C5E4CA3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764852"/>
              </p:ext>
            </p:extLst>
          </p:nvPr>
        </p:nvGraphicFramePr>
        <p:xfrm>
          <a:off x="628650" y="4200939"/>
          <a:ext cx="7886700" cy="16581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1150583583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696506858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989637531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42466513"/>
                    </a:ext>
                  </a:extLst>
                </a:gridCol>
              </a:tblGrid>
              <a:tr h="414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Term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Doc A TF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IDF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TF-IDF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9602000"/>
                  </a:ext>
                </a:extLst>
              </a:tr>
              <a:tr h="414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3595354"/>
                  </a:ext>
                </a:extLst>
              </a:tr>
              <a:tr h="414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996204"/>
                  </a:ext>
                </a:extLst>
              </a:tr>
              <a:tr h="414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366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3613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E3868-18B8-5FB8-5636-9F6FF843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TF-IDF vs. Word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9CAC7-9302-4C1F-4563-7FF6FB4F1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TF-IDF and word embeddings are two different ways to represent text as numbers.</a:t>
            </a:r>
          </a:p>
          <a:p>
            <a:r>
              <a:rPr lang="en-US" dirty="0"/>
              <a:t>TF-IDF is only relevant for classical machine learning models , such as logistic regression and SVM, where we used to construct our own text classification models.</a:t>
            </a:r>
          </a:p>
          <a:p>
            <a:r>
              <a:rPr lang="en-US" dirty="0"/>
              <a:t>More recently, the field has been shifting towards AI-assisted models for text classification, where embedding is more prominent, a topic we will discuss in the future.</a:t>
            </a:r>
          </a:p>
          <a:p>
            <a:r>
              <a:rPr lang="en-US" dirty="0"/>
              <a:t>However, understanding how text-as-data works is crucial and foundational to gaining a comprehensive understanding of social data science.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44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0B0D5-F95C-9FCE-0261-A879634C0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5F456-B905-048A-27BE-AED0B9410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word = low-dimensional dense vector (e.g., 300 dimensions)</a:t>
            </a:r>
          </a:p>
          <a:p>
            <a:pPr lvl="1"/>
            <a:r>
              <a:rPr lang="en-US" dirty="0"/>
              <a:t>TF-IDF is high-dimensional (many columns, one column per word)</a:t>
            </a:r>
          </a:p>
          <a:p>
            <a:r>
              <a:rPr lang="en-US" dirty="0"/>
              <a:t>Learned from context in large corpora (e.g., Word2Vec, </a:t>
            </a:r>
            <a:r>
              <a:rPr lang="en-US" dirty="0" err="1"/>
              <a:t>GloVe</a:t>
            </a:r>
            <a:r>
              <a:rPr lang="en-US" dirty="0"/>
              <a:t>, BERT)</a:t>
            </a:r>
          </a:p>
          <a:p>
            <a:r>
              <a:rPr lang="en-US" dirty="0"/>
              <a:t>Captures semantic relationships</a:t>
            </a:r>
          </a:p>
          <a:p>
            <a:pPr lvl="1"/>
            <a:r>
              <a:rPr lang="en-US" dirty="0"/>
              <a:t>e.g., </a:t>
            </a:r>
            <a:r>
              <a:rPr lang="en-US" dirty="0" err="1"/>
              <a:t>vec</a:t>
            </a:r>
            <a:r>
              <a:rPr lang="en-US" dirty="0"/>
              <a:t>(“king”) − </a:t>
            </a:r>
            <a:r>
              <a:rPr lang="en-US" dirty="0" err="1"/>
              <a:t>vec</a:t>
            </a:r>
            <a:r>
              <a:rPr lang="en-US" dirty="0"/>
              <a:t>(“man”) + </a:t>
            </a:r>
            <a:r>
              <a:rPr lang="en-US" dirty="0" err="1"/>
              <a:t>vec</a:t>
            </a:r>
            <a:r>
              <a:rPr lang="en-US" dirty="0"/>
              <a:t>(“woman”) ≈ </a:t>
            </a:r>
            <a:r>
              <a:rPr lang="en-US" dirty="0" err="1"/>
              <a:t>vec</a:t>
            </a:r>
            <a:r>
              <a:rPr lang="en-US" dirty="0"/>
              <a:t>(“queen”)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A80A0F-5FB3-14D7-6EEA-6AE821A366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17" b="4999"/>
          <a:stretch>
            <a:fillRect/>
          </a:stretch>
        </p:blipFill>
        <p:spPr>
          <a:xfrm>
            <a:off x="742950" y="4001294"/>
            <a:ext cx="7772400" cy="269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755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B475C-585B-103C-F992-D9B4B4F1F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839A97F-24C6-D762-621F-5A55F27083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784" t="7786" r="6390" b="16597"/>
          <a:stretch>
            <a:fillRect/>
          </a:stretch>
        </p:blipFill>
        <p:spPr>
          <a:xfrm>
            <a:off x="556591" y="205493"/>
            <a:ext cx="8030818" cy="6447014"/>
          </a:xfrm>
        </p:spPr>
      </p:pic>
    </p:spTree>
    <p:extLst>
      <p:ext uri="{BB962C8B-B14F-4D97-AF65-F5344CB8AC3E}">
        <p14:creationId xmlns:p14="http://schemas.microsoft.com/office/powerpoint/2010/main" val="3497541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D691C-8710-592E-D579-8A7E95318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C9C7D-C0BF-C414-7DD1-82A2C876D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Embeddings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AB09B48-B532-693D-1F25-80E83A0BE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792817"/>
              </p:ext>
            </p:extLst>
          </p:nvPr>
        </p:nvGraphicFramePr>
        <p:xfrm>
          <a:off x="628650" y="1690689"/>
          <a:ext cx="7886700" cy="17830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9656944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2996391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657090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Feature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TF-IDF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Embedding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0068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Based 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Term frequency + rarity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Context in language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460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Large (10k+)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Small (e.g., 300)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9894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Sparse vector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Dense vector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5915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Learns meaning?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799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Used in deep learning?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Rarely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6874069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45BE02-8548-2E53-1603-923DDBAF6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975651"/>
            <a:ext cx="7886700" cy="2882349"/>
          </a:xfrm>
        </p:spPr>
        <p:txBody>
          <a:bodyPr>
            <a:normAutofit/>
          </a:bodyPr>
          <a:lstStyle/>
          <a:p>
            <a:r>
              <a:rPr lang="en-US" dirty="0"/>
              <a:t>If you’re building a model, you’ll choose:</a:t>
            </a:r>
          </a:p>
          <a:p>
            <a:pPr lvl="1"/>
            <a:r>
              <a:rPr lang="en-US" b="1" dirty="0"/>
              <a:t>TF-IDF</a:t>
            </a:r>
            <a:r>
              <a:rPr lang="en-US" dirty="0"/>
              <a:t> if you’re doing classic ML (e.g., logistic regression, SVM)</a:t>
            </a:r>
          </a:p>
          <a:p>
            <a:pPr lvl="2"/>
            <a:r>
              <a:rPr lang="en-US" dirty="0"/>
              <a:t>logistic regression, SVM, LIWC, sentiment, moral foundations</a:t>
            </a:r>
          </a:p>
          <a:p>
            <a:pPr lvl="1"/>
            <a:r>
              <a:rPr lang="en-US" b="1" dirty="0"/>
              <a:t>Embeddings</a:t>
            </a:r>
            <a:r>
              <a:rPr lang="en-US" dirty="0"/>
              <a:t> if you’re doing modern NLP (e.g., transformers, neural nets)</a:t>
            </a:r>
          </a:p>
          <a:p>
            <a:pPr lvl="2"/>
            <a:r>
              <a:rPr lang="en-US" dirty="0"/>
              <a:t>Many off-the-shelf tools to choose from</a:t>
            </a:r>
          </a:p>
          <a:p>
            <a:pPr lvl="1"/>
            <a:r>
              <a:rPr lang="en-US" b="1" dirty="0"/>
              <a:t>TF-IDF dominated social science text-as-data work before ~2020 and</a:t>
            </a:r>
            <a:r>
              <a:rPr lang="en-US" dirty="0"/>
              <a:t> </a:t>
            </a:r>
            <a:r>
              <a:rPr lang="en-US" b="1" dirty="0"/>
              <a:t>embedding-based approaches have become more common since then</a:t>
            </a:r>
            <a:r>
              <a:rPr lang="en-US" dirty="0"/>
              <a:t>, particularly as tools like Word2Vec, </a:t>
            </a:r>
            <a:r>
              <a:rPr lang="en-US" dirty="0" err="1"/>
              <a:t>GloVe</a:t>
            </a:r>
            <a:r>
              <a:rPr lang="en-US" dirty="0"/>
              <a:t>, BERT, and GPT became more accessible and pre-trained models more widely available. </a:t>
            </a:r>
          </a:p>
        </p:txBody>
      </p:sp>
    </p:spTree>
    <p:extLst>
      <p:ext uri="{BB962C8B-B14F-4D97-AF65-F5344CB8AC3E}">
        <p14:creationId xmlns:p14="http://schemas.microsoft.com/office/powerpoint/2010/main" val="488425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Dictionary-Based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interpretable</a:t>
            </a:r>
          </a:p>
          <a:p>
            <a:pPr lvl="1"/>
            <a:r>
              <a:rPr lang="en-US" dirty="0"/>
              <a:t>The most accurate model might not be what social scientists value</a:t>
            </a:r>
          </a:p>
          <a:p>
            <a:r>
              <a:rPr lang="en-US" dirty="0"/>
              <a:t>D</a:t>
            </a:r>
            <a:r>
              <a:rPr dirty="0"/>
              <a:t>ictionary: predefined word lists</a:t>
            </a:r>
          </a:p>
          <a:p>
            <a:r>
              <a:rPr dirty="0"/>
              <a:t>Examples: LIWC, MFD, </a:t>
            </a:r>
            <a:r>
              <a:rPr dirty="0" err="1"/>
              <a:t>Lexicoder</a:t>
            </a:r>
            <a:endParaRPr dirty="0"/>
          </a:p>
          <a:p>
            <a:r>
              <a:rPr dirty="0"/>
              <a:t>Applications: sentiment, moral values, </a:t>
            </a:r>
            <a:r>
              <a:rPr lang="en-US" dirty="0"/>
              <a:t>word use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72B5A6-5FF9-9AC7-BDDC-34EAC58D6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7" y="4062438"/>
            <a:ext cx="8998226" cy="17060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Case: LIWC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Tausczik</a:t>
            </a:r>
            <a:r>
              <a:rPr dirty="0"/>
              <a:t> &amp; Pennebaker (2010)</a:t>
            </a:r>
            <a:endParaRPr lang="en-US" dirty="0"/>
          </a:p>
          <a:p>
            <a:pPr lvl="1"/>
            <a:r>
              <a:rPr lang="en-US" dirty="0" err="1"/>
              <a:t>Tausczik</a:t>
            </a:r>
            <a:r>
              <a:rPr lang="en-US" dirty="0"/>
              <a:t>, Y. R., &amp; Pennebaker, J. W. (2010). The psychological meaning of words: LIWC and computerized text analysis methods. </a:t>
            </a:r>
            <a:r>
              <a:rPr lang="en-US" i="1" dirty="0"/>
              <a:t>Journal of Language and Social Psychology, 29</a:t>
            </a:r>
            <a:r>
              <a:rPr lang="en-US" dirty="0"/>
              <a:t>(1), 24–54. https://</a:t>
            </a:r>
            <a:r>
              <a:rPr lang="en-US" dirty="0" err="1"/>
              <a:t>doi.org</a:t>
            </a:r>
            <a:r>
              <a:rPr lang="en-US" dirty="0"/>
              <a:t>/10.1177/0261927X09351676</a:t>
            </a:r>
            <a:endParaRPr dirty="0"/>
          </a:p>
          <a:p>
            <a:r>
              <a:rPr dirty="0"/>
              <a:t>Count</a:t>
            </a:r>
            <a:r>
              <a:rPr lang="en-US" dirty="0"/>
              <a:t> words that correspond to a </a:t>
            </a:r>
            <a:r>
              <a:rPr dirty="0"/>
              <a:t>feature</a:t>
            </a:r>
            <a:r>
              <a:rPr lang="en-US" dirty="0"/>
              <a:t> </a:t>
            </a:r>
            <a:r>
              <a:rPr dirty="0"/>
              <a:t>(e.g., anxiety, anger)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FC6E9-B71F-6158-886F-CAE5186D7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C397-CBA7-8842-2570-9C93DFBAF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Case: LIWC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C917249-69D3-A158-1219-D6DB56AD8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0861" y="425221"/>
            <a:ext cx="5942078" cy="6007557"/>
          </a:xfrm>
        </p:spPr>
      </p:pic>
    </p:spTree>
    <p:extLst>
      <p:ext uri="{BB962C8B-B14F-4D97-AF65-F5344CB8AC3E}">
        <p14:creationId xmlns:p14="http://schemas.microsoft.com/office/powerpoint/2010/main" val="2956448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F0FB2-4EB0-D9FA-6D14-85EDEA7ED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0801E-F593-8BC3-C917-A29DF4E4F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Case: LIWC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CCD4F-5417-E1D1-27FB-0B8A2C14A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example:</a:t>
            </a:r>
          </a:p>
          <a:p>
            <a:pPr lvl="1"/>
            <a:r>
              <a:rPr lang="en-US" dirty="0"/>
              <a:t>Processing tweets published by people living in</a:t>
            </a:r>
          </a:p>
          <a:p>
            <a:pPr lvl="2"/>
            <a:r>
              <a:rPr lang="en-US" dirty="0"/>
              <a:t>Regions with rainfall</a:t>
            </a:r>
          </a:p>
          <a:p>
            <a:pPr lvl="2"/>
            <a:r>
              <a:rPr lang="en-US" dirty="0"/>
              <a:t>Regions with sunshine</a:t>
            </a:r>
          </a:p>
          <a:p>
            <a:pPr lvl="1"/>
            <a:r>
              <a:rPr lang="en-US" dirty="0"/>
              <a:t>and measuring tweets’ positive emotions (the “</a:t>
            </a:r>
            <a:r>
              <a:rPr lang="en-US" dirty="0" err="1"/>
              <a:t>Posemo</a:t>
            </a:r>
            <a:r>
              <a:rPr lang="en-US" dirty="0"/>
              <a:t>” variable)</a:t>
            </a:r>
          </a:p>
          <a:p>
            <a:pPr lvl="1"/>
            <a:r>
              <a:rPr lang="en-US" dirty="0"/>
              <a:t>We might see that tweets geo-matched with sunshine regions have a higher </a:t>
            </a:r>
            <a:r>
              <a:rPr lang="en-US" dirty="0" err="1"/>
              <a:t>Posemo</a:t>
            </a:r>
            <a:r>
              <a:rPr lang="en-US" dirty="0"/>
              <a:t> value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Let’s say you ran LIWC on a document with 1,000 words, and you got </a:t>
            </a:r>
            <a:r>
              <a:rPr lang="en-US" dirty="0" err="1"/>
              <a:t>Posemo</a:t>
            </a:r>
            <a:r>
              <a:rPr lang="en-US" dirty="0"/>
              <a:t> = 76</a:t>
            </a:r>
          </a:p>
          <a:p>
            <a:pPr lvl="1"/>
            <a:r>
              <a:rPr lang="en-US" dirty="0"/>
              <a:t>That means:</a:t>
            </a:r>
          </a:p>
          <a:p>
            <a:pPr lvl="2"/>
            <a:r>
              <a:rPr lang="en-US" dirty="0"/>
              <a:t>76 words (7.6% of the total) matched words in the “positive emotion” category, such as “happy,” “love,” “great,” “joy,” etc.</a:t>
            </a:r>
          </a:p>
          <a:p>
            <a:pPr lvl="1"/>
            <a:r>
              <a:rPr lang="en-US" dirty="0"/>
              <a:t>It doesn’t account for context, negation, or sentence structure.</a:t>
            </a:r>
          </a:p>
        </p:txBody>
      </p:sp>
    </p:spTree>
    <p:extLst>
      <p:ext uri="{BB962C8B-B14F-4D97-AF65-F5344CB8AC3E}">
        <p14:creationId xmlns:p14="http://schemas.microsoft.com/office/powerpoint/2010/main" val="1802219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</a:t>
            </a:r>
            <a:r>
              <a:rPr dirty="0"/>
              <a:t>: Moral Foundations </a:t>
            </a:r>
            <a:r>
              <a:rPr lang="en-US" dirty="0"/>
              <a:t>Theory</a:t>
            </a:r>
            <a:endParaRPr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48A124-0955-5246-5963-7ABD4314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FD205-252C-4DBD-9F2D-288366D73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E78A-6E13-1AA1-C42C-0A8730E7C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Presentation: Wang &amp; Inbar (2021)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471F8-289F-B13B-DCB2-A52BA6018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Wang &amp; Inbar (2021)</a:t>
            </a:r>
            <a:endParaRPr lang="en-US" dirty="0"/>
          </a:p>
          <a:p>
            <a:pPr lvl="1"/>
            <a:r>
              <a:rPr lang="en-US" dirty="0"/>
              <a:t>Wang, S.-Y. N., &amp; Inbar, Y. (2021). Moral-language use by U.S. political elites. </a:t>
            </a:r>
            <a:r>
              <a:rPr lang="en-US" i="1" dirty="0"/>
              <a:t>Psychological Science, 32</a:t>
            </a:r>
            <a:r>
              <a:rPr lang="en-US" dirty="0"/>
              <a:t>(1), 14–26. https://</a:t>
            </a:r>
            <a:r>
              <a:rPr lang="en-US" dirty="0" err="1"/>
              <a:t>doi.org</a:t>
            </a:r>
            <a:r>
              <a:rPr lang="en-US" dirty="0"/>
              <a:t>/10.1177/0956797620960397</a:t>
            </a:r>
            <a:endParaRPr dirty="0"/>
          </a:p>
          <a:p>
            <a:r>
              <a:rPr lang="en-US" dirty="0"/>
              <a:t>Five moral foundations across culture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57A53F-6928-484C-DBFE-5CBDA07185CB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3705859"/>
          <a:ext cx="7886700" cy="2606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1134131565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160937655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36149190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116711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Foundation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Basic Intuition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Virtues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Violations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4415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Care/Harm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Protect others, prevent suffering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Compassion, kindness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Cruelty, aggression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020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Fairness/Cheating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Justice, equality, reciprocity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Fairness, justice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Cheating, exploitation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1815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Loyalty/Betrayal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Group identity and cohesion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Patriotism, self-sacrifice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Disloyalty, treason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5384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Authority/Subversion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Respect for tradition, hierarchy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Obedience, deference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Disrespect, rebellion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923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Sanctity/Degradation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Purity, sacredness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Cleanliness, piety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Impurity, perversion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660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418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C2646-F794-C073-3CDD-53AA24F74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312B3-6928-921C-94E9-93888AD5F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Case: </a:t>
            </a:r>
            <a:r>
              <a:rPr lang="en-US" dirty="0"/>
              <a:t>Different </a:t>
            </a:r>
            <a:r>
              <a:rPr dirty="0"/>
              <a:t>Dictionar</a:t>
            </a:r>
            <a:r>
              <a:rPr lang="en-US" dirty="0"/>
              <a:t>ies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3AA54-EF14-9407-CB1F-BDE2EED23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32375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</a:rPr>
              <a:t>Graham, J., Haidt, J., &amp; Nosek, B. A. (2009). Liberals and conservatives rely on different sets of moral foundations. </a:t>
            </a:r>
            <a:r>
              <a:rPr lang="en-US" i="1" dirty="0">
                <a:effectLst/>
              </a:rPr>
              <a:t>Journal of Personality and Social Psychology</a:t>
            </a:r>
            <a:r>
              <a:rPr lang="en-US" dirty="0">
                <a:effectLst/>
              </a:rPr>
              <a:t>, </a:t>
            </a:r>
            <a:r>
              <a:rPr lang="en-US" i="1" dirty="0">
                <a:effectLst/>
              </a:rPr>
              <a:t>96</a:t>
            </a:r>
            <a:r>
              <a:rPr lang="en-US" dirty="0">
                <a:effectLst/>
              </a:rPr>
              <a:t>(5), 1029–1046. </a:t>
            </a:r>
            <a:r>
              <a:rPr lang="en-US" dirty="0">
                <a:effectLst/>
                <a:hlinkClick r:id="rId3"/>
              </a:rPr>
              <a:t>https://doi.org/10.1037/a0015141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Frimer, J. (2019). </a:t>
            </a:r>
            <a:r>
              <a:rPr lang="en-US" i="1" dirty="0">
                <a:effectLst/>
              </a:rPr>
              <a:t>Moral foundations dictionary 2.0</a:t>
            </a:r>
            <a:r>
              <a:rPr lang="en-US" dirty="0">
                <a:effectLst/>
              </a:rPr>
              <a:t>. </a:t>
            </a:r>
            <a:r>
              <a:rPr lang="en-US" dirty="0">
                <a:effectLst/>
                <a:hlinkClick r:id="rId4"/>
              </a:rPr>
              <a:t>https://osf.io/ezn37/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Hopp, F. R., Fisher, J. T., Cornell, D., Huskey, R., &amp; Weber, R. (2021). The extended Moral Foundations Dictionary (</a:t>
            </a:r>
            <a:r>
              <a:rPr lang="en-US" dirty="0" err="1">
                <a:effectLst/>
              </a:rPr>
              <a:t>eMFD</a:t>
            </a:r>
            <a:r>
              <a:rPr lang="en-US" dirty="0">
                <a:effectLst/>
              </a:rPr>
              <a:t>): Development and applications of a crowd-sourced approach to extracting moral intuitions from text. </a:t>
            </a:r>
            <a:r>
              <a:rPr lang="en-US" i="1" dirty="0">
                <a:effectLst/>
              </a:rPr>
              <a:t>Behavior Research Methods</a:t>
            </a:r>
            <a:r>
              <a:rPr lang="en-US" dirty="0">
                <a:effectLst/>
              </a:rPr>
              <a:t>, </a:t>
            </a:r>
            <a:r>
              <a:rPr lang="en-US" i="1" dirty="0">
                <a:effectLst/>
              </a:rPr>
              <a:t>53</a:t>
            </a:r>
            <a:r>
              <a:rPr lang="en-US" dirty="0">
                <a:effectLst/>
              </a:rPr>
              <a:t>(1), 232–246. </a:t>
            </a:r>
            <a:r>
              <a:rPr lang="en-US" dirty="0">
                <a:effectLst/>
                <a:hlinkClick r:id="rId5"/>
              </a:rPr>
              <a:t>https://doi.org/10.3758/s13428-020-01433-0</a:t>
            </a:r>
            <a:endParaRPr lang="en-US" dirty="0">
              <a:effectLst/>
            </a:endParaRPr>
          </a:p>
          <a:p>
            <a:r>
              <a:rPr lang="en-US" b="1" dirty="0"/>
              <a:t>[Embedding]</a:t>
            </a:r>
            <a:r>
              <a:rPr lang="en-US" dirty="0"/>
              <a:t> </a:t>
            </a:r>
            <a:r>
              <a:rPr lang="en-US" dirty="0">
                <a:effectLst/>
              </a:rPr>
              <a:t>Duan, Z., Shao, A., Hu, Y., Lee, H., Liao, X., Suh, Y. J., Kim, J., Yang, K.-C., Chen, K., &amp; Yang, S. (2025). Constructing </a:t>
            </a:r>
            <a:r>
              <a:rPr lang="en-US" dirty="0" err="1">
                <a:effectLst/>
              </a:rPr>
              <a:t>vec-tionaries</a:t>
            </a:r>
            <a:r>
              <a:rPr lang="en-US" dirty="0">
                <a:effectLst/>
              </a:rPr>
              <a:t> to extract message features from texts: A case study of moral content. </a:t>
            </a:r>
            <a:r>
              <a:rPr lang="en-US" i="1" dirty="0">
                <a:effectLst/>
              </a:rPr>
              <a:t>Political Analysis</a:t>
            </a:r>
            <a:r>
              <a:rPr lang="en-US" dirty="0">
                <a:effectLst/>
              </a:rPr>
              <a:t>, 1–21. </a:t>
            </a:r>
            <a:r>
              <a:rPr lang="en-US" dirty="0">
                <a:effectLst/>
                <a:hlinkClick r:id="rId6"/>
              </a:rPr>
              <a:t>https://doi.org/10.1017/pan.2025.6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28012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Limitations of 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32376"/>
          </a:xfrm>
        </p:spPr>
        <p:txBody>
          <a:bodyPr>
            <a:normAutofit/>
          </a:bodyPr>
          <a:lstStyle/>
          <a:p>
            <a:r>
              <a:rPr dirty="0"/>
              <a:t>Lack of context sensitivity</a:t>
            </a:r>
          </a:p>
          <a:p>
            <a:r>
              <a:rPr dirty="0"/>
              <a:t>Vocabulary drift</a:t>
            </a:r>
            <a:r>
              <a:rPr lang="en-US" dirty="0"/>
              <a:t>/</a:t>
            </a:r>
            <a:r>
              <a:rPr dirty="0"/>
              <a:t>misspecification</a:t>
            </a:r>
          </a:p>
          <a:p>
            <a:r>
              <a:rPr dirty="0"/>
              <a:t>Not designed for predictive accuracy</a:t>
            </a:r>
            <a:endParaRPr lang="en-US" dirty="0"/>
          </a:p>
          <a:p>
            <a:pPr lvl="1"/>
            <a:r>
              <a:rPr lang="en-US" dirty="0"/>
              <a:t>Dictionaries (e.g., LIWC, MFD, </a:t>
            </a:r>
            <a:r>
              <a:rPr lang="en-US" dirty="0" err="1"/>
              <a:t>Lexicoder</a:t>
            </a:r>
            <a:r>
              <a:rPr lang="en-US" dirty="0"/>
              <a:t>) are used to measure constructs like anxiety, anger, authority, fairness, etc.</a:t>
            </a:r>
          </a:p>
          <a:p>
            <a:pPr lvl="1"/>
            <a:r>
              <a:rPr lang="en-US" dirty="0"/>
              <a:t>Valuable for theory-driven analysis — especially when interpretability matters.</a:t>
            </a:r>
          </a:p>
          <a:p>
            <a:pPr lvl="1"/>
            <a:r>
              <a:rPr lang="en-US" dirty="0"/>
              <a:t>Not built for predictive accuracy, e.g.,</a:t>
            </a:r>
          </a:p>
          <a:p>
            <a:pPr lvl="2"/>
            <a:r>
              <a:rPr lang="en-US" dirty="0"/>
              <a:t>Accuracy</a:t>
            </a:r>
          </a:p>
          <a:p>
            <a:pPr lvl="2"/>
            <a:r>
              <a:rPr lang="en-US" dirty="0"/>
              <a:t>F1-score</a:t>
            </a:r>
          </a:p>
          <a:p>
            <a:pPr lvl="2"/>
            <a:r>
              <a:rPr lang="en-US" dirty="0"/>
              <a:t>AUC</a:t>
            </a:r>
          </a:p>
          <a:p>
            <a:pPr lvl="1"/>
            <a:r>
              <a:rPr lang="en-US" dirty="0"/>
              <a:t>Dictionary scores are rarely used to predict:</a:t>
            </a:r>
          </a:p>
          <a:p>
            <a:pPr lvl="2"/>
            <a:r>
              <a:rPr lang="en-US" dirty="0"/>
              <a:t>Whether someone votes</a:t>
            </a:r>
          </a:p>
          <a:p>
            <a:pPr lvl="2"/>
            <a:r>
              <a:rPr lang="en-US" dirty="0"/>
              <a:t>Who wins an election</a:t>
            </a:r>
          </a:p>
          <a:p>
            <a:pPr lvl="2"/>
            <a:r>
              <a:rPr lang="en-US" dirty="0"/>
              <a:t>Whether someone is depressed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Supervised </a:t>
            </a:r>
            <a:r>
              <a:rPr lang="en-US" dirty="0"/>
              <a:t>Machine Learning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Goal: predict a label (e.g., sentiment, topic, ideology)</a:t>
            </a:r>
          </a:p>
          <a:p>
            <a:r>
              <a:rPr dirty="0"/>
              <a:t>Requires labeled data</a:t>
            </a:r>
          </a:p>
          <a:p>
            <a:r>
              <a:rPr dirty="0"/>
              <a:t>Features: n-grams, TF-IDF, dictionaries</a:t>
            </a:r>
            <a:endParaRPr lang="en-US" dirty="0"/>
          </a:p>
          <a:p>
            <a:r>
              <a:rPr lang="en-US" dirty="0"/>
              <a:t>Classifier models:</a:t>
            </a:r>
          </a:p>
          <a:p>
            <a:pPr lvl="1"/>
            <a:r>
              <a:rPr lang="en-US" dirty="0"/>
              <a:t>Logistic regression</a:t>
            </a:r>
          </a:p>
          <a:p>
            <a:pPr lvl="2"/>
            <a:r>
              <a:rPr lang="en-US" dirty="0"/>
              <a:t>L1 (Lasso) Regularization</a:t>
            </a:r>
          </a:p>
          <a:p>
            <a:pPr lvl="2"/>
            <a:r>
              <a:rPr lang="en-US" dirty="0"/>
              <a:t>L2 (Ridge) Regularization</a:t>
            </a:r>
          </a:p>
          <a:p>
            <a:pPr lvl="2"/>
            <a:r>
              <a:rPr lang="en-US" dirty="0"/>
              <a:t>Elastic Net – hybrid of L1 and L2</a:t>
            </a:r>
          </a:p>
          <a:p>
            <a:pPr lvl="1"/>
            <a:r>
              <a:rPr lang="en-US" dirty="0"/>
              <a:t>Support Vector Machine (SVM)</a:t>
            </a:r>
          </a:p>
          <a:p>
            <a:pPr lvl="1"/>
            <a:r>
              <a:rPr lang="en-US" dirty="0"/>
              <a:t>Tree-Based Models</a:t>
            </a:r>
          </a:p>
          <a:p>
            <a:pPr lvl="1"/>
            <a:r>
              <a:rPr lang="en-US" dirty="0"/>
              <a:t>Neural Networks (e.g., Recurrent Neural Network (RNN))</a:t>
            </a:r>
          </a:p>
          <a:p>
            <a:pPr lvl="1"/>
            <a:r>
              <a:rPr lang="en-US" dirty="0"/>
              <a:t>K-Nearest Neighbors (KNN)</a:t>
            </a:r>
          </a:p>
          <a:p>
            <a:pPr lvl="1"/>
            <a:r>
              <a:rPr lang="en-US" dirty="0"/>
              <a:t>Etc.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364D2-626A-4FE4-2773-A717EA7FE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Presentation: </a:t>
            </a:r>
            <a:r>
              <a:rPr lang="en-US" dirty="0" err="1"/>
              <a:t>Barberá</a:t>
            </a:r>
            <a:r>
              <a:rPr lang="en-US" dirty="0"/>
              <a:t> et al. (2021)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A30F1-6474-B260-A1DF-C81FFF532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015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78FC55-34F4-8660-229B-A66C501B0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59" y="1173685"/>
            <a:ext cx="9145759" cy="451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638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32375"/>
          </a:xfrm>
        </p:spPr>
        <p:txBody>
          <a:bodyPr>
            <a:normAutofit/>
          </a:bodyPr>
          <a:lstStyle/>
          <a:p>
            <a:r>
              <a:rPr dirty="0"/>
              <a:t>Binary outcome: logit(p) = β0 + β1X</a:t>
            </a:r>
            <a:endParaRPr lang="en-US" dirty="0"/>
          </a:p>
          <a:p>
            <a:pPr lvl="1"/>
            <a:r>
              <a:rPr lang="en-US" dirty="0" err="1"/>
              <a:t>Whether_uncivil</a:t>
            </a:r>
            <a:r>
              <a:rPr lang="en-US" dirty="0"/>
              <a:t> = </a:t>
            </a:r>
            <a:r>
              <a:rPr lang="el-GR" dirty="0"/>
              <a:t>β0 + β1</a:t>
            </a:r>
            <a:r>
              <a:rPr lang="en-US" dirty="0"/>
              <a:t>* “asshole” + </a:t>
            </a:r>
            <a:r>
              <a:rPr lang="el-GR" dirty="0"/>
              <a:t>β</a:t>
            </a:r>
            <a:r>
              <a:rPr lang="en-US" dirty="0"/>
              <a:t>2* “beautiful” + …</a:t>
            </a:r>
          </a:p>
          <a:p>
            <a:r>
              <a:rPr lang="en-US" dirty="0"/>
              <a:t>Interpretable coefficients</a:t>
            </a:r>
          </a:p>
          <a:p>
            <a:r>
              <a:rPr dirty="0"/>
              <a:t>Use in social science: classification + inference</a:t>
            </a:r>
            <a:endParaRPr lang="en-US" dirty="0"/>
          </a:p>
          <a:p>
            <a:r>
              <a:rPr lang="en-US" dirty="0"/>
              <a:t>Remember, in TF-IDF, there are many dimensions, other than “asshole” “beautiful” there are thousands of n-grams that could have coefficients, therefore, we need regularization, which shrinks coefficients to improve generalization to new data.</a:t>
            </a:r>
          </a:p>
          <a:p>
            <a:pPr lvl="1"/>
            <a:r>
              <a:rPr lang="en-US" b="1" dirty="0"/>
              <a:t>L1 (Lasso) Regularization</a:t>
            </a:r>
            <a:endParaRPr lang="en-US" dirty="0"/>
          </a:p>
          <a:p>
            <a:pPr lvl="2"/>
            <a:r>
              <a:rPr lang="en-US" dirty="0"/>
              <a:t>Encourages sparsity: sets some coefficients to exactly zero</a:t>
            </a:r>
          </a:p>
          <a:p>
            <a:pPr lvl="2"/>
            <a:r>
              <a:rPr lang="en-US" dirty="0"/>
              <a:t>Good for feature selection when many irrelevant features</a:t>
            </a:r>
          </a:p>
          <a:p>
            <a:pPr lvl="1"/>
            <a:r>
              <a:rPr lang="en-US" b="1" dirty="0"/>
              <a:t>L2 (Ridge) Regularization</a:t>
            </a:r>
            <a:endParaRPr lang="en-US" dirty="0"/>
          </a:p>
          <a:p>
            <a:pPr lvl="2"/>
            <a:r>
              <a:rPr lang="en-US" dirty="0"/>
              <a:t>Shrinks coefficients toward zero but keeps all features</a:t>
            </a:r>
          </a:p>
          <a:p>
            <a:pPr lvl="2"/>
            <a:r>
              <a:rPr lang="en-US" dirty="0"/>
              <a:t>Good for handling multicollinearity and overfitting</a:t>
            </a:r>
          </a:p>
          <a:p>
            <a:pPr lvl="1"/>
            <a:r>
              <a:rPr lang="en-US" b="1" dirty="0"/>
              <a:t>Elastic Net – hybrid of L1 and L2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Margin maximization</a:t>
            </a:r>
          </a:p>
          <a:p>
            <a:r>
              <a:rPr dirty="0"/>
              <a:t>Good when many features, few observations</a:t>
            </a:r>
          </a:p>
          <a:p>
            <a:r>
              <a:rPr dirty="0"/>
              <a:t>Less interpretable than logistic regression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03BFDF-FF9C-85B3-FB96-540AA728B3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42" t="7589" r="19464" b="16654"/>
          <a:stretch>
            <a:fillRect/>
          </a:stretch>
        </p:blipFill>
        <p:spPr>
          <a:xfrm>
            <a:off x="338758" y="3698805"/>
            <a:ext cx="3657600" cy="24781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44A8D0-12C9-9D4C-B8E8-FF600A1934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3" t="7330" r="8270" b="8056"/>
          <a:stretch>
            <a:fillRect/>
          </a:stretch>
        </p:blipFill>
        <p:spPr>
          <a:xfrm>
            <a:off x="4572000" y="3771967"/>
            <a:ext cx="4518992" cy="233183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910D4-AF49-9BFB-153F-D2F535688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Tree-Based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A271F-168F-3549-A35D-4A880DAF6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Decision Tree (a.k.a. Classification Tree)</a:t>
            </a:r>
          </a:p>
          <a:p>
            <a:r>
              <a:rPr lang="en-US" dirty="0"/>
              <a:t>Random Forest – ensemble of trees, more stable</a:t>
            </a:r>
          </a:p>
          <a:p>
            <a:r>
              <a:rPr lang="en-US" dirty="0"/>
              <a:t>Gradient Boosted Trees (e.g., </a:t>
            </a:r>
            <a:r>
              <a:rPr lang="en-US" dirty="0" err="1"/>
              <a:t>XGBoost</a:t>
            </a:r>
            <a:r>
              <a:rPr lang="en-US" dirty="0"/>
              <a:t>, </a:t>
            </a:r>
            <a:r>
              <a:rPr lang="en-US" dirty="0" err="1"/>
              <a:t>LightGBM</a:t>
            </a:r>
            <a:r>
              <a:rPr lang="en-US" dirty="0"/>
              <a:t>, </a:t>
            </a:r>
            <a:r>
              <a:rPr lang="en-US" dirty="0" err="1"/>
              <a:t>CatBoost</a:t>
            </a:r>
            <a:r>
              <a:rPr lang="en-US" dirty="0"/>
              <a:t>)</a:t>
            </a:r>
          </a:p>
          <a:p>
            <a:r>
              <a:rPr lang="en-US" dirty="0"/>
              <a:t>Etc.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8454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9FAB0-840A-936D-9529-9B785B496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C096-FE21-9E24-EA2C-1835A197D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Tree-Based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20271-9D9B-44FC-C22D-291B70EC7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Decision Tree (a.k.a. Classification Tree)</a:t>
            </a:r>
          </a:p>
          <a:p>
            <a:r>
              <a:rPr lang="en-US" dirty="0"/>
              <a:t>Random Forest – ensemble of trees, more stable</a:t>
            </a:r>
          </a:p>
          <a:p>
            <a:r>
              <a:rPr lang="en-US" dirty="0"/>
              <a:t>Gradient Boosted Trees (e.g., </a:t>
            </a:r>
            <a:r>
              <a:rPr lang="en-US" dirty="0" err="1"/>
              <a:t>XGBoost</a:t>
            </a:r>
            <a:r>
              <a:rPr lang="en-US" dirty="0"/>
              <a:t>, </a:t>
            </a:r>
            <a:r>
              <a:rPr lang="en-US" dirty="0" err="1"/>
              <a:t>LightGBM</a:t>
            </a:r>
            <a:r>
              <a:rPr lang="en-US" dirty="0"/>
              <a:t>, </a:t>
            </a:r>
            <a:r>
              <a:rPr lang="en-US" dirty="0" err="1"/>
              <a:t>CatBoost</a:t>
            </a:r>
            <a:r>
              <a:rPr lang="en-US" dirty="0"/>
              <a:t>)</a:t>
            </a:r>
          </a:p>
          <a:p>
            <a:r>
              <a:rPr lang="en-US" dirty="0"/>
              <a:t>Etc.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23DAF-62CE-8854-82B9-87C3148CE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30654"/>
            <a:ext cx="7886700" cy="61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3960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E09F6-15D3-A122-4154-984E580C8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D88A70-C01C-4545-3CFA-12B593CFE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Loosely inspired by the brain: layers of nodes ("neurons")</a:t>
            </a:r>
          </a:p>
          <a:p>
            <a:r>
              <a:rPr lang="en-US" dirty="0"/>
              <a:t>Used for nonlinear classification and complex pattern recognition</a:t>
            </a:r>
          </a:p>
          <a:p>
            <a:r>
              <a:rPr lang="en-US" dirty="0"/>
              <a:t>input → hidden layers → output</a:t>
            </a:r>
          </a:p>
          <a:p>
            <a:r>
              <a:rPr lang="en-US" dirty="0"/>
              <a:t>Text input needs to be embedded first (e.g., with word vectors)</a:t>
            </a:r>
          </a:p>
          <a:p>
            <a:pPr lvl="1"/>
            <a:r>
              <a:rPr lang="en-US" dirty="0"/>
              <a:t>Handles high-dimensional input well</a:t>
            </a:r>
          </a:p>
          <a:p>
            <a:pPr lvl="1"/>
            <a:r>
              <a:rPr lang="en-US" dirty="0"/>
              <a:t>Can model interactions and nonlinearity</a:t>
            </a:r>
          </a:p>
          <a:p>
            <a:pPr lvl="1"/>
            <a:r>
              <a:rPr lang="en-US" dirty="0"/>
              <a:t>Requires tuning, more data</a:t>
            </a:r>
          </a:p>
          <a:p>
            <a:pPr lvl="1"/>
            <a:r>
              <a:rPr lang="en-US" dirty="0"/>
              <a:t>Often a black box (hard to interpret)</a:t>
            </a:r>
          </a:p>
        </p:txBody>
      </p:sp>
    </p:spTree>
    <p:extLst>
      <p:ext uri="{BB962C8B-B14F-4D97-AF65-F5344CB8AC3E}">
        <p14:creationId xmlns:p14="http://schemas.microsoft.com/office/powerpoint/2010/main" val="37459096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8E8CE-1345-2E69-4E41-0881E7276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5ADB-0A2F-3EA8-46A9-E5B3CCB80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C26534-C1DD-19E3-784A-39D3E7CADC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175" y="2199230"/>
            <a:ext cx="8769649" cy="4108743"/>
          </a:xfrm>
        </p:spPr>
      </p:pic>
    </p:spTree>
    <p:extLst>
      <p:ext uri="{BB962C8B-B14F-4D97-AF65-F5344CB8AC3E}">
        <p14:creationId xmlns:p14="http://schemas.microsoft.com/office/powerpoint/2010/main" val="19883397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1FC44-24AB-0C47-B9CB-8A33E688B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FA688-AA72-107B-D980-D4F9D98DD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e</a:t>
            </a:r>
            <a:r>
              <a:rPr dirty="0"/>
              <a:t>valuat</a:t>
            </a:r>
            <a:r>
              <a:rPr lang="en-US" dirty="0"/>
              <a:t>e model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55572-27BC-86A9-5DE3-7ECFC05CB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Cross-validation (k-fold):</a:t>
            </a:r>
          </a:p>
          <a:p>
            <a:pPr lvl="1"/>
            <a:r>
              <a:rPr lang="en-US" dirty="0"/>
              <a:t>Partition the dataset into ‘k’ subsets</a:t>
            </a:r>
          </a:p>
          <a:p>
            <a:pPr lvl="1"/>
            <a:r>
              <a:rPr lang="en-US" dirty="0"/>
              <a:t>Iteratively using each subset as the test set while the remaining subsets form the training set</a:t>
            </a:r>
          </a:p>
          <a:p>
            <a:pPr lvl="1"/>
            <a:r>
              <a:rPr lang="en-US" dirty="0"/>
              <a:t>This process helps in mitigating overfitting (prevents overfitting to one split of the data) and provides a more generalized evaluation that could work better for unseen/new data.</a:t>
            </a:r>
          </a:p>
          <a:p>
            <a:pPr lvl="1"/>
            <a:endParaRPr lang="en-US" dirty="0"/>
          </a:p>
          <a:p>
            <a:r>
              <a:rPr lang="en-US" dirty="0"/>
              <a:t>Some people also do “Holdout Validation (Train/Test Split)”</a:t>
            </a:r>
          </a:p>
          <a:p>
            <a:pPr lvl="1"/>
            <a:r>
              <a:rPr lang="en-US" dirty="0"/>
              <a:t>Split once into training and testing sets (e.g., 80/20)</a:t>
            </a:r>
          </a:p>
          <a:p>
            <a:pPr lvl="1"/>
            <a:r>
              <a:rPr lang="en-US" dirty="0"/>
              <a:t>Fast and simple, but results may vary depending on the random split</a:t>
            </a:r>
          </a:p>
          <a:p>
            <a:pPr lvl="1"/>
            <a:r>
              <a:rPr lang="en-US" dirty="0"/>
              <a:t>Use with large datasets or when training time is high</a:t>
            </a:r>
          </a:p>
        </p:txBody>
      </p:sp>
    </p:spTree>
    <p:extLst>
      <p:ext uri="{BB962C8B-B14F-4D97-AF65-F5344CB8AC3E}">
        <p14:creationId xmlns:p14="http://schemas.microsoft.com/office/powerpoint/2010/main" val="15713855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4C96D-D9B5-B59B-9037-ACD2670CE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03733A-83A7-B96A-9088-EC2BA35B4E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3" t="2844" r="10102" b="10789"/>
          <a:stretch>
            <a:fillRect/>
          </a:stretch>
        </p:blipFill>
        <p:spPr>
          <a:xfrm>
            <a:off x="954156" y="407367"/>
            <a:ext cx="7235687" cy="60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8375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Accuracy</a:t>
            </a:r>
            <a:r>
              <a:rPr lang="en-US" dirty="0"/>
              <a:t>, </a:t>
            </a:r>
            <a:r>
              <a:rPr dirty="0"/>
              <a:t>Precision</a:t>
            </a:r>
            <a:r>
              <a:rPr lang="en-US" dirty="0"/>
              <a:t>, </a:t>
            </a:r>
            <a:r>
              <a:rPr dirty="0"/>
              <a:t>Recall</a:t>
            </a:r>
            <a:r>
              <a:rPr lang="en-US" dirty="0"/>
              <a:t>, </a:t>
            </a:r>
            <a:r>
              <a:rPr dirty="0"/>
              <a:t>F1-score</a:t>
            </a:r>
            <a:endParaRPr lang="en-US" dirty="0"/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Accuracy</a:t>
            </a:r>
            <a:r>
              <a:rPr lang="en-US" dirty="0">
                <a:highlight>
                  <a:srgbClr val="FFFF00"/>
                </a:highlight>
              </a:rPr>
              <a:t>:</a:t>
            </a:r>
            <a:r>
              <a:rPr lang="en-US" dirty="0"/>
              <a:t> (TP + TN) / (TP + FP + TN + FN)</a:t>
            </a:r>
          </a:p>
          <a:p>
            <a:pPr lvl="1"/>
            <a:r>
              <a:rPr lang="en-US" b="1" dirty="0"/>
              <a:t>Precision</a:t>
            </a:r>
            <a:r>
              <a:rPr lang="en-US" dirty="0"/>
              <a:t>: TP / (TP + FP)</a:t>
            </a:r>
          </a:p>
          <a:p>
            <a:pPr lvl="1"/>
            <a:r>
              <a:rPr lang="en-US" b="1" dirty="0"/>
              <a:t>Recall (Sensitivity)</a:t>
            </a:r>
            <a:r>
              <a:rPr lang="en-US" dirty="0"/>
              <a:t>: TP / (TP + FN)</a:t>
            </a:r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F1-Score</a:t>
            </a:r>
            <a:r>
              <a:rPr lang="en-US" dirty="0">
                <a:highlight>
                  <a:srgbClr val="FFFF00"/>
                </a:highlight>
              </a:rPr>
              <a:t>:</a:t>
            </a:r>
            <a:r>
              <a:rPr lang="en-US" dirty="0"/>
              <a:t> 2 * (Precision * Recall) / (Precision + Recall)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018B55-E343-43C7-20EB-323177EC2E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491101"/>
              </p:ext>
            </p:extLst>
          </p:nvPr>
        </p:nvGraphicFramePr>
        <p:xfrm>
          <a:off x="774424" y="4001294"/>
          <a:ext cx="7886700" cy="14859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66411">
                  <a:extLst>
                    <a:ext uri="{9D8B030D-6E8A-4147-A177-3AD203B41FA5}">
                      <a16:colId xmlns:a16="http://schemas.microsoft.com/office/drawing/2014/main" val="255942279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41740302"/>
                    </a:ext>
                  </a:extLst>
                </a:gridCol>
                <a:gridCol w="3877089">
                  <a:extLst>
                    <a:ext uri="{9D8B030D-6E8A-4147-A177-3AD203B41FA5}">
                      <a16:colId xmlns:a16="http://schemas.microsoft.com/office/drawing/2014/main" val="22377324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Metric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Rule of Thumb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Notes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3275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Accuracy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&gt; 80% is solid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But misleading if classes are imbalanced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7442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Precision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&gt; 70% is usable; &gt; 90% is 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precision = few false positives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9325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Recall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&gt; 70% is usable; &gt; 90% is 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recall = few false negatives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2840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F1-score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&gt; 75% is good; &gt; 85% is 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Balanced tradeoff between precision and recall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41019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15212-69AD-4220-F249-82E221729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1A4FD-BB67-FFE5-B880-EFDE5DA08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6C1A5-775A-6938-5B7E-4B9B0DF35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Accuracy</a:t>
            </a:r>
            <a:r>
              <a:rPr lang="en-US" dirty="0"/>
              <a:t>, </a:t>
            </a:r>
            <a:r>
              <a:rPr dirty="0"/>
              <a:t>Precision</a:t>
            </a:r>
            <a:r>
              <a:rPr lang="en-US" dirty="0"/>
              <a:t>, </a:t>
            </a:r>
            <a:r>
              <a:rPr dirty="0"/>
              <a:t>Recall</a:t>
            </a:r>
            <a:r>
              <a:rPr lang="en-US" dirty="0"/>
              <a:t>, </a:t>
            </a:r>
            <a:r>
              <a:rPr dirty="0"/>
              <a:t>F1-score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85F146-B9DC-2171-2947-B23FBF033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9" y="2853632"/>
            <a:ext cx="9037021" cy="356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3555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5D056-1A2A-6554-13AE-1C0BF403C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93FCD-48E6-E00F-419A-2B7166634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run 5-fold cross-validation on a sentiment classifier. You get F1-scores of:</a:t>
            </a:r>
          </a:p>
          <a:p>
            <a:pPr lvl="1"/>
            <a:r>
              <a:rPr lang="en-US" dirty="0"/>
              <a:t>Fold 1: 0.74  </a:t>
            </a:r>
          </a:p>
          <a:p>
            <a:pPr lvl="1"/>
            <a:r>
              <a:rPr lang="en-US" dirty="0"/>
              <a:t>Fold 2: 0.77  </a:t>
            </a:r>
          </a:p>
          <a:p>
            <a:pPr lvl="1"/>
            <a:r>
              <a:rPr lang="en-US" dirty="0"/>
              <a:t>Fold 3: 0.76  </a:t>
            </a:r>
          </a:p>
          <a:p>
            <a:pPr lvl="1"/>
            <a:r>
              <a:rPr lang="en-US" dirty="0"/>
              <a:t>Fold 4: 0.75  </a:t>
            </a:r>
          </a:p>
          <a:p>
            <a:pPr lvl="1"/>
            <a:r>
              <a:rPr lang="en-US" dirty="0"/>
              <a:t>Fold 5: 0.73</a:t>
            </a:r>
          </a:p>
          <a:p>
            <a:r>
              <a:rPr lang="en-US" dirty="0"/>
              <a:t>The final reported F1-score is the mean: 0.75</a:t>
            </a:r>
          </a:p>
        </p:txBody>
      </p:sp>
    </p:spTree>
    <p:extLst>
      <p:ext uri="{BB962C8B-B14F-4D97-AF65-F5344CB8AC3E}">
        <p14:creationId xmlns:p14="http://schemas.microsoft.com/office/powerpoint/2010/main" val="23584113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</a:t>
            </a:r>
            <a:r>
              <a:rPr dirty="0"/>
              <a:t>: </a:t>
            </a:r>
            <a:r>
              <a:rPr dirty="0" err="1"/>
              <a:t>Jaidka</a:t>
            </a:r>
            <a:r>
              <a:rPr dirty="0"/>
              <a:t> et al. (2019)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Classify tweets by </a:t>
            </a:r>
            <a:r>
              <a:rPr lang="en-US" dirty="0"/>
              <a:t>communication</a:t>
            </a:r>
            <a:r>
              <a:rPr dirty="0"/>
              <a:t> </a:t>
            </a:r>
            <a:r>
              <a:rPr lang="en-US" dirty="0"/>
              <a:t>variables (e.g., incivility)</a:t>
            </a:r>
            <a:endParaRPr dirty="0"/>
          </a:p>
          <a:p>
            <a:r>
              <a:rPr lang="en-US" dirty="0"/>
              <a:t>Variable from the tweets: </a:t>
            </a:r>
            <a:r>
              <a:rPr dirty="0"/>
              <a:t>length, hashtags, sentiment</a:t>
            </a:r>
            <a:r>
              <a:rPr lang="en-US" dirty="0"/>
              <a:t>, etc.</a:t>
            </a:r>
            <a:endParaRPr dirty="0"/>
          </a:p>
          <a:p>
            <a:r>
              <a:rPr dirty="0"/>
              <a:t>Logistic regression with feature selection</a:t>
            </a:r>
            <a:r>
              <a:rPr lang="en-US" dirty="0"/>
              <a:t> (L1)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43EB0B-1AEB-A7D1-467C-0F5DAEC8C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850" y="3112880"/>
            <a:ext cx="5702300" cy="2832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F1860D-8BD6-F069-D6BC-B86A808AB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850" y="6081713"/>
            <a:ext cx="54483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Case: Seraj et al. (2021)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 breakup distress from text</a:t>
            </a:r>
          </a:p>
          <a:p>
            <a:r>
              <a:rPr dirty="0"/>
              <a:t>Time-series of emotion words pre/post breakup</a:t>
            </a:r>
          </a:p>
          <a:p>
            <a:r>
              <a:rPr dirty="0"/>
              <a:t>High face validity + useful visualization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AC5E13-39C0-4A07-C3D0-6FE374A9F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562" y="2980934"/>
            <a:ext cx="4800876" cy="377657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Optional: Zero-Shot + Pretrained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If you don’t have labeled data… GPT, BERT, etc.</a:t>
            </a:r>
          </a:p>
          <a:p>
            <a:r>
              <a:rPr dirty="0"/>
              <a:t>Not for today, </a:t>
            </a:r>
            <a:r>
              <a:rPr lang="en-US" dirty="0"/>
              <a:t>we will talk about GPT and LLM later</a:t>
            </a:r>
            <a:endParaRPr dirty="0"/>
          </a:p>
          <a:p>
            <a:r>
              <a:rPr dirty="0"/>
              <a:t>Caveats: hallucination, black box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32375"/>
          </a:xfrm>
        </p:spPr>
        <p:txBody>
          <a:bodyPr>
            <a:normAutofit/>
          </a:bodyPr>
          <a:lstStyle/>
          <a:p>
            <a:r>
              <a:rPr lang="en-US" dirty="0"/>
              <a:t>LIWC</a:t>
            </a:r>
          </a:p>
          <a:p>
            <a:r>
              <a:rPr lang="en-US" dirty="0"/>
              <a:t>Sentiment</a:t>
            </a:r>
          </a:p>
          <a:p>
            <a:r>
              <a:rPr lang="en-US" dirty="0"/>
              <a:t>Train some classifiers</a:t>
            </a:r>
          </a:p>
          <a:p>
            <a:endParaRPr lang="en-US" b="1" dirty="0"/>
          </a:p>
          <a:p>
            <a:r>
              <a:rPr lang="en-US" b="1" dirty="0"/>
              <a:t>Google Perspective</a:t>
            </a:r>
          </a:p>
          <a:p>
            <a:pPr lvl="1"/>
            <a:r>
              <a:rPr lang="en-US" dirty="0"/>
              <a:t>Go to https://</a:t>
            </a:r>
            <a:r>
              <a:rPr lang="en-US" dirty="0" err="1"/>
              <a:t>www.perspectiveapi.com</a:t>
            </a:r>
            <a:r>
              <a:rPr lang="en-US" dirty="0"/>
              <a:t>/</a:t>
            </a:r>
          </a:p>
          <a:p>
            <a:pPr lvl="1"/>
            <a:r>
              <a:rPr lang="en-US" dirty="0"/>
              <a:t>Apply for the API</a:t>
            </a:r>
          </a:p>
          <a:p>
            <a:pPr lvl="1"/>
            <a:r>
              <a:rPr lang="en-US" dirty="0"/>
              <a:t>It takes a few hours to get this API access</a:t>
            </a:r>
          </a:p>
          <a:p>
            <a:pPr lvl="1"/>
            <a:r>
              <a:rPr lang="en-US" dirty="0"/>
              <a:t>We will use it in the next lab</a:t>
            </a:r>
          </a:p>
          <a:p>
            <a:endParaRPr lang="en-US" dirty="0"/>
          </a:p>
          <a:p>
            <a:r>
              <a:rPr lang="en-US" dirty="0"/>
              <a:t>Tomorrow’s Presentation</a:t>
            </a:r>
          </a:p>
          <a:p>
            <a:pPr lvl="1"/>
            <a:r>
              <a:rPr lang="en-US" dirty="0" err="1"/>
              <a:t>Jialu</a:t>
            </a:r>
            <a:r>
              <a:rPr lang="en-US" dirty="0"/>
              <a:t> Fan</a:t>
            </a:r>
          </a:p>
          <a:p>
            <a:pPr lvl="1"/>
            <a:r>
              <a:rPr lang="en-US" dirty="0"/>
              <a:t>Jiacheng Huang</a:t>
            </a:r>
          </a:p>
          <a:p>
            <a:pPr lvl="1"/>
            <a:r>
              <a:rPr lang="en-US"/>
              <a:t>Michael Ofori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425</TotalTime>
  <Words>2732</Words>
  <Application>Microsoft Macintosh PowerPoint</Application>
  <PresentationFormat>On-screen Show (4:3)</PresentationFormat>
  <Paragraphs>360</Paragraphs>
  <Slides>40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Aptos</vt:lpstr>
      <vt:lpstr>Aptos Display</vt:lpstr>
      <vt:lpstr>Arial</vt:lpstr>
      <vt:lpstr>Office Theme</vt:lpstr>
      <vt:lpstr>Day 2 – Text (Basic)</vt:lpstr>
      <vt:lpstr>Group</vt:lpstr>
      <vt:lpstr>Learning Goals</vt:lpstr>
      <vt:lpstr>Why Text? Why Now?</vt:lpstr>
      <vt:lpstr>Text as Data: Challenges</vt:lpstr>
      <vt:lpstr>Foundational Workflow - Tokenization</vt:lpstr>
      <vt:lpstr>Text Preprocessing 101</vt:lpstr>
      <vt:lpstr>n-Grams</vt:lpstr>
      <vt:lpstr>From Text to Matrix</vt:lpstr>
      <vt:lpstr>TF-IDF</vt:lpstr>
      <vt:lpstr>TF-IDF vs. Word Embeddings</vt:lpstr>
      <vt:lpstr>Word Embeddings</vt:lpstr>
      <vt:lpstr>PowerPoint Presentation</vt:lpstr>
      <vt:lpstr>Word Embeddings</vt:lpstr>
      <vt:lpstr>Dictionary-Based Methods</vt:lpstr>
      <vt:lpstr>Case: LIWC</vt:lpstr>
      <vt:lpstr>Case: LIWC</vt:lpstr>
      <vt:lpstr>Case: LIWC</vt:lpstr>
      <vt:lpstr>Case: Moral Foundations Theory</vt:lpstr>
      <vt:lpstr>Presentation: Wang &amp; Inbar (2021)</vt:lpstr>
      <vt:lpstr>Case: Different Dictionaries</vt:lpstr>
      <vt:lpstr>Limitations of Dictionaries</vt:lpstr>
      <vt:lpstr>Supervised Machine Learning</vt:lpstr>
      <vt:lpstr>Presentation: Barberá et al. (2021)</vt:lpstr>
      <vt:lpstr>PowerPoint Presentation</vt:lpstr>
      <vt:lpstr>Logistic Regression</vt:lpstr>
      <vt:lpstr>SVM</vt:lpstr>
      <vt:lpstr>Tree-Based Models</vt:lpstr>
      <vt:lpstr>Tree-Based Models</vt:lpstr>
      <vt:lpstr>Neural Networks</vt:lpstr>
      <vt:lpstr>Neural Networks</vt:lpstr>
      <vt:lpstr>How we evaluate model</vt:lpstr>
      <vt:lpstr>PowerPoint Presentation</vt:lpstr>
      <vt:lpstr>Evaluation Metrics</vt:lpstr>
      <vt:lpstr>Evaluation Metrics</vt:lpstr>
      <vt:lpstr>Evaluation Metrics</vt:lpstr>
      <vt:lpstr>Presentation: Jaidka et al. (2019)</vt:lpstr>
      <vt:lpstr>Case: Seraj et al. (2021)</vt:lpstr>
      <vt:lpstr>Optional: Zero-Shot + Pretrained Models</vt:lpstr>
      <vt:lpstr>Lab Preview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Alvin Zhou</cp:lastModifiedBy>
  <cp:revision>180</cp:revision>
  <cp:lastPrinted>2025-05-21T05:58:57Z</cp:lastPrinted>
  <dcterms:created xsi:type="dcterms:W3CDTF">2013-01-27T09:14:16Z</dcterms:created>
  <dcterms:modified xsi:type="dcterms:W3CDTF">2025-06-03T19:36:01Z</dcterms:modified>
  <cp:category/>
</cp:coreProperties>
</file>