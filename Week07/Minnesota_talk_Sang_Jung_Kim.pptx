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7" r:id="rId9"/>
    <p:sldId id="265" r:id="rId10"/>
    <p:sldId id="266" r:id="rId11"/>
    <p:sldId id="268" r:id="rId12"/>
    <p:sldId id="271" r:id="rId13"/>
    <p:sldId id="280" r:id="rId14"/>
    <p:sldId id="272" r:id="rId15"/>
    <p:sldId id="277" r:id="rId16"/>
    <p:sldId id="276" r:id="rId17"/>
    <p:sldId id="278" r:id="rId18"/>
    <p:sldId id="279" r:id="rId19"/>
    <p:sldId id="281" r:id="rId20"/>
    <p:sldId id="290" r:id="rId21"/>
    <p:sldId id="282" r:id="rId22"/>
    <p:sldId id="283" r:id="rId23"/>
    <p:sldId id="284" r:id="rId24"/>
    <p:sldId id="288" r:id="rId25"/>
    <p:sldId id="286" r:id="rId26"/>
    <p:sldId id="285" r:id="rId27"/>
    <p:sldId id="287" r:id="rId28"/>
    <p:sldId id="289" r:id="rId29"/>
    <p:sldId id="292" r:id="rId30"/>
    <p:sldId id="293" r:id="rId31"/>
    <p:sldId id="294" r:id="rId32"/>
    <p:sldId id="297" r:id="rId33"/>
    <p:sldId id="291" r:id="rId34"/>
    <p:sldId id="295" r:id="rId35"/>
    <p:sldId id="296" r:id="rId36"/>
    <p:sldId id="298" r:id="rId37"/>
    <p:sldId id="299" r:id="rId38"/>
    <p:sldId id="300" r:id="rId39"/>
    <p:sldId id="301" r:id="rId40"/>
    <p:sldId id="302" r:id="rId41"/>
    <p:sldId id="308" r:id="rId42"/>
    <p:sldId id="310" r:id="rId43"/>
    <p:sldId id="306" r:id="rId44"/>
    <p:sldId id="311" r:id="rId45"/>
    <p:sldId id="309" r:id="rId46"/>
    <p:sldId id="312" r:id="rId47"/>
    <p:sldId id="313" r:id="rId48"/>
    <p:sldId id="314" r:id="rId49"/>
    <p:sldId id="315" r:id="rId50"/>
    <p:sldId id="355" r:id="rId51"/>
    <p:sldId id="317" r:id="rId52"/>
    <p:sldId id="320" r:id="rId53"/>
    <p:sldId id="322" r:id="rId54"/>
    <p:sldId id="323" r:id="rId55"/>
    <p:sldId id="316" r:id="rId56"/>
    <p:sldId id="318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03" r:id="rId70"/>
    <p:sldId id="339" r:id="rId71"/>
    <p:sldId id="338" r:id="rId72"/>
    <p:sldId id="341" r:id="rId73"/>
    <p:sldId id="342" r:id="rId74"/>
    <p:sldId id="343" r:id="rId75"/>
    <p:sldId id="344" r:id="rId76"/>
    <p:sldId id="345" r:id="rId77"/>
    <p:sldId id="353" r:id="rId78"/>
    <p:sldId id="347" r:id="rId79"/>
    <p:sldId id="348" r:id="rId80"/>
    <p:sldId id="349" r:id="rId81"/>
    <p:sldId id="350" r:id="rId82"/>
    <p:sldId id="351" r:id="rId83"/>
    <p:sldId id="354" r:id="rId84"/>
    <p:sldId id="352" r:id="rId85"/>
    <p:sldId id="346" r:id="rId86"/>
    <p:sldId id="357" r:id="rId87"/>
    <p:sldId id="356" r:id="rId88"/>
    <p:sldId id="360" r:id="rId89"/>
    <p:sldId id="362" r:id="rId90"/>
    <p:sldId id="359" r:id="rId91"/>
    <p:sldId id="358" r:id="rId92"/>
    <p:sldId id="364" r:id="rId93"/>
    <p:sldId id="361" r:id="rId94"/>
    <p:sldId id="363" r:id="rId95"/>
    <p:sldId id="366" r:id="rId96"/>
    <p:sldId id="365" r:id="rId9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4421"/>
    <a:srgbClr val="A24C26"/>
    <a:srgbClr val="BD5A2E"/>
    <a:srgbClr val="005E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94"/>
  </p:normalViewPr>
  <p:slideViewPr>
    <p:cSldViewPr snapToGrid="0">
      <p:cViewPr varScale="1">
        <p:scale>
          <a:sx n="110" d="100"/>
          <a:sy n="110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E74C-422D-8708-E20B-633DFB4E9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79377-DBB9-6D00-9853-AA4DC007F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30BF4-CF15-1C2C-B34B-8D3AAEF5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EBEEA-33DA-06B1-CA5C-03D474216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E23F5-ED6B-DF6F-ACB2-AE3C131C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1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69136-48B3-4FEB-1396-EAACF427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EEB7-9B0C-00D0-957D-7CA4725B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198D2-0722-3B05-F1E8-E1EAB81B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4CAD7-3581-74C9-684A-51AD820D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AE9BD-C42E-FB2B-CEBE-34E4273B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2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AE69-2694-461F-D904-EB994C30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678BD-F4E4-87C9-55A1-4D2B3E916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0544C-E6C8-8F5D-FFE7-AFA9043D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AF24B-4DBA-C160-3972-7BEB9203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E90FE-1D1C-F5CF-04DE-89543F20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3CF4-EAA6-5B40-5B48-C2A838C4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E5697-9384-CB32-ACE7-C6BC85D3A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7A25-D8F3-79D6-F261-A7BC07CB7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8D2C2-CCD8-CB76-AC3C-E53CF58A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404F9-2BF4-8497-0001-B55A6CB8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6E295-5384-A3CE-C871-6BF14BB4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72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4849-C76D-8E4B-B070-98E968EA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3E1DC-B6BF-F695-6F22-D7ED90A39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12F3B-5E80-5427-2768-5AF479B5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7B1F9-AF56-D14C-89DF-2565F08C9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802E5-BB0D-A1EE-D01B-3E68FB6AF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2D0A7-B227-1037-DC3C-3D9CA291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F579D-ADE7-78D5-0C35-66D40198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F7B47-3F00-1AB2-E284-BEF2B304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1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4D80-CAB0-9FF3-C000-7AC3004C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146DB-7A10-66C9-9FB0-89D35E91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1F5A8-A476-E72D-A98F-ED507DDA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9B966-9E1D-9CF9-8E8B-360EF82F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2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9AE0E-DA59-5779-6CEF-B7937B86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1A07A-5719-8380-CC45-AA8E04B2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303FA-2BC7-86B9-9B78-5BFB15F7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2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CEE0-5AD7-32D0-0DF7-C340739E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D200A-8918-A11E-9BA1-24E31FFC5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D694-4C7E-EA06-4960-2F5E070E8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420D5-61FC-B124-D1F7-99FCA45B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CA9D-DF69-F726-23A0-07071C4F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CB79C-0473-7921-4E65-A9837E76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0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0297-E275-5506-6F6D-988A7FA7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29691-8769-82B4-2FF6-3E981D7D4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EB107-23C3-EAB3-690D-C46DACBE6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81E04-B17D-7C09-CFC6-87C56538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F72B9-744E-C73F-40BD-E0B0FF3C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B7A60-3E5E-715A-056D-58FEDE3B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0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8264-CBA5-C681-7769-C3C490B5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F2570-2C13-FDBD-C367-C01510FFD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EF1B4-C3F5-9ECE-DE15-589FCD79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24F8C-4745-B612-6187-2CA7E2BF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D9281-F4E6-5792-3A13-EC3625B9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1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3ED6E7-D210-FF20-6FFE-043CDBF27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714D9-32A4-455A-5CB7-ABB9679F3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6FD2E-7BBA-A564-725E-AC4B91AC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82B8F-5779-EFE1-369C-8CC2AF47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6E59A-79CC-7563-A0E9-316F8F7C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21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2C826-8D19-0C7A-78D2-DF633D094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5084A-402A-B61F-AD7C-EEB51CD92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9C6E4-43C2-0831-5000-AE2518125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E5896-BB68-814C-8BE7-C0543699814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DD302-DDB2-A856-CCA6-78B136EDD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6AB6-A2D1-1ABC-9B76-BEC968864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61406-FDEF-4D40-8572-61ECCD3E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6FAD-0EC6-48EB-D929-F1B876E6C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789" y="1088572"/>
            <a:ext cx="10850495" cy="348510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Visual framing at scale:</a:t>
            </a:r>
            <a:br>
              <a:rPr lang="en-US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</a:br>
            <a:br>
              <a:rPr lang="en-US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</a:br>
            <a:r>
              <a:rPr lang="en-US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 </a:t>
            </a:r>
            <a:r>
              <a:rPr lang="en-US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theory-driven</a:t>
            </a:r>
            <a:r>
              <a:rPr lang="en-US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computational framework for analyzing imagery with generative AI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207534-2A9F-6526-7033-0AC3A1309E1E}"/>
              </a:ext>
            </a:extLst>
          </p:cNvPr>
          <p:cNvSpPr txBox="1">
            <a:spLocks/>
          </p:cNvSpPr>
          <p:nvPr/>
        </p:nvSpPr>
        <p:spPr>
          <a:xfrm>
            <a:off x="7086600" y="5867399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Sang Jung Kim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A9C09-79EA-A074-E612-81A2894EDE5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 </a:t>
            </a:r>
          </a:p>
        </p:txBody>
      </p:sp>
    </p:spTree>
    <p:extLst>
      <p:ext uri="{BB962C8B-B14F-4D97-AF65-F5344CB8AC3E}">
        <p14:creationId xmlns:p14="http://schemas.microsoft.com/office/powerpoint/2010/main" val="3999958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4750-66D5-D3D1-67BD-9691C613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92378C-C131-8355-16F9-83FD35CD02F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074B45E-DD3E-A521-CCC6-BD83B46E43CC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C05533DF-BCA0-502B-0847-15246E7B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C6033B0-961E-434B-967B-FB2E1FBB3179}"/>
              </a:ext>
            </a:extLst>
          </p:cNvPr>
          <p:cNvSpPr txBox="1">
            <a:spLocks/>
          </p:cNvSpPr>
          <p:nvPr/>
        </p:nvSpPr>
        <p:spPr>
          <a:xfrm>
            <a:off x="3378301" y="166624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3077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6CC28-B162-D46D-6BB4-7F7F6EF0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BBF20A-7C0F-746F-7598-D2DACE906309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CE5015A-C3E8-A48A-909A-7377A6EEC2E6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9981D0F-F7AF-CF36-0F06-BA79AD504FCE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F95DC827-662C-B88A-7781-72DBB4A9E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97282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BD7D-673B-1AC1-0D30-5CA087E1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9AAD53-4DEB-1EA4-9212-F8CA7106B91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F50A7882-A96C-8AC3-9F9C-2F10FC25130B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0C5715D-8239-F383-834B-CCEDD993FCEB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6416C821-74C6-975B-5C79-6759C996D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BD173-166E-4BC6-BA94-F060B215212F}"/>
              </a:ext>
            </a:extLst>
          </p:cNvPr>
          <p:cNvSpPr txBox="1">
            <a:spLocks/>
          </p:cNvSpPr>
          <p:nvPr/>
        </p:nvSpPr>
        <p:spPr>
          <a:xfrm>
            <a:off x="1802293" y="5232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357522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C2CC2-91CA-6FF7-40C1-ECE0162B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970D61F-808E-BF50-110F-88660C15CAE6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CCF8232-B7A6-02B1-0933-FD954ED86B62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EE96B6-D9C5-2E39-F858-B68557451807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FC78F613-9CB4-EEC2-9128-C5656EF0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4A1241-777C-8CE0-8362-2826938F098E}"/>
              </a:ext>
            </a:extLst>
          </p:cNvPr>
          <p:cNvSpPr txBox="1">
            <a:spLocks/>
          </p:cNvSpPr>
          <p:nvPr/>
        </p:nvSpPr>
        <p:spPr>
          <a:xfrm>
            <a:off x="1802293" y="5232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</a:t>
            </a:r>
          </a:p>
        </p:txBody>
      </p:sp>
      <p:pic>
        <p:nvPicPr>
          <p:cNvPr id="3076" name="Picture 4" descr="Social media - Wikipedia">
            <a:extLst>
              <a:ext uri="{FF2B5EF4-FFF2-40B4-BE49-F238E27FC236}">
                <a16:creationId xmlns:a16="http://schemas.microsoft.com/office/drawing/2014/main" id="{BA840395-7581-DC40-E5C5-AE3CBAA9D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03" y="1882588"/>
            <a:ext cx="3524101" cy="216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14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E048-F893-99C2-917C-FFA34789F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D691B4-4977-0ABE-CD8E-8B4A472C26B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2622A9B-F4C9-7940-1F0F-DE902CBCDC3C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6C365DC-8F94-C9D9-2FD7-A51B7EC83492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8FD2A4B8-2464-7502-4ECB-EC7BAD3EB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932924-650F-16D4-4F40-534A34102400}"/>
              </a:ext>
            </a:extLst>
          </p:cNvPr>
          <p:cNvSpPr txBox="1">
            <a:spLocks/>
          </p:cNvSpPr>
          <p:nvPr/>
        </p:nvSpPr>
        <p:spPr>
          <a:xfrm>
            <a:off x="1802293" y="5232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</a:t>
            </a:r>
          </a:p>
        </p:txBody>
      </p:sp>
      <p:pic>
        <p:nvPicPr>
          <p:cNvPr id="3080" name="Picture 8" descr="Best AI Chatbot for Engineering Students? : r/EngineeringStudents">
            <a:extLst>
              <a:ext uri="{FF2B5EF4-FFF2-40B4-BE49-F238E27FC236}">
                <a16:creationId xmlns:a16="http://schemas.microsoft.com/office/drawing/2014/main" id="{2276DDD2-A8DD-C919-4FD1-F066CE694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911" y="2047240"/>
            <a:ext cx="4119097" cy="179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ocial media - Wikipedia">
            <a:extLst>
              <a:ext uri="{FF2B5EF4-FFF2-40B4-BE49-F238E27FC236}">
                <a16:creationId xmlns:a16="http://schemas.microsoft.com/office/drawing/2014/main" id="{FF1B8BF7-BC79-4063-65F6-65176151B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03" y="1882588"/>
            <a:ext cx="3524101" cy="216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11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E1B0-4998-17C9-6F42-7546C48F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623BD8-A614-634E-36ED-734B3A6B546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17BC449F-1FB5-90C7-9024-81AA3BE851AA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5F4EC1-6286-FF4F-DEBF-71B2318A27F3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4014DE2B-F069-77C1-988B-1C1D68B04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8CD6B5-0BF3-2A27-8D13-E65271AD8FC9}"/>
              </a:ext>
            </a:extLst>
          </p:cNvPr>
          <p:cNvSpPr txBox="1">
            <a:spLocks/>
          </p:cNvSpPr>
          <p:nvPr/>
        </p:nvSpPr>
        <p:spPr>
          <a:xfrm>
            <a:off x="2703706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373122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E226-8292-9055-8BF2-59CACE20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935D7E-DC88-8224-4931-49D0B1B913E5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17E23640-D520-8153-0E03-ADB5EAB345D5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C87B84-CD9F-E6C4-C63A-EFED06C0AE58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566617FD-7A61-5E70-FC5C-DC4ADEACA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pic>
        <p:nvPicPr>
          <p:cNvPr id="6148" name="Picture 4" descr="Political Communications Guide | Make ...">
            <a:extLst>
              <a:ext uri="{FF2B5EF4-FFF2-40B4-BE49-F238E27FC236}">
                <a16:creationId xmlns:a16="http://schemas.microsoft.com/office/drawing/2014/main" id="{0729C430-506C-1136-E497-7232E4B07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6" r="29587"/>
          <a:stretch>
            <a:fillRect/>
          </a:stretch>
        </p:blipFill>
        <p:spPr bwMode="auto">
          <a:xfrm>
            <a:off x="7811657" y="2151221"/>
            <a:ext cx="1916371" cy="12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D6D93B-3983-364D-9DC4-3390C96B9AB8}"/>
              </a:ext>
            </a:extLst>
          </p:cNvPr>
          <p:cNvSpPr txBox="1">
            <a:spLocks/>
          </p:cNvSpPr>
          <p:nvPr/>
        </p:nvSpPr>
        <p:spPr>
          <a:xfrm>
            <a:off x="2703706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402862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2E34-BFE2-E0FE-0621-AF9AD819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6849DE-AD72-4CFC-712F-81856EF16A3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50298224-D704-8742-4CCF-E4D4B581E225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ABE0FBA-3106-06A6-F127-CDCB6ACE0286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552015FC-EF94-9B9E-9FB2-6CBA8481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pic>
        <p:nvPicPr>
          <p:cNvPr id="6148" name="Picture 4" descr="Political Communications Guide | Make ...">
            <a:extLst>
              <a:ext uri="{FF2B5EF4-FFF2-40B4-BE49-F238E27FC236}">
                <a16:creationId xmlns:a16="http://schemas.microsoft.com/office/drawing/2014/main" id="{4BD46F9C-1DD9-187E-6A6D-81D5ED266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6" r="29587"/>
          <a:stretch>
            <a:fillRect/>
          </a:stretch>
        </p:blipFill>
        <p:spPr bwMode="auto">
          <a:xfrm>
            <a:off x="7811657" y="2151221"/>
            <a:ext cx="1916371" cy="12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Medical Career Programs - IntelliTec">
            <a:extLst>
              <a:ext uri="{FF2B5EF4-FFF2-40B4-BE49-F238E27FC236}">
                <a16:creationId xmlns:a16="http://schemas.microsoft.com/office/drawing/2014/main" id="{467C7D34-E286-2C0F-8FE8-E12BFFFDC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927" y="2151222"/>
            <a:ext cx="1916371" cy="127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B931A6-AB8D-5FE3-B0F4-DDBB49963AD2}"/>
              </a:ext>
            </a:extLst>
          </p:cNvPr>
          <p:cNvSpPr txBox="1">
            <a:spLocks/>
          </p:cNvSpPr>
          <p:nvPr/>
        </p:nvSpPr>
        <p:spPr>
          <a:xfrm>
            <a:off x="2703706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287247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DA68-CB72-7316-6DA1-5E54F98D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44AB05-B66D-31F4-CFCC-E1C36266B86F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10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6744ACC-2866-8A33-BB48-516C225D08D3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2FC7EC-5010-A1AD-2DC5-51F1F1631F8F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BCA128DC-BF41-2BF6-232B-C3547495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pic>
        <p:nvPicPr>
          <p:cNvPr id="6148" name="Picture 4" descr="Political Communications Guide | Make ...">
            <a:extLst>
              <a:ext uri="{FF2B5EF4-FFF2-40B4-BE49-F238E27FC236}">
                <a16:creationId xmlns:a16="http://schemas.microsoft.com/office/drawing/2014/main" id="{1756609E-87BA-E993-7CD2-631AC71163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6" r="29587"/>
          <a:stretch>
            <a:fillRect/>
          </a:stretch>
        </p:blipFill>
        <p:spPr bwMode="auto">
          <a:xfrm>
            <a:off x="7811657" y="2151221"/>
            <a:ext cx="1916371" cy="12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Medical Career Programs - IntelliTec">
            <a:extLst>
              <a:ext uri="{FF2B5EF4-FFF2-40B4-BE49-F238E27FC236}">
                <a16:creationId xmlns:a16="http://schemas.microsoft.com/office/drawing/2014/main" id="{7CA85860-DC58-E4FD-9850-2CC1692CA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927" y="2151222"/>
            <a:ext cx="1916371" cy="127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Breaking News! - Pierce County Executive">
            <a:extLst>
              <a:ext uri="{FF2B5EF4-FFF2-40B4-BE49-F238E27FC236}">
                <a16:creationId xmlns:a16="http://schemas.microsoft.com/office/drawing/2014/main" id="{F35ECE14-AECE-DD20-D566-0CB62C7E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760" y="3554095"/>
            <a:ext cx="2511369" cy="140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5102B8-78A5-DA74-D8D3-C7508B16C391}"/>
              </a:ext>
            </a:extLst>
          </p:cNvPr>
          <p:cNvSpPr txBox="1">
            <a:spLocks/>
          </p:cNvSpPr>
          <p:nvPr/>
        </p:nvSpPr>
        <p:spPr>
          <a:xfrm>
            <a:off x="2703706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2056046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337A-C406-94D8-F272-B6BD1CD5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41D71F-D487-B1F4-00A2-7548A52AFE96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11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886C5FA-02DC-C01E-34B7-865EF69AB52E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802EA66-7F5A-72D1-DD10-0277E38402EF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76DCABBF-4469-9932-B4FA-56978BF7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CAD6AC-C8DB-6F4A-C4F3-088700F3EB82}"/>
              </a:ext>
            </a:extLst>
          </p:cNvPr>
          <p:cNvSpPr txBox="1">
            <a:spLocks/>
          </p:cNvSpPr>
          <p:nvPr/>
        </p:nvSpPr>
        <p:spPr>
          <a:xfrm>
            <a:off x="-1425001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</a:t>
            </a:r>
          </a:p>
        </p:txBody>
      </p:sp>
    </p:spTree>
    <p:extLst>
      <p:ext uri="{BB962C8B-B14F-4D97-AF65-F5344CB8AC3E}">
        <p14:creationId xmlns:p14="http://schemas.microsoft.com/office/powerpoint/2010/main" val="141765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1440-ADEF-5316-C9DE-806362601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F4EB57-4306-6529-3DA7-2B16EA25B06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12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86357FFC-A645-EDD0-30FF-8B45EB0BB0D8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A9C19E-677C-EE37-1CA7-582188C580C3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439FC5F6-37FA-D88F-A216-7ED4C027B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085D6A-5EB1-3B37-A3BD-680E22F9BA5D}"/>
              </a:ext>
            </a:extLst>
          </p:cNvPr>
          <p:cNvSpPr txBox="1">
            <a:spLocks/>
          </p:cNvSpPr>
          <p:nvPr/>
        </p:nvSpPr>
        <p:spPr>
          <a:xfrm>
            <a:off x="-1425001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</a:t>
            </a:r>
          </a:p>
        </p:txBody>
      </p:sp>
      <p:pic>
        <p:nvPicPr>
          <p:cNvPr id="15370" name="Picture 10" descr="Anger at Google image search 'peace ...">
            <a:extLst>
              <a:ext uri="{FF2B5EF4-FFF2-40B4-BE49-F238E27FC236}">
                <a16:creationId xmlns:a16="http://schemas.microsoft.com/office/drawing/2014/main" id="{0A254FA0-5A1F-0004-1DF3-6884994BB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55" y="2716139"/>
            <a:ext cx="2457289" cy="137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8" name="Picture 2" descr="text document file line icon vector ...">
            <a:extLst>
              <a:ext uri="{FF2B5EF4-FFF2-40B4-BE49-F238E27FC236}">
                <a16:creationId xmlns:a16="http://schemas.microsoft.com/office/drawing/2014/main" id="{55605192-0F49-1D04-F762-BB60E8AF6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427" y="2716139"/>
            <a:ext cx="1376082" cy="137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47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B88F5-534F-63BC-F881-892953E6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59D229-2061-B8F7-48B6-E8E1A0E96CB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13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14FD372-9778-154E-70E4-17598021D491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BFC7DA3-2F3C-8395-B7F6-9EBDD75CAFD9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9141A77B-0E8F-F59C-F9F9-896D8F089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3DED73-75C8-23ED-A585-3FCADF78A7CD}"/>
              </a:ext>
            </a:extLst>
          </p:cNvPr>
          <p:cNvSpPr txBox="1">
            <a:spLocks/>
          </p:cNvSpPr>
          <p:nvPr/>
        </p:nvSpPr>
        <p:spPr>
          <a:xfrm>
            <a:off x="-1425001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</a:t>
            </a:r>
          </a:p>
        </p:txBody>
      </p:sp>
      <p:pic>
        <p:nvPicPr>
          <p:cNvPr id="15370" name="Picture 10" descr="Anger at Google image search 'peace ...">
            <a:extLst>
              <a:ext uri="{FF2B5EF4-FFF2-40B4-BE49-F238E27FC236}">
                <a16:creationId xmlns:a16="http://schemas.microsoft.com/office/drawing/2014/main" id="{6E4419D7-A6E9-36B2-B817-8DF4CF55D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55" y="2716139"/>
            <a:ext cx="2457289" cy="137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8" name="Picture 2" descr="text document file line icon vector ...">
            <a:extLst>
              <a:ext uri="{FF2B5EF4-FFF2-40B4-BE49-F238E27FC236}">
                <a16:creationId xmlns:a16="http://schemas.microsoft.com/office/drawing/2014/main" id="{967440C8-167D-9357-276B-4080E980F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427" y="2716139"/>
            <a:ext cx="1376082" cy="137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ommunications Conundrum? Try Video - 401k Plan Optimization, Compliance,  Investment &amp; Partners">
            <a:extLst>
              <a:ext uri="{FF2B5EF4-FFF2-40B4-BE49-F238E27FC236}">
                <a16:creationId xmlns:a16="http://schemas.microsoft.com/office/drawing/2014/main" id="{5892118B-7676-B397-6FAD-64440A93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67" y="4196678"/>
            <a:ext cx="2544064" cy="137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245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41CB3-BBCB-10BB-F361-2EC1A1FF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780599-ACB8-36EF-AF04-47215249D79D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14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CB011A90-8204-1243-FF93-3400035621FB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58FEC30-D94B-7606-DFF5-B64D30FCE639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7FCD6AC2-807F-6DFB-8260-A8F50BA23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CE197F-2716-CF93-AADF-36DDB9998DD8}"/>
              </a:ext>
            </a:extLst>
          </p:cNvPr>
          <p:cNvSpPr txBox="1">
            <a:spLocks/>
          </p:cNvSpPr>
          <p:nvPr/>
        </p:nvSpPr>
        <p:spPr>
          <a:xfrm>
            <a:off x="-1425001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EE2BCD-B2D2-4B65-CF88-0B653DA3FA8B}"/>
              </a:ext>
            </a:extLst>
          </p:cNvPr>
          <p:cNvSpPr txBox="1">
            <a:spLocks/>
          </p:cNvSpPr>
          <p:nvPr/>
        </p:nvSpPr>
        <p:spPr>
          <a:xfrm>
            <a:off x="2703706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EB466C-58FC-B390-E095-2F43315A2E00}"/>
              </a:ext>
            </a:extLst>
          </p:cNvPr>
          <p:cNvSpPr txBox="1">
            <a:spLocks/>
          </p:cNvSpPr>
          <p:nvPr/>
        </p:nvSpPr>
        <p:spPr>
          <a:xfrm>
            <a:off x="1802293" y="5232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1286273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51EA-737D-AD15-2AA1-1A662C93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7B4AF5-E23D-E4D6-AFC0-C2A7BCCA6C2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15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F8D021-184E-7FB5-2F13-31CB8A1DBDDF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C503DB-5932-7C58-BDEB-9C5F6DCB882F}"/>
              </a:ext>
            </a:extLst>
          </p:cNvPr>
          <p:cNvSpPr txBox="1">
            <a:spLocks/>
          </p:cNvSpPr>
          <p:nvPr/>
        </p:nvSpPr>
        <p:spPr>
          <a:xfrm>
            <a:off x="-442536" y="3048000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Theoretical Question</a:t>
            </a:r>
          </a:p>
        </p:txBody>
      </p:sp>
    </p:spTree>
    <p:extLst>
      <p:ext uri="{BB962C8B-B14F-4D97-AF65-F5344CB8AC3E}">
        <p14:creationId xmlns:p14="http://schemas.microsoft.com/office/powerpoint/2010/main" val="4128353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19F99-9716-AA4D-659F-13F2A7F9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263D41-E7CC-1139-E2A3-232F61B5626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16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056F1B-87EC-AB75-5C14-3E6CA4E04300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43C2A8-DC5B-3944-D9BC-6CBF5C99F538}"/>
              </a:ext>
            </a:extLst>
          </p:cNvPr>
          <p:cNvSpPr txBox="1">
            <a:spLocks/>
          </p:cNvSpPr>
          <p:nvPr/>
        </p:nvSpPr>
        <p:spPr>
          <a:xfrm>
            <a:off x="1802293" y="5232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Theoretical Question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AF2F97-DCFF-EB6D-0FBC-1582174489F9}"/>
              </a:ext>
            </a:extLst>
          </p:cNvPr>
          <p:cNvSpPr txBox="1">
            <a:spLocks/>
          </p:cNvSpPr>
          <p:nvPr/>
        </p:nvSpPr>
        <p:spPr>
          <a:xfrm>
            <a:off x="208623" y="3959114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How do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reshape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</a:t>
            </a:r>
            <a:r>
              <a:rPr lang="en-US" sz="5400" b="1" dirty="0">
                <a:solidFill>
                  <a:srgbClr val="0070C0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flows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through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</a:t>
            </a:r>
            <a:r>
              <a:rPr lang="en-US" sz="5400" b="1" dirty="0">
                <a:solidFill>
                  <a:srgbClr val="0070C0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communication?</a:t>
            </a:r>
          </a:p>
        </p:txBody>
      </p:sp>
    </p:spTree>
    <p:extLst>
      <p:ext uri="{BB962C8B-B14F-4D97-AF65-F5344CB8AC3E}">
        <p14:creationId xmlns:p14="http://schemas.microsoft.com/office/powerpoint/2010/main" val="3925030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E84B-DDD5-785D-74DB-1DFB65F8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C5C5EA-E432-869B-0D84-AF55551A93C0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17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F4D83B-3B0C-04B0-C4E5-B4E298B35F21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845620-3A63-33BF-17FE-BDAC36DF8B23}"/>
              </a:ext>
            </a:extLst>
          </p:cNvPr>
          <p:cNvSpPr txBox="1">
            <a:spLocks/>
          </p:cNvSpPr>
          <p:nvPr/>
        </p:nvSpPr>
        <p:spPr>
          <a:xfrm>
            <a:off x="-442536" y="3048000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Methodological Question</a:t>
            </a:r>
          </a:p>
        </p:txBody>
      </p:sp>
    </p:spTree>
    <p:extLst>
      <p:ext uri="{BB962C8B-B14F-4D97-AF65-F5344CB8AC3E}">
        <p14:creationId xmlns:p14="http://schemas.microsoft.com/office/powerpoint/2010/main" val="1894509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3241-4B0E-C144-E53E-609AC751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0C2B6E-827C-C8A0-98ED-811DBA730BDC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18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BC29B7-6967-33E5-AADF-09200D931DF5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8152A2-4AA9-F9C4-2A0C-142791CDAA27}"/>
              </a:ext>
            </a:extLst>
          </p:cNvPr>
          <p:cNvSpPr txBox="1">
            <a:spLocks/>
          </p:cNvSpPr>
          <p:nvPr/>
        </p:nvSpPr>
        <p:spPr>
          <a:xfrm>
            <a:off x="1802293" y="5232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Methodological Question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82D594-C86D-33E7-8B83-F7C830D9AA76}"/>
              </a:ext>
            </a:extLst>
          </p:cNvPr>
          <p:cNvSpPr txBox="1">
            <a:spLocks/>
          </p:cNvSpPr>
          <p:nvPr/>
        </p:nvSpPr>
        <p:spPr>
          <a:xfrm>
            <a:off x="248964" y="4164106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How do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help us analyze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 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flows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and</a:t>
            </a:r>
            <a:r>
              <a:rPr lang="en-US" sz="5400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 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communication?</a:t>
            </a:r>
          </a:p>
        </p:txBody>
      </p:sp>
    </p:spTree>
    <p:extLst>
      <p:ext uri="{BB962C8B-B14F-4D97-AF65-F5344CB8AC3E}">
        <p14:creationId xmlns:p14="http://schemas.microsoft.com/office/powerpoint/2010/main" val="1317610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6B8B-C36F-BED9-FC43-34A741D8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Walk Cycle Animation by Hyacinth on Dribbble">
            <a:extLst>
              <a:ext uri="{FF2B5EF4-FFF2-40B4-BE49-F238E27FC236}">
                <a16:creationId xmlns:a16="http://schemas.microsoft.com/office/drawing/2014/main" id="{D4F1BE0F-32D6-7505-6955-38F1F5D5C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561" y="1873629"/>
            <a:ext cx="6884875" cy="387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A6C46C-D358-BF8E-37B3-5B6DF7F1830C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19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4EBAF4-BDF4-86EE-1F47-CBEF5FBC2421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35BE9CB-5C6C-3342-5285-1BCCCD273313}"/>
              </a:ext>
            </a:extLst>
          </p:cNvPr>
          <p:cNvCxnSpPr/>
          <p:nvPr/>
        </p:nvCxnSpPr>
        <p:spPr>
          <a:xfrm>
            <a:off x="508746" y="5629835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D1B915B7-E224-9C64-B232-0BBD91747A98}"/>
              </a:ext>
            </a:extLst>
          </p:cNvPr>
          <p:cNvSpPr txBox="1">
            <a:spLocks/>
          </p:cNvSpPr>
          <p:nvPr/>
        </p:nvSpPr>
        <p:spPr>
          <a:xfrm>
            <a:off x="1802294" y="1111629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Sang’s Methodological Trajectory</a:t>
            </a:r>
          </a:p>
        </p:txBody>
      </p:sp>
    </p:spTree>
    <p:extLst>
      <p:ext uri="{BB962C8B-B14F-4D97-AF65-F5344CB8AC3E}">
        <p14:creationId xmlns:p14="http://schemas.microsoft.com/office/powerpoint/2010/main" val="257343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49DBC-7F31-873C-7BBE-A8045F9F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452B86-BEC2-FEAF-8542-31299B570484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20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406235-1C6E-DD68-22FC-EA312FB15426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9F882C-E125-0E99-9344-F43B12275582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216BA2-7C5F-4145-74D8-7B10B829B40E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6A5484-4222-6312-41C7-355928330175}"/>
              </a:ext>
            </a:extLst>
          </p:cNvPr>
          <p:cNvSpPr txBox="1">
            <a:spLocks/>
          </p:cNvSpPr>
          <p:nvPr/>
        </p:nvSpPr>
        <p:spPr>
          <a:xfrm>
            <a:off x="-1928567" y="344244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394668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971A-080A-E7D6-9C62-5D3140B5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70F6149-C77D-801F-FBE1-EF7F67A44BB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21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7C3A09-4AF4-0F16-B1E0-587EB80000FD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8FE4D6-8B82-9DD7-2F87-0EC715B96623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EB050C-D5A0-FA41-F3C0-B7AF440B7BBF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A314FB5A-C789-95AC-343B-C9302EB0C250}"/>
              </a:ext>
            </a:extLst>
          </p:cNvPr>
          <p:cNvSpPr txBox="1">
            <a:spLocks/>
          </p:cNvSpPr>
          <p:nvPr/>
        </p:nvSpPr>
        <p:spPr>
          <a:xfrm>
            <a:off x="-1465344" y="3437442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2020 - 2022</a:t>
            </a: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43C085F5-F295-C28F-35DA-D48D793DA9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7" t="4510" r="61380" b="84119"/>
          <a:stretch>
            <a:fillRect/>
          </a:stretch>
        </p:blipFill>
        <p:spPr bwMode="auto">
          <a:xfrm>
            <a:off x="250505" y="4329432"/>
            <a:ext cx="1780001" cy="225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Overlooked Horror Movies for Halloween - Eisenhower Public Library">
            <a:extLst>
              <a:ext uri="{FF2B5EF4-FFF2-40B4-BE49-F238E27FC236}">
                <a16:creationId xmlns:a16="http://schemas.microsoft.com/office/drawing/2014/main" id="{E7469287-9DD4-98CE-E549-4F88BA11C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482" y="4356848"/>
            <a:ext cx="1780002" cy="226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591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C454B-0271-F3F2-D185-ECCFF19E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62AF3E-6B5A-0C5A-EB19-3890CE252F03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22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231091-70BA-E21C-52BA-8C79363F7214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DB8906B-6766-78DC-B84E-0A867EC09E4A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ADE46A-A1CC-53A1-3D99-AAD7954C5B0E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794" name="Picture 2">
            <a:extLst>
              <a:ext uri="{FF2B5EF4-FFF2-40B4-BE49-F238E27FC236}">
                <a16:creationId xmlns:a16="http://schemas.microsoft.com/office/drawing/2014/main" id="{6221B808-FD9D-CB4C-A8AF-BF903DB4FB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7" t="4510" r="61380" b="84119"/>
          <a:stretch>
            <a:fillRect/>
          </a:stretch>
        </p:blipFill>
        <p:spPr bwMode="auto">
          <a:xfrm>
            <a:off x="250505" y="4329432"/>
            <a:ext cx="1780001" cy="225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8" name="Picture 6" descr="Overlooked Horror Movies for Halloween - Eisenhower Public Library">
            <a:extLst>
              <a:ext uri="{FF2B5EF4-FFF2-40B4-BE49-F238E27FC236}">
                <a16:creationId xmlns:a16="http://schemas.microsoft.com/office/drawing/2014/main" id="{B5078CAA-D564-8A98-BBF1-379B115FF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482" y="4356848"/>
            <a:ext cx="1780002" cy="226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F6B498-BA03-DA60-1840-8E18AF08D098}"/>
              </a:ext>
            </a:extLst>
          </p:cNvPr>
          <p:cNvSpPr txBox="1">
            <a:spLocks/>
          </p:cNvSpPr>
          <p:nvPr/>
        </p:nvSpPr>
        <p:spPr>
          <a:xfrm>
            <a:off x="-2326413" y="256166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Automated </a:t>
            </a:r>
          </a:p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color detection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8E4ACC-50FE-B66A-A81D-22B65887B823}"/>
              </a:ext>
            </a:extLst>
          </p:cNvPr>
          <p:cNvSpPr txBox="1">
            <a:spLocks/>
          </p:cNvSpPr>
          <p:nvPr/>
        </p:nvSpPr>
        <p:spPr>
          <a:xfrm>
            <a:off x="-1465344" y="3437442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2020 - 2022</a:t>
            </a:r>
          </a:p>
        </p:txBody>
      </p:sp>
    </p:spTree>
    <p:extLst>
      <p:ext uri="{BB962C8B-B14F-4D97-AF65-F5344CB8AC3E}">
        <p14:creationId xmlns:p14="http://schemas.microsoft.com/office/powerpoint/2010/main" val="2560960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53A8-383E-EEEC-E596-3BAB82D7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BD733A-AACC-43BB-9DAF-BE6D2C84B93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23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5DE858-F26A-6FA5-317B-F510A97EF6FA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0C9332-7E93-660F-AE50-7924F05E0B2D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A3CAB6-C091-3BA3-5FD3-503A42AA2397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94ED10-21B5-8756-9BFD-BD7481966CC7}"/>
              </a:ext>
            </a:extLst>
          </p:cNvPr>
          <p:cNvSpPr txBox="1">
            <a:spLocks/>
          </p:cNvSpPr>
          <p:nvPr/>
        </p:nvSpPr>
        <p:spPr>
          <a:xfrm>
            <a:off x="-2326413" y="256166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Automated 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color detection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541F17-A05C-6CA8-3B91-5252C3AD4BB2}"/>
              </a:ext>
            </a:extLst>
          </p:cNvPr>
          <p:cNvCxnSpPr>
            <a:cxnSpLocks/>
          </p:cNvCxnSpPr>
          <p:nvPr/>
        </p:nvCxnSpPr>
        <p:spPr>
          <a:xfrm>
            <a:off x="4670612" y="2561664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34EC7A5-48B4-3FBD-BC4D-D227F85FF634}"/>
              </a:ext>
            </a:extLst>
          </p:cNvPr>
          <p:cNvSpPr txBox="1">
            <a:spLocks/>
          </p:cNvSpPr>
          <p:nvPr/>
        </p:nvSpPr>
        <p:spPr>
          <a:xfrm>
            <a:off x="1691834" y="25168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2022 - 2024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32256D9-0A9D-F0C5-425A-950479D138A8}"/>
              </a:ext>
            </a:extLst>
          </p:cNvPr>
          <p:cNvSpPr txBox="1">
            <a:spLocks/>
          </p:cNvSpPr>
          <p:nvPr/>
        </p:nvSpPr>
        <p:spPr>
          <a:xfrm>
            <a:off x="-1922544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041224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CDE10-D548-BFB5-681D-0EB6B732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49B584-7A6E-7270-293C-E9261487211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24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770C42-3E8A-5787-A102-7449FF7394F9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1E2AE1-F060-5FD0-ABEA-3E524C298AEB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B1E28B-DE0A-8455-3867-815A007A0DD5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EABD0C9-7728-4C5F-8EA6-34C1C390A894}"/>
              </a:ext>
            </a:extLst>
          </p:cNvPr>
          <p:cNvSpPr txBox="1">
            <a:spLocks/>
          </p:cNvSpPr>
          <p:nvPr/>
        </p:nvSpPr>
        <p:spPr>
          <a:xfrm>
            <a:off x="-2326413" y="256166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Automated 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color detection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FA66F7-C690-C02F-DB50-89E03AE787F7}"/>
              </a:ext>
            </a:extLst>
          </p:cNvPr>
          <p:cNvCxnSpPr>
            <a:cxnSpLocks/>
          </p:cNvCxnSpPr>
          <p:nvPr/>
        </p:nvCxnSpPr>
        <p:spPr>
          <a:xfrm>
            <a:off x="4670612" y="2561664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erson taking a selfie&#10;&#10;AI-generated content may be incorrect.">
            <a:extLst>
              <a:ext uri="{FF2B5EF4-FFF2-40B4-BE49-F238E27FC236}">
                <a16:creationId xmlns:a16="http://schemas.microsoft.com/office/drawing/2014/main" id="{EFA1DA02-43B3-C8DA-00DA-CB85D4D3A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484" y="43935"/>
            <a:ext cx="1741262" cy="25616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8013CD-C597-D724-2C60-17FCAD2D7A34}"/>
              </a:ext>
            </a:extLst>
          </p:cNvPr>
          <p:cNvSpPr/>
          <p:nvPr/>
        </p:nvSpPr>
        <p:spPr>
          <a:xfrm>
            <a:off x="4114800" y="1089212"/>
            <a:ext cx="1154412" cy="981635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938" name="Picture 2" descr="TikTok - Free download and install on ...">
            <a:extLst>
              <a:ext uri="{FF2B5EF4-FFF2-40B4-BE49-F238E27FC236}">
                <a16:creationId xmlns:a16="http://schemas.microsoft.com/office/drawing/2014/main" id="{AFF7D078-C228-D689-32BF-29392CF51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510" y="834095"/>
            <a:ext cx="863974" cy="86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04314-D6DB-E0B0-7507-FDF798182F07}"/>
              </a:ext>
            </a:extLst>
          </p:cNvPr>
          <p:cNvSpPr txBox="1">
            <a:spLocks/>
          </p:cNvSpPr>
          <p:nvPr/>
        </p:nvSpPr>
        <p:spPr>
          <a:xfrm>
            <a:off x="1691834" y="25168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2022 - 2024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5948A02-B8A5-3862-E792-C21AEDA33B4C}"/>
              </a:ext>
            </a:extLst>
          </p:cNvPr>
          <p:cNvSpPr txBox="1">
            <a:spLocks/>
          </p:cNvSpPr>
          <p:nvPr/>
        </p:nvSpPr>
        <p:spPr>
          <a:xfrm>
            <a:off x="-1922544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815498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1ABE-0CE7-B9CE-D90C-9551A28D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D12781-B059-4233-6B33-8C6A146F50DE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25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3D5CEC-7443-5F6D-79FE-899C87548C99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34850A-E1B1-309B-D9D9-AFBBC4F46308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C4092A-7FA4-E83C-0237-C822E0BC2F39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C53AC82-8B74-EA48-548D-C11D772847BF}"/>
              </a:ext>
            </a:extLst>
          </p:cNvPr>
          <p:cNvSpPr txBox="1">
            <a:spLocks/>
          </p:cNvSpPr>
          <p:nvPr/>
        </p:nvSpPr>
        <p:spPr>
          <a:xfrm>
            <a:off x="-2326413" y="256166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Automated 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color detection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DBC5BE-39B3-92E5-6560-433C34876C54}"/>
              </a:ext>
            </a:extLst>
          </p:cNvPr>
          <p:cNvCxnSpPr>
            <a:cxnSpLocks/>
          </p:cNvCxnSpPr>
          <p:nvPr/>
        </p:nvCxnSpPr>
        <p:spPr>
          <a:xfrm>
            <a:off x="4670612" y="2561664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erson taking a selfie&#10;&#10;AI-generated content may be incorrect.">
            <a:extLst>
              <a:ext uri="{FF2B5EF4-FFF2-40B4-BE49-F238E27FC236}">
                <a16:creationId xmlns:a16="http://schemas.microsoft.com/office/drawing/2014/main" id="{61510801-C738-AB61-4E1D-0E8E47C50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484" y="43935"/>
            <a:ext cx="1741262" cy="25616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D1F12D-9339-F931-CF0F-62074C998339}"/>
              </a:ext>
            </a:extLst>
          </p:cNvPr>
          <p:cNvSpPr/>
          <p:nvPr/>
        </p:nvSpPr>
        <p:spPr>
          <a:xfrm>
            <a:off x="4114800" y="1089212"/>
            <a:ext cx="1154412" cy="981635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4842F0B-72C2-B2BB-D182-84AA6A9F1E65}"/>
              </a:ext>
            </a:extLst>
          </p:cNvPr>
          <p:cNvSpPr txBox="1">
            <a:spLocks/>
          </p:cNvSpPr>
          <p:nvPr/>
        </p:nvSpPr>
        <p:spPr>
          <a:xfrm>
            <a:off x="541905" y="3999825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Off-the-shelf</a:t>
            </a:r>
          </a:p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machine learning libraries</a:t>
            </a:r>
          </a:p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detecting emotions</a:t>
            </a:r>
          </a:p>
        </p:txBody>
      </p:sp>
      <p:pic>
        <p:nvPicPr>
          <p:cNvPr id="13" name="Picture 2" descr="TikTok - Free download and install on ...">
            <a:extLst>
              <a:ext uri="{FF2B5EF4-FFF2-40B4-BE49-F238E27FC236}">
                <a16:creationId xmlns:a16="http://schemas.microsoft.com/office/drawing/2014/main" id="{E7F3151A-6CDB-BDA8-0FA8-37A98C729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510" y="834095"/>
            <a:ext cx="863974" cy="86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42C6116-0AAE-A826-D65B-5C3E879419F9}"/>
              </a:ext>
            </a:extLst>
          </p:cNvPr>
          <p:cNvSpPr txBox="1">
            <a:spLocks/>
          </p:cNvSpPr>
          <p:nvPr/>
        </p:nvSpPr>
        <p:spPr>
          <a:xfrm>
            <a:off x="1691834" y="25168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2022 - 2024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720CE21-7DD6-82B4-9184-AB325AE63AF1}"/>
              </a:ext>
            </a:extLst>
          </p:cNvPr>
          <p:cNvSpPr txBox="1">
            <a:spLocks/>
          </p:cNvSpPr>
          <p:nvPr/>
        </p:nvSpPr>
        <p:spPr>
          <a:xfrm>
            <a:off x="-1922544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060177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5A12C-1C12-6077-FC22-A801C69F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571C10-E982-7182-440C-E74DC60FDB40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26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74D2E6-E61F-D9A1-CE34-72B0D4E2A20F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F32927-B376-57FD-0C79-16651C2CF41F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D37488-EB62-306B-CDA8-0D063C1C3BBE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9F3A8CB-36EC-6EB0-04C9-C4C9B09756FB}"/>
              </a:ext>
            </a:extLst>
          </p:cNvPr>
          <p:cNvSpPr txBox="1">
            <a:spLocks/>
          </p:cNvSpPr>
          <p:nvPr/>
        </p:nvSpPr>
        <p:spPr>
          <a:xfrm>
            <a:off x="-2326413" y="256166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Automated 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color detection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64A626-F73B-FDC9-1507-CB371652A8BA}"/>
              </a:ext>
            </a:extLst>
          </p:cNvPr>
          <p:cNvCxnSpPr>
            <a:cxnSpLocks/>
          </p:cNvCxnSpPr>
          <p:nvPr/>
        </p:nvCxnSpPr>
        <p:spPr>
          <a:xfrm>
            <a:off x="4670612" y="2561664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7D657C6-1A05-4F6E-FAAB-B979E6F45472}"/>
              </a:ext>
            </a:extLst>
          </p:cNvPr>
          <p:cNvSpPr txBox="1">
            <a:spLocks/>
          </p:cNvSpPr>
          <p:nvPr/>
        </p:nvSpPr>
        <p:spPr>
          <a:xfrm>
            <a:off x="1140505" y="2488228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B93186-5775-73B2-0AD1-3DCE216BACC3}"/>
              </a:ext>
            </a:extLst>
          </p:cNvPr>
          <p:cNvCxnSpPr>
            <a:cxnSpLocks/>
          </p:cNvCxnSpPr>
          <p:nvPr/>
        </p:nvCxnSpPr>
        <p:spPr>
          <a:xfrm>
            <a:off x="7875494" y="3368488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9169CB0F-2B6B-EB7C-90A7-26F557048581}"/>
              </a:ext>
            </a:extLst>
          </p:cNvPr>
          <p:cNvSpPr txBox="1">
            <a:spLocks/>
          </p:cNvSpPr>
          <p:nvPr/>
        </p:nvSpPr>
        <p:spPr>
          <a:xfrm>
            <a:off x="4945506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2022 - 2024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C278EA1-916E-9FAB-3B2C-4A1F6BA3EA93}"/>
              </a:ext>
            </a:extLst>
          </p:cNvPr>
          <p:cNvSpPr txBox="1">
            <a:spLocks/>
          </p:cNvSpPr>
          <p:nvPr/>
        </p:nvSpPr>
        <p:spPr>
          <a:xfrm>
            <a:off x="816799" y="393363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Off-the-shelf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machine learning libraries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detecting emotions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6D9328E-1C1C-A5BF-F83E-CF0FD8FCFBE9}"/>
              </a:ext>
            </a:extLst>
          </p:cNvPr>
          <p:cNvSpPr txBox="1">
            <a:spLocks/>
          </p:cNvSpPr>
          <p:nvPr/>
        </p:nvSpPr>
        <p:spPr>
          <a:xfrm>
            <a:off x="-1922544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178234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FB34-DECF-8D9A-DFFA-3A9C8B69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E0DA50-0FE8-1FC7-C850-908CD248AB44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27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258FC0-1AA1-842B-0195-6BB5E235AAF1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43739F-41FF-81E3-D48F-940A8087EFAF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0C6F27-2F30-9A72-9430-B8C6C5C9BA4E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7F4CF2E-BD3D-7027-0905-E36A7E2B5B7C}"/>
              </a:ext>
            </a:extLst>
          </p:cNvPr>
          <p:cNvSpPr txBox="1">
            <a:spLocks/>
          </p:cNvSpPr>
          <p:nvPr/>
        </p:nvSpPr>
        <p:spPr>
          <a:xfrm>
            <a:off x="-2326413" y="256166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Automated 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color detection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1ED605-D187-282D-9A74-0CBF5F0B95FE}"/>
              </a:ext>
            </a:extLst>
          </p:cNvPr>
          <p:cNvCxnSpPr>
            <a:cxnSpLocks/>
          </p:cNvCxnSpPr>
          <p:nvPr/>
        </p:nvCxnSpPr>
        <p:spPr>
          <a:xfrm>
            <a:off x="4670612" y="2561664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CA590C34-FACE-2366-452C-1EE3BEDFA8F6}"/>
              </a:ext>
            </a:extLst>
          </p:cNvPr>
          <p:cNvSpPr txBox="1">
            <a:spLocks/>
          </p:cNvSpPr>
          <p:nvPr/>
        </p:nvSpPr>
        <p:spPr>
          <a:xfrm>
            <a:off x="1140505" y="2488228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BF395-1A17-F08B-A622-CA399F2F596B}"/>
              </a:ext>
            </a:extLst>
          </p:cNvPr>
          <p:cNvCxnSpPr>
            <a:cxnSpLocks/>
          </p:cNvCxnSpPr>
          <p:nvPr/>
        </p:nvCxnSpPr>
        <p:spPr>
          <a:xfrm>
            <a:off x="7875494" y="3368488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74AACAD7-38FC-DCD5-D344-81133DD4C6CF}"/>
              </a:ext>
            </a:extLst>
          </p:cNvPr>
          <p:cNvSpPr txBox="1">
            <a:spLocks/>
          </p:cNvSpPr>
          <p:nvPr/>
        </p:nvSpPr>
        <p:spPr>
          <a:xfrm>
            <a:off x="816799" y="393363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Off-the-shelf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machine learning libraries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detecting emotions</a:t>
            </a:r>
          </a:p>
        </p:txBody>
      </p:sp>
      <p:pic>
        <p:nvPicPr>
          <p:cNvPr id="19" name="Picture 18" descr="A person and person speaking into a microphone&#10;&#10;AI-generated content may be incorrect.">
            <a:extLst>
              <a:ext uri="{FF2B5EF4-FFF2-40B4-BE49-F238E27FC236}">
                <a16:creationId xmlns:a16="http://schemas.microsoft.com/office/drawing/2014/main" id="{F83A8A32-1F98-3F68-CEAD-77C8F5CC4F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4" t="-1048" r="3828" b="1048"/>
          <a:stretch>
            <a:fillRect/>
          </a:stretch>
        </p:blipFill>
        <p:spPr>
          <a:xfrm>
            <a:off x="7047766" y="4168588"/>
            <a:ext cx="4888564" cy="26543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67495E-0AF1-DB41-42D2-532262DD284A}"/>
              </a:ext>
            </a:extLst>
          </p:cNvPr>
          <p:cNvSpPr txBox="1">
            <a:spLocks/>
          </p:cNvSpPr>
          <p:nvPr/>
        </p:nvSpPr>
        <p:spPr>
          <a:xfrm>
            <a:off x="-1922544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E015526-9EFD-56C9-6067-B35B428BDA59}"/>
              </a:ext>
            </a:extLst>
          </p:cNvPr>
          <p:cNvSpPr txBox="1">
            <a:spLocks/>
          </p:cNvSpPr>
          <p:nvPr/>
        </p:nvSpPr>
        <p:spPr>
          <a:xfrm>
            <a:off x="4945506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2022 - 2024</a:t>
            </a:r>
          </a:p>
        </p:txBody>
      </p:sp>
    </p:spTree>
    <p:extLst>
      <p:ext uri="{BB962C8B-B14F-4D97-AF65-F5344CB8AC3E}">
        <p14:creationId xmlns:p14="http://schemas.microsoft.com/office/powerpoint/2010/main" val="737076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2495F-5411-B86D-4D19-E3122870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86375F-7BEC-3534-4154-16EADEB8C3D0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4C469C-5013-1EE0-DE96-C2917316D93C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CB4AD9-B216-55CD-7E96-11E015D2007E}"/>
              </a:ext>
            </a:extLst>
          </p:cNvPr>
          <p:cNvCxnSpPr/>
          <p:nvPr/>
        </p:nvCxnSpPr>
        <p:spPr>
          <a:xfrm>
            <a:off x="508747" y="3384176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F63EE1-A9EA-6E6B-7CCC-E9FAB1C83723}"/>
              </a:ext>
            </a:extLst>
          </p:cNvPr>
          <p:cNvCxnSpPr>
            <a:cxnSpLocks/>
          </p:cNvCxnSpPr>
          <p:nvPr/>
        </p:nvCxnSpPr>
        <p:spPr>
          <a:xfrm>
            <a:off x="1559859" y="3384176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120ECAE-8D41-3F2F-1ABF-45682F8E9A4A}"/>
              </a:ext>
            </a:extLst>
          </p:cNvPr>
          <p:cNvSpPr txBox="1">
            <a:spLocks/>
          </p:cNvSpPr>
          <p:nvPr/>
        </p:nvSpPr>
        <p:spPr>
          <a:xfrm>
            <a:off x="-2003225" y="347382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400ED-C4A7-FD99-848E-0FDC6CAD7573}"/>
              </a:ext>
            </a:extLst>
          </p:cNvPr>
          <p:cNvSpPr txBox="1">
            <a:spLocks/>
          </p:cNvSpPr>
          <p:nvPr/>
        </p:nvSpPr>
        <p:spPr>
          <a:xfrm>
            <a:off x="-2326413" y="2561664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Automated 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color detection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67D20C-8141-8709-8BBB-44D9C1A7C03C}"/>
              </a:ext>
            </a:extLst>
          </p:cNvPr>
          <p:cNvCxnSpPr>
            <a:cxnSpLocks/>
          </p:cNvCxnSpPr>
          <p:nvPr/>
        </p:nvCxnSpPr>
        <p:spPr>
          <a:xfrm>
            <a:off x="4670612" y="2561664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BA5599C0-FADF-B423-96F9-B3828FAFB452}"/>
              </a:ext>
            </a:extLst>
          </p:cNvPr>
          <p:cNvSpPr txBox="1">
            <a:spLocks/>
          </p:cNvSpPr>
          <p:nvPr/>
        </p:nvSpPr>
        <p:spPr>
          <a:xfrm>
            <a:off x="1140505" y="2488228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FD80E6-BE22-3885-5BA0-0E5D8C2C5716}"/>
              </a:ext>
            </a:extLst>
          </p:cNvPr>
          <p:cNvCxnSpPr>
            <a:cxnSpLocks/>
          </p:cNvCxnSpPr>
          <p:nvPr/>
        </p:nvCxnSpPr>
        <p:spPr>
          <a:xfrm>
            <a:off x="7875494" y="3368488"/>
            <a:ext cx="0" cy="80682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9DA85A5E-1C89-F6CB-D983-56BA2B8D3DE5}"/>
              </a:ext>
            </a:extLst>
          </p:cNvPr>
          <p:cNvSpPr txBox="1">
            <a:spLocks/>
          </p:cNvSpPr>
          <p:nvPr/>
        </p:nvSpPr>
        <p:spPr>
          <a:xfrm>
            <a:off x="816799" y="393363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Off-the-shelf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machine learning libraries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detecting emotions</a:t>
            </a:r>
          </a:p>
        </p:txBody>
      </p:sp>
      <p:pic>
        <p:nvPicPr>
          <p:cNvPr id="19" name="Picture 18" descr="A person and person speaking into a microphone&#10;&#10;AI-generated content may be incorrect.">
            <a:extLst>
              <a:ext uri="{FF2B5EF4-FFF2-40B4-BE49-F238E27FC236}">
                <a16:creationId xmlns:a16="http://schemas.microsoft.com/office/drawing/2014/main" id="{AD1F91CD-749A-40DD-AEA3-E80BB0E91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4" t="-1048" r="3828" b="1048"/>
          <a:stretch>
            <a:fillRect/>
          </a:stretch>
        </p:blipFill>
        <p:spPr>
          <a:xfrm>
            <a:off x="7047766" y="4168588"/>
            <a:ext cx="4888564" cy="26543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DE4D05-03F2-F611-5A90-F3A8342978C4}"/>
              </a:ext>
            </a:extLst>
          </p:cNvPr>
          <p:cNvSpPr txBox="1">
            <a:spLocks/>
          </p:cNvSpPr>
          <p:nvPr/>
        </p:nvSpPr>
        <p:spPr>
          <a:xfrm>
            <a:off x="4465435" y="2414682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Building a deep learning </a:t>
            </a:r>
          </a:p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 classifier </a:t>
            </a:r>
          </a:p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for aggression detection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14C4C8-7EB4-8B99-59D3-8006278FEE9E}"/>
              </a:ext>
            </a:extLst>
          </p:cNvPr>
          <p:cNvSpPr txBox="1">
            <a:spLocks/>
          </p:cNvSpPr>
          <p:nvPr/>
        </p:nvSpPr>
        <p:spPr>
          <a:xfrm>
            <a:off x="4945506" y="340883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2022 - 2024</a:t>
            </a:r>
          </a:p>
        </p:txBody>
      </p:sp>
    </p:spTree>
    <p:extLst>
      <p:ext uri="{BB962C8B-B14F-4D97-AF65-F5344CB8AC3E}">
        <p14:creationId xmlns:p14="http://schemas.microsoft.com/office/powerpoint/2010/main" val="2548040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7183-447C-2DC8-5B59-16210BF5E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7AC6C5-070A-F8A1-C90A-591C53A79FB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29 </a:t>
            </a:r>
          </a:p>
        </p:txBody>
      </p:sp>
      <p:pic>
        <p:nvPicPr>
          <p:cNvPr id="4" name="Picture 3" descr="A paper with text on it&#10;&#10;AI-generated content may be incorrect.">
            <a:extLst>
              <a:ext uri="{FF2B5EF4-FFF2-40B4-BE49-F238E27FC236}">
                <a16:creationId xmlns:a16="http://schemas.microsoft.com/office/drawing/2014/main" id="{C225B1BA-3EE8-00CA-CB78-99832BBE5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46"/>
          <a:stretch>
            <a:fillRect/>
          </a:stretch>
        </p:blipFill>
        <p:spPr>
          <a:xfrm>
            <a:off x="0" y="1879970"/>
            <a:ext cx="4020671" cy="38337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4513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5A14-AB1C-5910-90A4-34CBDCC7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87F3DD-E55B-C59E-EAB9-C827C1B54F97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30 </a:t>
            </a:r>
          </a:p>
        </p:txBody>
      </p:sp>
      <p:pic>
        <p:nvPicPr>
          <p:cNvPr id="4" name="Picture 3" descr="A paper with text on it&#10;&#10;AI-generated content may be incorrect.">
            <a:extLst>
              <a:ext uri="{FF2B5EF4-FFF2-40B4-BE49-F238E27FC236}">
                <a16:creationId xmlns:a16="http://schemas.microsoft.com/office/drawing/2014/main" id="{A9FD0E7B-67BA-9D71-459E-2758E11331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46"/>
          <a:stretch>
            <a:fillRect/>
          </a:stretch>
        </p:blipFill>
        <p:spPr>
          <a:xfrm>
            <a:off x="0" y="1879970"/>
            <a:ext cx="4020671" cy="38337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64503A24-052A-528E-CBD7-87D7D4BE9C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20" r="12255"/>
          <a:stretch>
            <a:fillRect/>
          </a:stretch>
        </p:blipFill>
        <p:spPr>
          <a:xfrm>
            <a:off x="4020671" y="1758949"/>
            <a:ext cx="4545302" cy="39547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8249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93861-6C89-0DD0-67E0-ED28F44D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AF8E0E-0855-A269-8DFD-DAABA64CC75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31 </a:t>
            </a:r>
          </a:p>
        </p:txBody>
      </p:sp>
      <p:pic>
        <p:nvPicPr>
          <p:cNvPr id="4" name="Picture 3" descr="A paper with text on it&#10;&#10;AI-generated content may be incorrect.">
            <a:extLst>
              <a:ext uri="{FF2B5EF4-FFF2-40B4-BE49-F238E27FC236}">
                <a16:creationId xmlns:a16="http://schemas.microsoft.com/office/drawing/2014/main" id="{8B63AD96-8E45-C7FE-E201-B7DC67FF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46"/>
          <a:stretch>
            <a:fillRect/>
          </a:stretch>
        </p:blipFill>
        <p:spPr>
          <a:xfrm>
            <a:off x="0" y="1879970"/>
            <a:ext cx="4020671" cy="38337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E79207A1-5183-26BA-1F76-0E0A8BA58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20" r="12255"/>
          <a:stretch>
            <a:fillRect/>
          </a:stretch>
        </p:blipFill>
        <p:spPr>
          <a:xfrm>
            <a:off x="4020671" y="1758949"/>
            <a:ext cx="4545302" cy="39547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screenshot of a document&#10;&#10;AI-generated content may be incorrect.">
            <a:extLst>
              <a:ext uri="{FF2B5EF4-FFF2-40B4-BE49-F238E27FC236}">
                <a16:creationId xmlns:a16="http://schemas.microsoft.com/office/drawing/2014/main" id="{F1C06124-3B46-5F91-41C3-6130E3D2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049" y="1812738"/>
            <a:ext cx="4467951" cy="39009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4470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409C-ABF0-D888-C94A-4BFF9E77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F1CEB0-146D-1A22-9AA2-5B4D1AF41D8E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32 </a:t>
            </a:r>
          </a:p>
        </p:txBody>
      </p:sp>
      <p:pic>
        <p:nvPicPr>
          <p:cNvPr id="22" name="Picture 21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72EBE816-01D9-E049-04AF-069890887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43" y="228601"/>
            <a:ext cx="8455585" cy="591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9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8E553-2911-58F4-E5A2-F519DF4C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FBD7C2-E541-A81C-8D3C-8E84D0E9238D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33 </a:t>
            </a:r>
          </a:p>
        </p:txBody>
      </p:sp>
      <p:pic>
        <p:nvPicPr>
          <p:cNvPr id="22" name="Picture 21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ABCAB01F-2218-DC5B-6CD0-A7E18378B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43" y="228601"/>
            <a:ext cx="8455585" cy="591664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3CB7231-FDA6-1FA5-C9AD-133A0B585C2E}"/>
              </a:ext>
            </a:extLst>
          </p:cNvPr>
          <p:cNvSpPr/>
          <p:nvPr/>
        </p:nvSpPr>
        <p:spPr>
          <a:xfrm>
            <a:off x="6239435" y="766482"/>
            <a:ext cx="4222377" cy="4329953"/>
          </a:xfrm>
          <a:prstGeom prst="rect">
            <a:avLst/>
          </a:prstGeom>
          <a:noFill/>
          <a:ln w="57150">
            <a:solidFill>
              <a:srgbClr val="964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27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71D86-BD39-C9AF-CB86-9EBA8AC2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A78A85-DAC8-0B63-78FE-907CDEB86C77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34 </a:t>
            </a:r>
          </a:p>
        </p:txBody>
      </p:sp>
      <p:pic>
        <p:nvPicPr>
          <p:cNvPr id="22" name="Picture 21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C86844F3-43DE-0555-AF4A-AC5E62B78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43" y="228601"/>
            <a:ext cx="8455585" cy="591664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5B40CA-2D03-C420-656B-70F631950F07}"/>
              </a:ext>
            </a:extLst>
          </p:cNvPr>
          <p:cNvSpPr/>
          <p:nvPr/>
        </p:nvSpPr>
        <p:spPr>
          <a:xfrm>
            <a:off x="6301253" y="5029138"/>
            <a:ext cx="4222377" cy="1062317"/>
          </a:xfrm>
          <a:prstGeom prst="rect">
            <a:avLst/>
          </a:prstGeom>
          <a:noFill/>
          <a:ln w="57150">
            <a:solidFill>
              <a:srgbClr val="964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96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D9A2-4A11-F869-72F3-0429EA31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10AEF9-768A-809C-1B9C-59C4BC182E0E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35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D79FE06-1249-8701-5B1D-E4438CB4B831}"/>
              </a:ext>
            </a:extLst>
          </p:cNvPr>
          <p:cNvSpPr txBox="1">
            <a:spLocks/>
          </p:cNvSpPr>
          <p:nvPr/>
        </p:nvSpPr>
        <p:spPr>
          <a:xfrm>
            <a:off x="477564" y="3429000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How do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generative AI models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help us analyze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visual 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messages?</a:t>
            </a:r>
          </a:p>
        </p:txBody>
      </p:sp>
    </p:spTree>
    <p:extLst>
      <p:ext uri="{BB962C8B-B14F-4D97-AF65-F5344CB8AC3E}">
        <p14:creationId xmlns:p14="http://schemas.microsoft.com/office/powerpoint/2010/main" val="3128683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5E3A-DBF6-BA04-143A-C0EA7ED9A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6C915E-C9A4-C7D9-9D6E-40030BCEA376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36 </a:t>
            </a:r>
          </a:p>
        </p:txBody>
      </p:sp>
      <p:pic>
        <p:nvPicPr>
          <p:cNvPr id="48130" name="Picture 2" descr="Subhayan Mukerjee - National University of Singapore | LinkedIn">
            <a:extLst>
              <a:ext uri="{FF2B5EF4-FFF2-40B4-BE49-F238E27FC236}">
                <a16:creationId xmlns:a16="http://schemas.microsoft.com/office/drawing/2014/main" id="{90CB9C62-629D-E140-BE67-15D84A919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82" y="2159000"/>
            <a:ext cx="2540000" cy="2540000"/>
          </a:xfrm>
          <a:prstGeom prst="ellipse">
            <a:avLst/>
          </a:prstGeom>
          <a:noFill/>
          <a:ln w="76200">
            <a:solidFill>
              <a:srgbClr val="9644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2" name="Picture 4" descr="Alvin Zhou: Computing to Understand Communication">
            <a:extLst>
              <a:ext uri="{FF2B5EF4-FFF2-40B4-BE49-F238E27FC236}">
                <a16:creationId xmlns:a16="http://schemas.microsoft.com/office/drawing/2014/main" id="{DA67FE99-73D2-9D32-124C-8AD016922C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 bwMode="auto">
          <a:xfrm>
            <a:off x="4606738" y="2074209"/>
            <a:ext cx="2709582" cy="2709582"/>
          </a:xfrm>
          <a:prstGeom prst="ellipse">
            <a:avLst/>
          </a:prstGeom>
          <a:noFill/>
          <a:ln w="76200">
            <a:solidFill>
              <a:srgbClr val="9644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4" name="Picture 6" descr="Ewa Maslowska | College of Media">
            <a:extLst>
              <a:ext uri="{FF2B5EF4-FFF2-40B4-BE49-F238E27FC236}">
                <a16:creationId xmlns:a16="http://schemas.microsoft.com/office/drawing/2014/main" id="{C85E9172-C370-2BC4-4D2B-98B45F21DA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" b="1100"/>
          <a:stretch>
            <a:fillRect/>
          </a:stretch>
        </p:blipFill>
        <p:spPr bwMode="auto">
          <a:xfrm>
            <a:off x="8362576" y="2159000"/>
            <a:ext cx="2709581" cy="2709581"/>
          </a:xfrm>
          <a:prstGeom prst="ellipse">
            <a:avLst/>
          </a:prstGeom>
          <a:noFill/>
          <a:ln w="76200">
            <a:solidFill>
              <a:srgbClr val="9644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FA63C6-96CA-DAD5-31C4-EFF6E8FA4B58}"/>
              </a:ext>
            </a:extLst>
          </p:cNvPr>
          <p:cNvSpPr txBox="1"/>
          <p:nvPr/>
        </p:nvSpPr>
        <p:spPr>
          <a:xfrm>
            <a:off x="537883" y="4965558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 err="1">
                <a:effectLst/>
                <a:latin typeface="Noto Sans" panose="020B0502040504020204" pitchFamily="34" charset="0"/>
              </a:rPr>
              <a:t>Subhayan</a:t>
            </a:r>
            <a:r>
              <a:rPr lang="en-US" sz="2400" b="1" i="0" dirty="0">
                <a:effectLst/>
                <a:latin typeface="Noto Sans" panose="020B0502040504020204" pitchFamily="34" charset="0"/>
              </a:rPr>
              <a:t> Mukerjee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E1DAF-DAE6-BA20-E692-1BF8D9B8969B}"/>
              </a:ext>
            </a:extLst>
          </p:cNvPr>
          <p:cNvSpPr txBox="1"/>
          <p:nvPr/>
        </p:nvSpPr>
        <p:spPr>
          <a:xfrm>
            <a:off x="5001558" y="4973616"/>
            <a:ext cx="19199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Noto Sans" panose="020B0502040504020204" pitchFamily="34" charset="0"/>
              </a:rPr>
              <a:t>Alvin Zhou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2040B-B2EC-3449-2418-E0B3D2786261}"/>
              </a:ext>
            </a:extLst>
          </p:cNvPr>
          <p:cNvSpPr txBox="1"/>
          <p:nvPr/>
        </p:nvSpPr>
        <p:spPr>
          <a:xfrm>
            <a:off x="8469964" y="4973616"/>
            <a:ext cx="2494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Ewa Maslowska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5327E-1EE7-514A-7074-0EAFE7E20041}"/>
              </a:ext>
            </a:extLst>
          </p:cNvPr>
          <p:cNvSpPr txBox="1"/>
          <p:nvPr/>
        </p:nvSpPr>
        <p:spPr>
          <a:xfrm>
            <a:off x="320488" y="511190"/>
            <a:ext cx="11551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effectLst/>
                <a:latin typeface="Noto Sans" panose="020B0502040504020204" pitchFamily="34" charset="0"/>
              </a:rPr>
              <a:t>Call for Papers: CCR Special Issue on Generative 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EA9AA-9DF2-2F2C-64ED-16731B88D9C3}"/>
              </a:ext>
            </a:extLst>
          </p:cNvPr>
          <p:cNvSpPr txBox="1"/>
          <p:nvPr/>
        </p:nvSpPr>
        <p:spPr>
          <a:xfrm>
            <a:off x="2384424" y="1156100"/>
            <a:ext cx="74231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effectLst/>
                <a:latin typeface="Noto Sans" panose="020B0502040504020204" pitchFamily="34" charset="0"/>
              </a:rPr>
              <a:t>b. Generative AI as a </a:t>
            </a:r>
            <a:r>
              <a:rPr lang="en-US" sz="2800" b="1" i="1" dirty="0">
                <a:solidFill>
                  <a:srgbClr val="964421"/>
                </a:solidFill>
                <a:effectLst/>
                <a:latin typeface="Noto Sans" panose="020B0502040504020204" pitchFamily="34" charset="0"/>
              </a:rPr>
              <a:t>Methodological Tool</a:t>
            </a:r>
            <a:endParaRPr lang="en-US" sz="2800" dirty="0">
              <a:solidFill>
                <a:srgbClr val="964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710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2A2A-3535-C42F-CBE8-7074CA15A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E42B9-FDE7-4BC7-5E25-48D0530EE0F7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37 </a:t>
            </a:r>
          </a:p>
        </p:txBody>
      </p:sp>
      <p:pic>
        <p:nvPicPr>
          <p:cNvPr id="3" name="Picture 2" descr="A paper with text on it&#10;&#10;AI-generated content may be incorrect.">
            <a:extLst>
              <a:ext uri="{FF2B5EF4-FFF2-40B4-BE49-F238E27FC236}">
                <a16:creationId xmlns:a16="http://schemas.microsoft.com/office/drawing/2014/main" id="{6366210C-B828-0C00-504C-0BED2E786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95" y="0"/>
            <a:ext cx="4866009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  <p:extLst>
      <p:ext uri="{BB962C8B-B14F-4D97-AF65-F5344CB8AC3E}">
        <p14:creationId xmlns:p14="http://schemas.microsoft.com/office/powerpoint/2010/main" val="2674857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DE45-2D08-9250-5ABA-2CCFCEC2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9543C7-7840-5E38-2F51-7BE3CD5C9E5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38 </a:t>
            </a:r>
          </a:p>
        </p:txBody>
      </p:sp>
      <p:pic>
        <p:nvPicPr>
          <p:cNvPr id="4" name="Picture 3" descr="A screenshot of a social media page&#10;&#10;AI-generated content may be incorrect.">
            <a:extLst>
              <a:ext uri="{FF2B5EF4-FFF2-40B4-BE49-F238E27FC236}">
                <a16:creationId xmlns:a16="http://schemas.microsoft.com/office/drawing/2014/main" id="{A06CE5BF-70EB-B8DA-71EB-E9B4C76E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7411"/>
            <a:ext cx="7772400" cy="63631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686569-9236-AE48-DE73-628E9F89B43C}"/>
              </a:ext>
            </a:extLst>
          </p:cNvPr>
          <p:cNvSpPr/>
          <p:nvPr/>
        </p:nvSpPr>
        <p:spPr>
          <a:xfrm flipV="1">
            <a:off x="2374713" y="2783541"/>
            <a:ext cx="1229100" cy="484033"/>
          </a:xfrm>
          <a:prstGeom prst="rect">
            <a:avLst/>
          </a:prstGeom>
          <a:noFill/>
          <a:ln w="57150">
            <a:solidFill>
              <a:srgbClr val="964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51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D113-408B-ABCB-D52C-C414710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7AFAF6-4D27-E8B4-C9C7-558488B025F8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39 </a:t>
            </a:r>
          </a:p>
        </p:txBody>
      </p:sp>
      <p:pic>
        <p:nvPicPr>
          <p:cNvPr id="3" name="Picture 2" descr="A paper with text on it&#10;&#10;AI-generated content may be incorrect.">
            <a:extLst>
              <a:ext uri="{FF2B5EF4-FFF2-40B4-BE49-F238E27FC236}">
                <a16:creationId xmlns:a16="http://schemas.microsoft.com/office/drawing/2014/main" id="{28D4C04C-FC34-FCEB-71D3-197EF5E2F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95" y="0"/>
            <a:ext cx="4866009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  <p:extLst>
      <p:ext uri="{BB962C8B-B14F-4D97-AF65-F5344CB8AC3E}">
        <p14:creationId xmlns:p14="http://schemas.microsoft.com/office/powerpoint/2010/main" val="3349831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99C1-207A-6B7B-8F62-42FEFD164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163BFD-E9A0-914C-1B79-B46910D59FF0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40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64A8E-0A9F-4D72-BDD2-45C99DF34F0D}"/>
              </a:ext>
            </a:extLst>
          </p:cNvPr>
          <p:cNvSpPr txBox="1">
            <a:spLocks/>
          </p:cNvSpPr>
          <p:nvPr/>
        </p:nvSpPr>
        <p:spPr>
          <a:xfrm>
            <a:off x="733059" y="4693024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How can we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identify visual framing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at scale =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computer vision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252240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507D-08B1-AA4A-D5C2-FC0345BC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53008E-7942-3F73-FDBD-312F485C0DC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41 </a:t>
            </a:r>
          </a:p>
        </p:txBody>
      </p:sp>
      <p:pic>
        <p:nvPicPr>
          <p:cNvPr id="57346" name="Picture 2" descr="Nora Webb Williams Home">
            <a:extLst>
              <a:ext uri="{FF2B5EF4-FFF2-40B4-BE49-F238E27FC236}">
                <a16:creationId xmlns:a16="http://schemas.microsoft.com/office/drawing/2014/main" id="{50BD6367-2342-995D-D1A3-C56965FC9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32" y="3429000"/>
            <a:ext cx="27940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48" name="Picture 4" descr="ZacharyST_UCLA_Luskin_Headshot">
            <a:extLst>
              <a:ext uri="{FF2B5EF4-FFF2-40B4-BE49-F238E27FC236}">
                <a16:creationId xmlns:a16="http://schemas.microsoft.com/office/drawing/2014/main" id="{AF54E45B-5D51-49B1-B026-04409B080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32" y="226733"/>
            <a:ext cx="2037404" cy="304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0" name="Picture 6" descr="Torres">
            <a:extLst>
              <a:ext uri="{FF2B5EF4-FFF2-40B4-BE49-F238E27FC236}">
                <a16:creationId xmlns:a16="http://schemas.microsoft.com/office/drawing/2014/main" id="{9B991187-F9FC-84DC-B487-1C46A6B90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50" y="226733"/>
            <a:ext cx="2581145" cy="278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4" name="Picture 10" descr="Yingdan Lu | Institute for Research in ...">
            <a:extLst>
              <a:ext uri="{FF2B5EF4-FFF2-40B4-BE49-F238E27FC236}">
                <a16:creationId xmlns:a16="http://schemas.microsoft.com/office/drawing/2014/main" id="{B8E6F6A6-9BAA-7107-11E3-057F6D2A0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909" y="235323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6" name="Picture 12" descr="Yilang Peng">
            <a:extLst>
              <a:ext uri="{FF2B5EF4-FFF2-40B4-BE49-F238E27FC236}">
                <a16:creationId xmlns:a16="http://schemas.microsoft.com/office/drawing/2014/main" id="{F0FB681B-6C82-B265-EF1A-8C6DACD7B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8" name="Picture 14" descr="Ayse Lokmanoglu | College of Communication">
            <a:extLst>
              <a:ext uri="{FF2B5EF4-FFF2-40B4-BE49-F238E27FC236}">
                <a16:creationId xmlns:a16="http://schemas.microsoft.com/office/drawing/2014/main" id="{9C9C23EA-1A27-56FD-DD06-D5910CB5D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249" y="3267635"/>
            <a:ext cx="2235200" cy="344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60" name="Picture 16" descr="Cody Buntain Photo">
            <a:extLst>
              <a:ext uri="{FF2B5EF4-FFF2-40B4-BE49-F238E27FC236}">
                <a16:creationId xmlns:a16="http://schemas.microsoft.com/office/drawing/2014/main" id="{A0A5EEBB-D0BA-EA10-37D7-6D0C345B4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158" y="380252"/>
            <a:ext cx="2463424" cy="271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62" name="Picture 18" descr="Bryce J. Dietrich (@brycejdietrich) / Posts / X">
            <a:extLst>
              <a:ext uri="{FF2B5EF4-FFF2-40B4-BE49-F238E27FC236}">
                <a16:creationId xmlns:a16="http://schemas.microsoft.com/office/drawing/2014/main" id="{318EB385-8866-10AF-9C3E-EE63662A3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36" y="3429000"/>
            <a:ext cx="2581145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920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224A-ACA4-623C-E98B-8D3E0E36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BD082A-B5E7-3334-4D14-F5B3FE5691E3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42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CF0B4-FC9C-C590-CE8A-9A2D5E7351E4}"/>
              </a:ext>
            </a:extLst>
          </p:cNvPr>
          <p:cNvSpPr txBox="1">
            <a:spLocks/>
          </p:cNvSpPr>
          <p:nvPr/>
        </p:nvSpPr>
        <p:spPr>
          <a:xfrm>
            <a:off x="733059" y="4693024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How can we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theoretically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identify visual framing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at scale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275065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1FCC-E3B3-AC8C-B734-8B75FE8C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D9AEC7-725D-820A-68D9-9D1A7F75E943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43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2B240-DA8E-D444-1849-11DC59009212}"/>
              </a:ext>
            </a:extLst>
          </p:cNvPr>
          <p:cNvSpPr txBox="1"/>
          <p:nvPr/>
        </p:nvSpPr>
        <p:spPr>
          <a:xfrm>
            <a:off x="522194" y="2116142"/>
            <a:ext cx="111476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"/>
                <a:ea typeface="Palatino" pitchFamily="2" charset="77"/>
              </a:rPr>
              <a:t>Computational social scientists are sometimes critiqued for producing results that are empirically rich but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Palatino" pitchFamily="2" charset="77"/>
              </a:rPr>
              <a:t>theoretically thin</a:t>
            </a:r>
            <a:r>
              <a:rPr lang="en-US" sz="5400" b="1" i="1" dirty="0">
                <a:solidFill>
                  <a:srgbClr val="964421"/>
                </a:solidFill>
                <a:latin typeface=""/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6176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FFDAD-DDB5-2E22-98E7-B9FF6896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487568-F3D7-4FB9-442C-24E95FADF724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44 </a:t>
            </a:r>
          </a:p>
        </p:txBody>
      </p:sp>
      <p:pic>
        <p:nvPicPr>
          <p:cNvPr id="22" name="Picture 21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651A85FA-1D4D-C0C3-D117-72FDB386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43" y="228601"/>
            <a:ext cx="8455585" cy="591664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A62AE1-61A4-9FC1-2DC1-FA0F8C6AF5DF}"/>
              </a:ext>
            </a:extLst>
          </p:cNvPr>
          <p:cNvSpPr/>
          <p:nvPr/>
        </p:nvSpPr>
        <p:spPr>
          <a:xfrm>
            <a:off x="6301253" y="5029138"/>
            <a:ext cx="4222377" cy="1062317"/>
          </a:xfrm>
          <a:prstGeom prst="rect">
            <a:avLst/>
          </a:prstGeom>
          <a:noFill/>
          <a:ln w="57150">
            <a:solidFill>
              <a:srgbClr val="964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29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75BC-8BBC-A719-2F2F-0C788B32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4953D0-E8AE-6F9B-44A0-9720B336177E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45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DC402-E7FF-B7F2-1C50-35B6EF699B2A}"/>
              </a:ext>
            </a:extLst>
          </p:cNvPr>
          <p:cNvSpPr txBox="1">
            <a:spLocks/>
          </p:cNvSpPr>
          <p:nvPr/>
        </p:nvSpPr>
        <p:spPr>
          <a:xfrm>
            <a:off x="733059" y="4693024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How can we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theoretically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identify visual framing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at scale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using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generative AI models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?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69752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BAF6E-4B5F-08B1-E453-AFD54716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holding signs&#10;&#10;AI-generated content may be incorrect.">
            <a:extLst>
              <a:ext uri="{FF2B5EF4-FFF2-40B4-BE49-F238E27FC236}">
                <a16:creationId xmlns:a16="http://schemas.microsoft.com/office/drawing/2014/main" id="{DF58C365-8B6B-6013-A1A0-CC9C79B7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511" y="2097741"/>
            <a:ext cx="5809128" cy="3430166"/>
          </a:xfrm>
          <a:prstGeom prst="rect">
            <a:avLst/>
          </a:prstGeom>
        </p:spPr>
      </p:pic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D005A93B-5FB3-2FC2-B936-E01A49616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0" y="2097741"/>
            <a:ext cx="5576976" cy="343016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937BCB8-40B1-3FAB-8706-A8E6A6713B85}"/>
              </a:ext>
            </a:extLst>
          </p:cNvPr>
          <p:cNvSpPr txBox="1">
            <a:spLocks/>
          </p:cNvSpPr>
          <p:nvPr/>
        </p:nvSpPr>
        <p:spPr>
          <a:xfrm>
            <a:off x="2656765" y="1176753"/>
            <a:ext cx="6771491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Case Study: 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Black Lives Matter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Protest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0265A-51BE-194D-CA36-49CD50B469CE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46 </a:t>
            </a:r>
          </a:p>
        </p:txBody>
      </p:sp>
    </p:spTree>
    <p:extLst>
      <p:ext uri="{BB962C8B-B14F-4D97-AF65-F5344CB8AC3E}">
        <p14:creationId xmlns:p14="http://schemas.microsoft.com/office/powerpoint/2010/main" val="2387474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114AC-585D-5251-E9DB-943CC1F2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018CFA2F-C7DB-B163-85E3-2E4D84ED5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" y="2097741"/>
            <a:ext cx="5576976" cy="343016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37EF11-C431-5731-8347-C94CC6D95D85}"/>
              </a:ext>
            </a:extLst>
          </p:cNvPr>
          <p:cNvSpPr txBox="1">
            <a:spLocks/>
          </p:cNvSpPr>
          <p:nvPr/>
        </p:nvSpPr>
        <p:spPr>
          <a:xfrm>
            <a:off x="6096000" y="5278090"/>
            <a:ext cx="6771491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Protest Paradigm</a:t>
            </a:r>
          </a:p>
          <a:p>
            <a:pPr algn="l">
              <a:lnSpc>
                <a:spcPct val="100000"/>
              </a:lnSpc>
            </a:pPr>
            <a:endParaRPr lang="en-US" sz="3200" b="1" dirty="0">
              <a:solidFill>
                <a:srgbClr val="964421"/>
              </a:solidFill>
              <a:latin typeface=""/>
              <a:ea typeface="Palatino" pitchFamily="2" charset="77"/>
              <a:cs typeface="Tahoma" panose="020B060403050404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Tahoma" panose="020B0604030504040204" pitchFamily="34" charset="0"/>
              </a:rPr>
              <a:t>Marginalization </a:t>
            </a:r>
            <a:r>
              <a:rPr lang="en-US" sz="3200" dirty="0">
                <a:latin typeface=""/>
                <a:ea typeface="Palatino" pitchFamily="2" charset="77"/>
                <a:cs typeface="Tahoma" panose="020B0604030504040204" pitchFamily="34" charset="0"/>
              </a:rPr>
              <a:t>&amp; </a:t>
            </a:r>
          </a:p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Tahoma" panose="020B0604030504040204" pitchFamily="34" charset="0"/>
              </a:rPr>
              <a:t>demonization</a:t>
            </a:r>
            <a:r>
              <a:rPr lang="en-US" sz="3200" dirty="0">
                <a:latin typeface=""/>
                <a:ea typeface="Palatino" pitchFamily="2" charset="77"/>
                <a:cs typeface="Tahoma" panose="020B0604030504040204" pitchFamily="34" charset="0"/>
              </a:rPr>
              <a:t> of protesters</a:t>
            </a:r>
          </a:p>
          <a:p>
            <a:pPr algn="l">
              <a:lnSpc>
                <a:spcPct val="150000"/>
              </a:lnSpc>
            </a:pPr>
            <a:r>
              <a:rPr lang="en-US" sz="3200" dirty="0">
                <a:latin typeface=""/>
                <a:ea typeface="Palatino" pitchFamily="2" charset="77"/>
                <a:cs typeface="Tahoma" panose="020B0604030504040204" pitchFamily="34" charset="0"/>
              </a:rPr>
              <a:t>Emphasis on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Tahoma" panose="020B0604030504040204" pitchFamily="34" charset="0"/>
              </a:rPr>
              <a:t>law enforcement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C5B84-0E2D-4BF0-F953-6C6BCBBA851C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47 </a:t>
            </a:r>
          </a:p>
        </p:txBody>
      </p:sp>
    </p:spTree>
    <p:extLst>
      <p:ext uri="{BB962C8B-B14F-4D97-AF65-F5344CB8AC3E}">
        <p14:creationId xmlns:p14="http://schemas.microsoft.com/office/powerpoint/2010/main" val="20332035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1B7C5-FB03-28EC-2E20-678EE4E0E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holding signs&#10;&#10;AI-generated content may be incorrect.">
            <a:extLst>
              <a:ext uri="{FF2B5EF4-FFF2-40B4-BE49-F238E27FC236}">
                <a16:creationId xmlns:a16="http://schemas.microsoft.com/office/drawing/2014/main" id="{E8E2D682-07E6-28C8-BD85-370201140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4" y="2030506"/>
            <a:ext cx="5809128" cy="343016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8703169-A889-AC58-0DC2-69E33A063C75}"/>
              </a:ext>
            </a:extLst>
          </p:cNvPr>
          <p:cNvSpPr txBox="1">
            <a:spLocks/>
          </p:cNvSpPr>
          <p:nvPr/>
        </p:nvSpPr>
        <p:spPr>
          <a:xfrm>
            <a:off x="6553199" y="5089832"/>
            <a:ext cx="6771491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Solidarity Framing</a:t>
            </a:r>
          </a:p>
          <a:p>
            <a:pPr algn="l">
              <a:lnSpc>
                <a:spcPct val="100000"/>
              </a:lnSpc>
            </a:pPr>
            <a:endParaRPr lang="en-US" sz="3200" b="1" dirty="0">
              <a:solidFill>
                <a:srgbClr val="964421"/>
              </a:solidFill>
              <a:latin typeface=""/>
              <a:ea typeface="Palatino" pitchFamily="2" charset="77"/>
              <a:cs typeface="Tahoma" panose="020B060403050404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Tahoma" panose="020B0604030504040204" pitchFamily="34" charset="0"/>
              </a:rPr>
              <a:t>Unity </a:t>
            </a:r>
            <a:r>
              <a:rPr lang="en-US" sz="3200" dirty="0">
                <a:latin typeface=""/>
                <a:ea typeface="Palatino" pitchFamily="2" charset="77"/>
                <a:cs typeface="Tahoma" panose="020B0604030504040204" pitchFamily="34" charset="0"/>
              </a:rPr>
              <a:t>&amp; </a:t>
            </a:r>
          </a:p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Tahoma" panose="020B0604030504040204" pitchFamily="34" charset="0"/>
              </a:rPr>
              <a:t>peaceful</a:t>
            </a:r>
            <a:r>
              <a:rPr lang="en-US" sz="3200" dirty="0">
                <a:latin typeface=""/>
                <a:ea typeface="Palatino" pitchFamily="2" charset="77"/>
                <a:cs typeface="Tahoma" panose="020B0604030504040204" pitchFamily="34" charset="0"/>
              </a:rPr>
              <a:t> protest scenes 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"/>
                <a:ea typeface="Palatino" pitchFamily="2" charset="77"/>
                <a:cs typeface="Tahoma" panose="020B0604030504040204" pitchFamily="34" charset="0"/>
              </a:rPr>
              <a:t>among protesters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026D9-73FA-A735-851E-1D29CE5177D5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48 </a:t>
            </a:r>
          </a:p>
        </p:txBody>
      </p:sp>
    </p:spTree>
    <p:extLst>
      <p:ext uri="{BB962C8B-B14F-4D97-AF65-F5344CB8AC3E}">
        <p14:creationId xmlns:p14="http://schemas.microsoft.com/office/powerpoint/2010/main" val="770796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936C-F6EA-65D3-022A-BE53C290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9502-49AB-FAA1-90AE-DC3BDE34F07B}"/>
              </a:ext>
            </a:extLst>
          </p:cNvPr>
          <p:cNvSpPr txBox="1">
            <a:spLocks/>
          </p:cNvSpPr>
          <p:nvPr/>
        </p:nvSpPr>
        <p:spPr>
          <a:xfrm>
            <a:off x="513080" y="968189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Theoretical Framework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of Visual Framing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"/>
                <a:ea typeface="Palatino" pitchFamily="2" charset="77"/>
                <a:cs typeface="Tahoma" panose="020B0604030504040204" pitchFamily="34" charset="0"/>
              </a:rPr>
              <a:t>Rodriguez &amp; Dimitrova (2011)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E09F54-E2A6-92C0-337D-F21F95A32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339381"/>
              </p:ext>
            </p:extLst>
          </p:nvPr>
        </p:nvGraphicFramePr>
        <p:xfrm>
          <a:off x="893482" y="1786714"/>
          <a:ext cx="10450158" cy="42292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82325">
                  <a:extLst>
                    <a:ext uri="{9D8B030D-6E8A-4147-A177-3AD203B41FA5}">
                      <a16:colId xmlns:a16="http://schemas.microsoft.com/office/drawing/2014/main" val="4107724763"/>
                    </a:ext>
                  </a:extLst>
                </a:gridCol>
                <a:gridCol w="6067833">
                  <a:extLst>
                    <a:ext uri="{9D8B030D-6E8A-4147-A177-3AD203B41FA5}">
                      <a16:colId xmlns:a16="http://schemas.microsoft.com/office/drawing/2014/main" val="4085453107"/>
                    </a:ext>
                  </a:extLst>
                </a:gridCol>
              </a:tblGrid>
              <a:tr h="6526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effectLst/>
                          <a:latin typeface=""/>
                          <a:ea typeface="Palatino" pitchFamily="2" charset="77"/>
                        </a:rPr>
                        <a:t>Levels of visual framing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effectLst/>
                          <a:latin typeface=""/>
                          <a:ea typeface="Palatino" pitchFamily="2" charset="77"/>
                        </a:rPr>
                        <a:t>Key questions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6072965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Denotative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Who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what</a:t>
                      </a:r>
                      <a:r>
                        <a:rPr lang="en-US" sz="2800" b="0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is being depicted?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4722319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Stylistic/Semiotic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How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is it visually presented?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4142920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Connotative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What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symbolic</a:t>
                      </a:r>
                      <a:r>
                        <a:rPr lang="en-US" sz="2800" b="0" i="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 </a:t>
                      </a:r>
                      <a:r>
                        <a:rPr lang="en-US" sz="2800" b="0" i="0" dirty="0">
                          <a:solidFill>
                            <a:schemeClr val="tx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emotional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meaning is conveyed in images?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007135"/>
                  </a:ext>
                </a:extLst>
              </a:tr>
              <a:tr h="10537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Ideological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What broader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values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ideologies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are implied?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14636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341AF8-9821-6750-904F-E1AF0B9B00A5}"/>
              </a:ext>
            </a:extLst>
          </p:cNvPr>
          <p:cNvCxnSpPr>
            <a:cxnSpLocks/>
          </p:cNvCxnSpPr>
          <p:nvPr/>
        </p:nvCxnSpPr>
        <p:spPr>
          <a:xfrm>
            <a:off x="607210" y="2971800"/>
            <a:ext cx="0" cy="23666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79CED2-990D-5EE2-DEC3-934D4025F5CD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49 </a:t>
            </a:r>
          </a:p>
        </p:txBody>
      </p:sp>
    </p:spTree>
    <p:extLst>
      <p:ext uri="{BB962C8B-B14F-4D97-AF65-F5344CB8AC3E}">
        <p14:creationId xmlns:p14="http://schemas.microsoft.com/office/powerpoint/2010/main" val="42796952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EBA6-31C1-F649-CE38-54721636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0AC2-79E8-D41C-C5A5-CA6CBF7DA2F2}"/>
              </a:ext>
            </a:extLst>
          </p:cNvPr>
          <p:cNvSpPr txBox="1">
            <a:spLocks/>
          </p:cNvSpPr>
          <p:nvPr/>
        </p:nvSpPr>
        <p:spPr>
          <a:xfrm>
            <a:off x="513080" y="968189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Theoretical Framework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of Visual Framing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"/>
                <a:ea typeface="Palatino" pitchFamily="2" charset="77"/>
                <a:cs typeface="Tahoma" panose="020B0604030504040204" pitchFamily="34" charset="0"/>
              </a:rPr>
              <a:t>Rodriguez &amp; Dimitrova (2011)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CFA3C3-CC30-19E2-43D9-E8D4C749CDBC}"/>
              </a:ext>
            </a:extLst>
          </p:cNvPr>
          <p:cNvGraphicFramePr>
            <a:graphicFrameLocks noGrp="1"/>
          </p:cNvGraphicFramePr>
          <p:nvPr/>
        </p:nvGraphicFramePr>
        <p:xfrm>
          <a:off x="893482" y="1786714"/>
          <a:ext cx="10450158" cy="42292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82325">
                  <a:extLst>
                    <a:ext uri="{9D8B030D-6E8A-4147-A177-3AD203B41FA5}">
                      <a16:colId xmlns:a16="http://schemas.microsoft.com/office/drawing/2014/main" val="4107724763"/>
                    </a:ext>
                  </a:extLst>
                </a:gridCol>
                <a:gridCol w="6067833">
                  <a:extLst>
                    <a:ext uri="{9D8B030D-6E8A-4147-A177-3AD203B41FA5}">
                      <a16:colId xmlns:a16="http://schemas.microsoft.com/office/drawing/2014/main" val="4085453107"/>
                    </a:ext>
                  </a:extLst>
                </a:gridCol>
              </a:tblGrid>
              <a:tr h="6526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effectLst/>
                          <a:latin typeface=""/>
                          <a:ea typeface="Palatino" pitchFamily="2" charset="77"/>
                        </a:rPr>
                        <a:t>Levels of visual framing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effectLst/>
                          <a:latin typeface=""/>
                          <a:ea typeface="Palatino" pitchFamily="2" charset="77"/>
                        </a:rPr>
                        <a:t>Key questions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6072965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Denotative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Who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what</a:t>
                      </a:r>
                      <a:r>
                        <a:rPr lang="en-US" sz="2800" b="0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is being depicted?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4722319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Stylistic/Semiotic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How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is it visually presented?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4142920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Connotative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What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symbolic</a:t>
                      </a:r>
                      <a:r>
                        <a:rPr lang="en-US" sz="2800" b="0" i="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 </a:t>
                      </a:r>
                      <a:r>
                        <a:rPr lang="en-US" sz="2800" b="0" i="0" dirty="0">
                          <a:solidFill>
                            <a:schemeClr val="tx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emotional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meaning is conveyed in images?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007135"/>
                  </a:ext>
                </a:extLst>
              </a:tr>
              <a:tr h="10537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Ideological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What broader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values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ideologies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are implied?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14636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A2DEE7-6CF8-F548-B993-38D514DBDC65}"/>
              </a:ext>
            </a:extLst>
          </p:cNvPr>
          <p:cNvCxnSpPr>
            <a:cxnSpLocks/>
          </p:cNvCxnSpPr>
          <p:nvPr/>
        </p:nvCxnSpPr>
        <p:spPr>
          <a:xfrm>
            <a:off x="607210" y="2971800"/>
            <a:ext cx="0" cy="23666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4C7745C-F28A-D4FF-6C75-D12BD01DA2AF}"/>
              </a:ext>
            </a:extLst>
          </p:cNvPr>
          <p:cNvSpPr/>
          <p:nvPr/>
        </p:nvSpPr>
        <p:spPr>
          <a:xfrm>
            <a:off x="712694" y="4975412"/>
            <a:ext cx="10932459" cy="109431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6442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6B4B4-835B-6838-0FFA-7500EF93408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50 </a:t>
            </a:r>
          </a:p>
        </p:txBody>
      </p:sp>
    </p:spTree>
    <p:extLst>
      <p:ext uri="{BB962C8B-B14F-4D97-AF65-F5344CB8AC3E}">
        <p14:creationId xmlns:p14="http://schemas.microsoft.com/office/powerpoint/2010/main" val="14180833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9368-F99C-E8CC-1E96-120BA041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CE13D8C9-491E-F3C5-273D-943645915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3148490-CB6A-9DA5-7F9E-4FFB30A3736E}"/>
              </a:ext>
            </a:extLst>
          </p:cNvPr>
          <p:cNvSpPr/>
          <p:nvPr/>
        </p:nvSpPr>
        <p:spPr>
          <a:xfrm>
            <a:off x="4800600" y="3065929"/>
            <a:ext cx="2729753" cy="2971800"/>
          </a:xfrm>
          <a:prstGeom prst="ellipse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5AA0DA-20F7-5DFA-7319-8855424AA9B5}"/>
              </a:ext>
            </a:extLst>
          </p:cNvPr>
          <p:cNvSpPr txBox="1">
            <a:spLocks/>
          </p:cNvSpPr>
          <p:nvPr/>
        </p:nvSpPr>
        <p:spPr>
          <a:xfrm>
            <a:off x="2115073" y="5931319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Denotative: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Protester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5D539-90FD-1E22-8405-59344440D94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51 </a:t>
            </a:r>
          </a:p>
        </p:txBody>
      </p:sp>
    </p:spTree>
    <p:extLst>
      <p:ext uri="{BB962C8B-B14F-4D97-AF65-F5344CB8AC3E}">
        <p14:creationId xmlns:p14="http://schemas.microsoft.com/office/powerpoint/2010/main" val="36430249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D9F97-9062-BD98-65F9-C51399C9E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C23A82F8-6A75-0331-9E45-CB94BDD0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C8F5EF-EBEF-8AFF-5773-489E544F4AC4}"/>
              </a:ext>
            </a:extLst>
          </p:cNvPr>
          <p:cNvCxnSpPr/>
          <p:nvPr/>
        </p:nvCxnSpPr>
        <p:spPr>
          <a:xfrm>
            <a:off x="2366683" y="2460812"/>
            <a:ext cx="1385047" cy="1116106"/>
          </a:xfrm>
          <a:prstGeom prst="straightConnector1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7B06233-5A14-9131-B1FA-C54910235E94}"/>
              </a:ext>
            </a:extLst>
          </p:cNvPr>
          <p:cNvSpPr txBox="1">
            <a:spLocks/>
          </p:cNvSpPr>
          <p:nvPr/>
        </p:nvSpPr>
        <p:spPr>
          <a:xfrm>
            <a:off x="-668601" y="1053383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Semiotic: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Dark background; camera angle 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CACB1-9C90-D8CF-809F-FF081FEF6008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52 </a:t>
            </a:r>
          </a:p>
        </p:txBody>
      </p:sp>
    </p:spTree>
    <p:extLst>
      <p:ext uri="{BB962C8B-B14F-4D97-AF65-F5344CB8AC3E}">
        <p14:creationId xmlns:p14="http://schemas.microsoft.com/office/powerpoint/2010/main" val="1786306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7A99-596F-41BE-44E1-688A623A3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4545D614-1B63-19EC-CDF8-5C5D1F5BA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4062A8-4D13-1BC9-C389-C0ECDF9907AA}"/>
              </a:ext>
            </a:extLst>
          </p:cNvPr>
          <p:cNvSpPr txBox="1">
            <a:spLocks/>
          </p:cNvSpPr>
          <p:nvPr/>
        </p:nvSpPr>
        <p:spPr>
          <a:xfrm>
            <a:off x="680720" y="1197954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Connotative: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marginalization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2F7B64-C8D4-5A4A-2274-DC7D7BEE75F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53 </a:t>
            </a:r>
          </a:p>
        </p:txBody>
      </p:sp>
    </p:spTree>
    <p:extLst>
      <p:ext uri="{BB962C8B-B14F-4D97-AF65-F5344CB8AC3E}">
        <p14:creationId xmlns:p14="http://schemas.microsoft.com/office/powerpoint/2010/main" val="10737872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550F-963A-E70B-D5F4-E274061AF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64005221-7762-872F-0680-6B162F28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6E7CFD0-655B-41E4-62C4-645F2C79E27A}"/>
              </a:ext>
            </a:extLst>
          </p:cNvPr>
          <p:cNvSpPr txBox="1">
            <a:spLocks/>
          </p:cNvSpPr>
          <p:nvPr/>
        </p:nvSpPr>
        <p:spPr>
          <a:xfrm>
            <a:off x="680720" y="1197954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Ideological: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protest paradigm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5F3C1-7C52-5456-580F-1BF1B1384C8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54 </a:t>
            </a:r>
          </a:p>
        </p:txBody>
      </p:sp>
    </p:spTree>
    <p:extLst>
      <p:ext uri="{BB962C8B-B14F-4D97-AF65-F5344CB8AC3E}">
        <p14:creationId xmlns:p14="http://schemas.microsoft.com/office/powerpoint/2010/main" val="15842203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4538B-136F-16AD-D2C8-FD112984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D9D9-B4B5-92F4-3FD0-0552FBACFA43}"/>
              </a:ext>
            </a:extLst>
          </p:cNvPr>
          <p:cNvSpPr txBox="1">
            <a:spLocks/>
          </p:cNvSpPr>
          <p:nvPr/>
        </p:nvSpPr>
        <p:spPr>
          <a:xfrm>
            <a:off x="652376" y="4007224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</a:rPr>
              <a:t>Before generative AI, </a:t>
            </a:r>
          </a:p>
          <a:p>
            <a:pPr algn="l"/>
            <a:r>
              <a:rPr lang="en-US" sz="5400" dirty="0">
                <a:latin typeface=""/>
              </a:rPr>
              <a:t>most computer vision approaches </a:t>
            </a:r>
          </a:p>
          <a:p>
            <a:pPr algn="l"/>
            <a:r>
              <a:rPr lang="en-US" sz="5400" dirty="0">
                <a:latin typeface=""/>
              </a:rPr>
              <a:t>were only </a:t>
            </a:r>
            <a:r>
              <a:rPr lang="en-US" sz="5400" b="1" dirty="0">
                <a:solidFill>
                  <a:srgbClr val="964421"/>
                </a:solidFill>
                <a:latin typeface=""/>
              </a:rPr>
              <a:t>partially aligned</a:t>
            </a:r>
            <a:r>
              <a:rPr lang="en-US" sz="5400" dirty="0">
                <a:latin typeface=""/>
              </a:rPr>
              <a:t>.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DE099-423C-FCCD-749E-F6256B740C7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55 </a:t>
            </a:r>
          </a:p>
        </p:txBody>
      </p:sp>
    </p:spTree>
    <p:extLst>
      <p:ext uri="{BB962C8B-B14F-4D97-AF65-F5344CB8AC3E}">
        <p14:creationId xmlns:p14="http://schemas.microsoft.com/office/powerpoint/2010/main" val="15530390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FC06-9912-3680-DF6D-61CFE2C2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able with black text&#10;&#10;AI-generated content may be incorrect.">
            <a:extLst>
              <a:ext uri="{FF2B5EF4-FFF2-40B4-BE49-F238E27FC236}">
                <a16:creationId xmlns:a16="http://schemas.microsoft.com/office/drawing/2014/main" id="{B6A6172C-5640-E461-F3D1-BAE9A54A8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69" y="413267"/>
            <a:ext cx="10046495" cy="6256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13A5CE-E55E-8C18-5781-E33FD59B9D85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56 </a:t>
            </a:r>
          </a:p>
        </p:txBody>
      </p:sp>
    </p:spTree>
    <p:extLst>
      <p:ext uri="{BB962C8B-B14F-4D97-AF65-F5344CB8AC3E}">
        <p14:creationId xmlns:p14="http://schemas.microsoft.com/office/powerpoint/2010/main" val="32071708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23F1-36C4-FEEC-5BEB-E9803219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3E9C-5B68-DA9E-394A-E27AEBB3F44A}"/>
              </a:ext>
            </a:extLst>
          </p:cNvPr>
          <p:cNvSpPr txBox="1">
            <a:spLocks/>
          </p:cNvSpPr>
          <p:nvPr/>
        </p:nvSpPr>
        <p:spPr>
          <a:xfrm>
            <a:off x="450670" y="4141694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</a:rPr>
              <a:t>Generative AI tools can help </a:t>
            </a:r>
          </a:p>
          <a:p>
            <a:pPr algn="l"/>
            <a:r>
              <a:rPr lang="en-US" sz="5400" dirty="0">
                <a:latin typeface=""/>
              </a:rPr>
              <a:t>identify visual framing </a:t>
            </a:r>
          </a:p>
          <a:p>
            <a:pPr algn="l"/>
            <a:r>
              <a:rPr lang="en-US" sz="5400" dirty="0">
                <a:latin typeface=""/>
              </a:rPr>
              <a:t>at all levels.</a:t>
            </a:r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A85C8-04EC-977B-4320-86715142B6F0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57 </a:t>
            </a:r>
          </a:p>
        </p:txBody>
      </p:sp>
    </p:spTree>
    <p:extLst>
      <p:ext uri="{BB962C8B-B14F-4D97-AF65-F5344CB8AC3E}">
        <p14:creationId xmlns:p14="http://schemas.microsoft.com/office/powerpoint/2010/main" val="3047641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FA92F-6194-9767-6379-D90BC2D2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1AFB6BEB-FD28-9FA2-AD0A-91A393C18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7915586-AD6D-532F-9818-7462C19CE2D0}"/>
              </a:ext>
            </a:extLst>
          </p:cNvPr>
          <p:cNvSpPr txBox="1">
            <a:spLocks/>
          </p:cNvSpPr>
          <p:nvPr/>
        </p:nvSpPr>
        <p:spPr>
          <a:xfrm>
            <a:off x="750196" y="1035424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Prompt: </a:t>
            </a:r>
            <a:r>
              <a:rPr lang="en-US" sz="3600" dirty="0">
                <a:latin typeface=""/>
              </a:rPr>
              <a:t>Is there a protester in this image?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613AA-5609-8992-AFC7-7194D1118BD4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58 </a:t>
            </a:r>
          </a:p>
        </p:txBody>
      </p:sp>
    </p:spTree>
    <p:extLst>
      <p:ext uri="{BB962C8B-B14F-4D97-AF65-F5344CB8AC3E}">
        <p14:creationId xmlns:p14="http://schemas.microsoft.com/office/powerpoint/2010/main" val="20601904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C00D-BAD0-2DCE-278B-F294F25A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7BC22D6D-F945-1BE7-AC2E-8CB4C1CAA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DAC8F6B-E6E0-7A0A-E630-FAA984512DE5}"/>
              </a:ext>
            </a:extLst>
          </p:cNvPr>
          <p:cNvSpPr txBox="1">
            <a:spLocks/>
          </p:cNvSpPr>
          <p:nvPr/>
        </p:nvSpPr>
        <p:spPr>
          <a:xfrm>
            <a:off x="750196" y="1035424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Prompt: </a:t>
            </a:r>
            <a:r>
              <a:rPr lang="en-US" sz="3600" dirty="0">
                <a:latin typeface=""/>
              </a:rPr>
              <a:t>What is the dominant color in the image?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E7852-4FF0-CC91-77E3-BD4F794971A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59 </a:t>
            </a:r>
          </a:p>
        </p:txBody>
      </p:sp>
    </p:spTree>
    <p:extLst>
      <p:ext uri="{BB962C8B-B14F-4D97-AF65-F5344CB8AC3E}">
        <p14:creationId xmlns:p14="http://schemas.microsoft.com/office/powerpoint/2010/main" val="33510377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BE7B5-5F2B-26D7-1E33-DC24BD3F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F0C4B253-2D6C-5287-AD87-679B4511C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B46924F-5079-DBC5-CAED-421B1E4E4351}"/>
              </a:ext>
            </a:extLst>
          </p:cNvPr>
          <p:cNvSpPr txBox="1">
            <a:spLocks/>
          </p:cNvSpPr>
          <p:nvPr/>
        </p:nvSpPr>
        <p:spPr>
          <a:xfrm>
            <a:off x="680720" y="1129553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Prompt: </a:t>
            </a:r>
            <a:r>
              <a:rPr lang="en-US" sz="3600" dirty="0">
                <a:latin typeface=""/>
              </a:rPr>
              <a:t>Is the protester visually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</a:rPr>
              <a:t>marginalized in the image?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D84D7-15B3-4494-0E2D-DA1BEEEC2A4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60 </a:t>
            </a:r>
          </a:p>
        </p:txBody>
      </p:sp>
    </p:spTree>
    <p:extLst>
      <p:ext uri="{BB962C8B-B14F-4D97-AF65-F5344CB8AC3E}">
        <p14:creationId xmlns:p14="http://schemas.microsoft.com/office/powerpoint/2010/main" val="30268372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7A48-1E67-3325-4462-3D19AE07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6A5AC78F-748C-9B82-E9EC-7A7A24AD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1B0E79E-112F-D15D-3A15-729FE7B1571A}"/>
              </a:ext>
            </a:extLst>
          </p:cNvPr>
          <p:cNvSpPr txBox="1">
            <a:spLocks/>
          </p:cNvSpPr>
          <p:nvPr/>
        </p:nvSpPr>
        <p:spPr>
          <a:xfrm>
            <a:off x="680720" y="1129553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Prompt: </a:t>
            </a:r>
            <a:r>
              <a:rPr lang="en-US" sz="3600" dirty="0">
                <a:latin typeface=""/>
              </a:rPr>
              <a:t>Does this image represent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</a:rPr>
              <a:t>the protest paradigm?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0E0B06-10A8-80F0-F298-E4ECCC5C856C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61 </a:t>
            </a:r>
          </a:p>
        </p:txBody>
      </p:sp>
    </p:spTree>
    <p:extLst>
      <p:ext uri="{BB962C8B-B14F-4D97-AF65-F5344CB8AC3E}">
        <p14:creationId xmlns:p14="http://schemas.microsoft.com/office/powerpoint/2010/main" val="17810343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D6A4-8AC1-4B20-57AF-35EB8D8E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per with text on it&#10;&#10;AI-generated content may be incorrect.">
            <a:extLst>
              <a:ext uri="{FF2B5EF4-FFF2-40B4-BE49-F238E27FC236}">
                <a16:creationId xmlns:a16="http://schemas.microsoft.com/office/drawing/2014/main" id="{A12DEC1B-CA6F-D835-6147-EEC40DC7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630" y="1248335"/>
            <a:ext cx="7772400" cy="34828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430C40-0332-9DFF-8CE8-D5BB599E2BFD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62 </a:t>
            </a:r>
          </a:p>
        </p:txBody>
      </p:sp>
    </p:spTree>
    <p:extLst>
      <p:ext uri="{BB962C8B-B14F-4D97-AF65-F5344CB8AC3E}">
        <p14:creationId xmlns:p14="http://schemas.microsoft.com/office/powerpoint/2010/main" val="5586592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C8C7B-C71B-63A3-0D8F-EE195F3E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diagram&#10;&#10;AI-generated content may be incorrect.">
            <a:extLst>
              <a:ext uri="{FF2B5EF4-FFF2-40B4-BE49-F238E27FC236}">
                <a16:creationId xmlns:a16="http://schemas.microsoft.com/office/drawing/2014/main" id="{F84C3C03-315C-AFB7-026A-71F397397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471" y="601631"/>
            <a:ext cx="7270376" cy="5654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B99127-5566-40DB-62D8-DD1335286B27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63 </a:t>
            </a:r>
          </a:p>
        </p:txBody>
      </p:sp>
    </p:spTree>
    <p:extLst>
      <p:ext uri="{BB962C8B-B14F-4D97-AF65-F5344CB8AC3E}">
        <p14:creationId xmlns:p14="http://schemas.microsoft.com/office/powerpoint/2010/main" val="32669401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04E7-F4DE-FDEF-953F-D8CB38B4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ocument with text on it&#10;&#10;AI-generated content may be incorrect.">
            <a:extLst>
              <a:ext uri="{FF2B5EF4-FFF2-40B4-BE49-F238E27FC236}">
                <a16:creationId xmlns:a16="http://schemas.microsoft.com/office/drawing/2014/main" id="{53314E20-4DE7-A1F9-A79F-E85F0255D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450" y="596900"/>
            <a:ext cx="7023100" cy="5664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943311-4866-D80A-C346-42A9AFEDF15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64 </a:t>
            </a:r>
          </a:p>
        </p:txBody>
      </p:sp>
    </p:spTree>
    <p:extLst>
      <p:ext uri="{BB962C8B-B14F-4D97-AF65-F5344CB8AC3E}">
        <p14:creationId xmlns:p14="http://schemas.microsoft.com/office/powerpoint/2010/main" val="11975884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AF2FD-49DB-4FB1-BA36-F0BCE9F9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text&#10;&#10;AI-generated content may be incorrect.">
            <a:extLst>
              <a:ext uri="{FF2B5EF4-FFF2-40B4-BE49-F238E27FC236}">
                <a16:creationId xmlns:a16="http://schemas.microsoft.com/office/drawing/2014/main" id="{00249C7C-E9FD-C2E2-86FF-779681467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9" y="1615515"/>
            <a:ext cx="6096000" cy="3949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7A37622-8281-4E2E-706D-66FD4407EC48}"/>
              </a:ext>
            </a:extLst>
          </p:cNvPr>
          <p:cNvSpPr txBox="1">
            <a:spLocks/>
          </p:cNvSpPr>
          <p:nvPr/>
        </p:nvSpPr>
        <p:spPr>
          <a:xfrm>
            <a:off x="6676657" y="4231342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latin typeface=""/>
              </a:rPr>
              <a:t>GPT-4o’s strength:</a:t>
            </a:r>
          </a:p>
          <a:p>
            <a:pPr algn="l"/>
            <a:endParaRPr lang="en-US" sz="2800" dirty="0">
              <a:latin typeface=""/>
            </a:endParaRPr>
          </a:p>
          <a:p>
            <a:pPr algn="l"/>
            <a:r>
              <a:rPr lang="en-US" sz="2800" dirty="0">
                <a:latin typeface=""/>
              </a:rPr>
              <a:t>Capturing </a:t>
            </a:r>
            <a:r>
              <a:rPr lang="en-US" sz="2800" b="1" dirty="0">
                <a:latin typeface=""/>
              </a:rPr>
              <a:t>denotative</a:t>
            </a:r>
            <a:r>
              <a:rPr lang="en-US" sz="2800" dirty="0">
                <a:latin typeface=""/>
              </a:rPr>
              <a:t> frames</a:t>
            </a:r>
          </a:p>
          <a:p>
            <a:pPr algn="l"/>
            <a:endParaRPr lang="en-US" sz="28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GPT-4o’s weakness:</a:t>
            </a:r>
          </a:p>
          <a:p>
            <a:pPr algn="l"/>
            <a:endParaRPr lang="en-US" sz="28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Capturing </a:t>
            </a:r>
            <a:r>
              <a:rPr lang="en-US" sz="2800" b="1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semiotic </a:t>
            </a:r>
          </a:p>
          <a:p>
            <a:pPr algn="l"/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and </a:t>
            </a:r>
            <a:r>
              <a:rPr lang="en-US" sz="2800" b="1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connotative</a:t>
            </a:r>
            <a:r>
              <a:rPr lang="en-US" sz="28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frames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8FA1F-BC46-0E4F-DD8C-FD6351D95E5E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65 </a:t>
            </a:r>
          </a:p>
        </p:txBody>
      </p:sp>
    </p:spTree>
    <p:extLst>
      <p:ext uri="{BB962C8B-B14F-4D97-AF65-F5344CB8AC3E}">
        <p14:creationId xmlns:p14="http://schemas.microsoft.com/office/powerpoint/2010/main" val="31689863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247E2-D627-0BEC-A440-BB61C170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4721-56FF-603F-CE7F-2C6B28C827B6}"/>
              </a:ext>
            </a:extLst>
          </p:cNvPr>
          <p:cNvSpPr txBox="1">
            <a:spLocks/>
          </p:cNvSpPr>
          <p:nvPr/>
        </p:nvSpPr>
        <p:spPr>
          <a:xfrm>
            <a:off x="513080" y="968189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Theoretical Framework </a:t>
            </a:r>
            <a:r>
              <a:rPr lang="en-US" sz="3600" dirty="0">
                <a:latin typeface=""/>
                <a:ea typeface="Palatino" pitchFamily="2" charset="77"/>
                <a:cs typeface="Tahoma" panose="020B0604030504040204" pitchFamily="34" charset="0"/>
              </a:rPr>
              <a:t>of Visual Framing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"/>
                <a:ea typeface="Palatino" pitchFamily="2" charset="77"/>
                <a:cs typeface="Tahoma" panose="020B0604030504040204" pitchFamily="34" charset="0"/>
              </a:rPr>
              <a:t>Rodriguez &amp; Dimitrova (2011)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E4F7D4-8099-4031-04F3-DCE7112EC1BE}"/>
              </a:ext>
            </a:extLst>
          </p:cNvPr>
          <p:cNvGraphicFramePr>
            <a:graphicFrameLocks noGrp="1"/>
          </p:cNvGraphicFramePr>
          <p:nvPr/>
        </p:nvGraphicFramePr>
        <p:xfrm>
          <a:off x="893482" y="1786714"/>
          <a:ext cx="10450158" cy="42292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82325">
                  <a:extLst>
                    <a:ext uri="{9D8B030D-6E8A-4147-A177-3AD203B41FA5}">
                      <a16:colId xmlns:a16="http://schemas.microsoft.com/office/drawing/2014/main" val="4107724763"/>
                    </a:ext>
                  </a:extLst>
                </a:gridCol>
                <a:gridCol w="6067833">
                  <a:extLst>
                    <a:ext uri="{9D8B030D-6E8A-4147-A177-3AD203B41FA5}">
                      <a16:colId xmlns:a16="http://schemas.microsoft.com/office/drawing/2014/main" val="4085453107"/>
                    </a:ext>
                  </a:extLst>
                </a:gridCol>
              </a:tblGrid>
              <a:tr h="6526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effectLst/>
                          <a:latin typeface=""/>
                          <a:ea typeface="Palatino" pitchFamily="2" charset="77"/>
                        </a:rPr>
                        <a:t>Levels of visual framing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effectLst/>
                          <a:latin typeface=""/>
                          <a:ea typeface="Palatino" pitchFamily="2" charset="77"/>
                        </a:rPr>
                        <a:t>Key questions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6072965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Denotative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Who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what</a:t>
                      </a:r>
                      <a:r>
                        <a:rPr lang="en-US" sz="2800" b="0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is being depicted?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4722319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Stylistic/Semiotic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How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is it visually presented?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4142920"/>
                  </a:ext>
                </a:extLst>
              </a:tr>
              <a:tr h="7915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Connotative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What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symbolic</a:t>
                      </a:r>
                      <a:r>
                        <a:rPr lang="en-US" sz="2800" b="0" i="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 </a:t>
                      </a:r>
                      <a:r>
                        <a:rPr lang="en-US" sz="2800" b="0" i="0" dirty="0">
                          <a:solidFill>
                            <a:schemeClr val="tx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emotional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meaning is conveyed in images?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007135"/>
                  </a:ext>
                </a:extLst>
              </a:tr>
              <a:tr h="10537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Ideological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What broader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values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 or </a:t>
                      </a:r>
                      <a:r>
                        <a:rPr lang="en-US" sz="2800" b="1" i="0" dirty="0">
                          <a:solidFill>
                            <a:srgbClr val="964421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ideologies </a:t>
                      </a:r>
                      <a:r>
                        <a:rPr lang="en-US" sz="2800" b="0" i="0" dirty="0">
                          <a:effectLst/>
                          <a:latin typeface=""/>
                          <a:ea typeface="Palatino" pitchFamily="2" charset="77"/>
                        </a:rPr>
                        <a:t>are implied?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14636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857CBF-BB9B-5E36-3EAF-E54F33C0DC15}"/>
              </a:ext>
            </a:extLst>
          </p:cNvPr>
          <p:cNvCxnSpPr>
            <a:cxnSpLocks/>
          </p:cNvCxnSpPr>
          <p:nvPr/>
        </p:nvCxnSpPr>
        <p:spPr>
          <a:xfrm>
            <a:off x="607210" y="2971800"/>
            <a:ext cx="0" cy="23666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285BC63-238D-8529-E9BC-818ED268EFD3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66 </a:t>
            </a:r>
          </a:p>
        </p:txBody>
      </p:sp>
    </p:spTree>
    <p:extLst>
      <p:ext uri="{BB962C8B-B14F-4D97-AF65-F5344CB8AC3E}">
        <p14:creationId xmlns:p14="http://schemas.microsoft.com/office/powerpoint/2010/main" val="31465923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88CE-3D07-B569-0AFE-4E60C0FD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C2C00BC4-B968-995A-8AA6-1565DE2E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5E8A2AE-3B7B-35E0-9324-0BEC321284B8}"/>
              </a:ext>
            </a:extLst>
          </p:cNvPr>
          <p:cNvSpPr txBox="1">
            <a:spLocks/>
          </p:cNvSpPr>
          <p:nvPr/>
        </p:nvSpPr>
        <p:spPr>
          <a:xfrm>
            <a:off x="680720" y="1129553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Prompt: </a:t>
            </a:r>
            <a:r>
              <a:rPr lang="en-US" sz="3600" dirty="0">
                <a:latin typeface=""/>
              </a:rPr>
              <a:t>Does this image represent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</a:rPr>
              <a:t>the protest paradigm?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DC2D-E1DA-398C-198F-78CE58083E15}"/>
              </a:ext>
            </a:extLst>
          </p:cNvPr>
          <p:cNvSpPr txBox="1">
            <a:spLocks/>
          </p:cNvSpPr>
          <p:nvPr/>
        </p:nvSpPr>
        <p:spPr>
          <a:xfrm>
            <a:off x="806227" y="5554801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GPT- 4o: </a:t>
            </a:r>
            <a:r>
              <a:rPr lang="en-US" sz="3600" dirty="0">
                <a:latin typeface=""/>
              </a:rPr>
              <a:t>Yes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F1D0F-4D2C-B340-284C-8F2FEF718549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67 </a:t>
            </a:r>
          </a:p>
        </p:txBody>
      </p:sp>
    </p:spTree>
    <p:extLst>
      <p:ext uri="{BB962C8B-B14F-4D97-AF65-F5344CB8AC3E}">
        <p14:creationId xmlns:p14="http://schemas.microsoft.com/office/powerpoint/2010/main" val="31650586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3EF7-8D40-9A4B-6F82-57098151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B7C0-1BB9-56B2-9B1E-3BE4EF43FD80}"/>
              </a:ext>
            </a:extLst>
          </p:cNvPr>
          <p:cNvSpPr txBox="1">
            <a:spLocks/>
          </p:cNvSpPr>
          <p:nvPr/>
        </p:nvSpPr>
        <p:spPr>
          <a:xfrm>
            <a:off x="450670" y="4141694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</a:rPr>
              <a:t>It is hard to know which </a:t>
            </a:r>
            <a:r>
              <a:rPr lang="en-US" sz="5400" b="1" dirty="0">
                <a:solidFill>
                  <a:srgbClr val="964421"/>
                </a:solidFill>
                <a:latin typeface=""/>
              </a:rPr>
              <a:t>denotative/ semiotic</a:t>
            </a:r>
            <a:r>
              <a:rPr lang="en-US" sz="5400" dirty="0">
                <a:latin typeface=""/>
              </a:rPr>
              <a:t> elements contributed to </a:t>
            </a:r>
            <a:r>
              <a:rPr lang="en-US" sz="5400" b="1" dirty="0">
                <a:solidFill>
                  <a:srgbClr val="964421"/>
                </a:solidFill>
                <a:latin typeface=""/>
              </a:rPr>
              <a:t>connotative/ideological</a:t>
            </a:r>
            <a:r>
              <a:rPr lang="en-US" sz="5400" dirty="0">
                <a:latin typeface=""/>
              </a:rPr>
              <a:t> frames</a:t>
            </a:r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07BDD-7D6B-3C3B-1B3C-40DD32353E2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68 </a:t>
            </a:r>
          </a:p>
        </p:txBody>
      </p:sp>
    </p:spTree>
    <p:extLst>
      <p:ext uri="{BB962C8B-B14F-4D97-AF65-F5344CB8AC3E}">
        <p14:creationId xmlns:p14="http://schemas.microsoft.com/office/powerpoint/2010/main" val="313863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4A3F-596A-BB9C-0918-90C3975A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BC51-9516-121B-D658-863C5BCD318D}"/>
              </a:ext>
            </a:extLst>
          </p:cNvPr>
          <p:cNvSpPr txBox="1">
            <a:spLocks/>
          </p:cNvSpPr>
          <p:nvPr/>
        </p:nvSpPr>
        <p:spPr>
          <a:xfrm>
            <a:off x="638929" y="3792071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Toward a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theoretical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and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interpretive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computational framework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12959-6AF8-AC8E-4790-D02A453A2007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69 </a:t>
            </a:r>
          </a:p>
        </p:txBody>
      </p:sp>
    </p:spTree>
    <p:extLst>
      <p:ext uri="{BB962C8B-B14F-4D97-AF65-F5344CB8AC3E}">
        <p14:creationId xmlns:p14="http://schemas.microsoft.com/office/powerpoint/2010/main" val="11405751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3DAA-48AA-7871-06F5-842F4DBF4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95BE-0423-D528-601F-C62F83A7794B}"/>
              </a:ext>
            </a:extLst>
          </p:cNvPr>
          <p:cNvSpPr txBox="1">
            <a:spLocks/>
          </p:cNvSpPr>
          <p:nvPr/>
        </p:nvSpPr>
        <p:spPr>
          <a:xfrm>
            <a:off x="625482" y="4787153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Toward a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theoretical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and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interpretive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computational framework</a:t>
            </a: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: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Three-stage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framework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40192-E073-FF79-0E6A-896CA1FC60AC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70 </a:t>
            </a:r>
          </a:p>
        </p:txBody>
      </p:sp>
    </p:spTree>
    <p:extLst>
      <p:ext uri="{BB962C8B-B14F-4D97-AF65-F5344CB8AC3E}">
        <p14:creationId xmlns:p14="http://schemas.microsoft.com/office/powerpoint/2010/main" val="16898823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44A3-D548-0134-0B43-0F3E8C04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3.png">
            <a:extLst>
              <a:ext uri="{FF2B5EF4-FFF2-40B4-BE49-F238E27FC236}">
                <a16:creationId xmlns:a16="http://schemas.microsoft.com/office/drawing/2014/main" id="{70E1ACB3-D963-8278-EFBC-ADC0D46C3D6B}"/>
              </a:ext>
            </a:extLst>
          </p:cNvPr>
          <p:cNvPicPr/>
          <p:nvPr/>
        </p:nvPicPr>
        <p:blipFill>
          <a:blip r:embed="rId2"/>
          <a:srcRect b="9967"/>
          <a:stretch/>
        </p:blipFill>
        <p:spPr>
          <a:xfrm>
            <a:off x="819751" y="2842181"/>
            <a:ext cx="4754245" cy="3235885"/>
          </a:xfrm>
          <a:prstGeom prst="rect">
            <a:avLst/>
          </a:prstGeom>
          <a:ln/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9E48FC01-8BE8-9BDD-B91B-0D5E508C1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88"/>
          <a:stretch/>
        </p:blipFill>
        <p:spPr>
          <a:xfrm>
            <a:off x="5573996" y="2729748"/>
            <a:ext cx="6353844" cy="34693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B29CC9-C3C3-6023-B11C-41CDA4C8E855}"/>
              </a:ext>
            </a:extLst>
          </p:cNvPr>
          <p:cNvSpPr txBox="1"/>
          <p:nvPr/>
        </p:nvSpPr>
        <p:spPr>
          <a:xfrm>
            <a:off x="980275" y="1767050"/>
            <a:ext cx="44331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"/>
                <a:ea typeface="Palatino" pitchFamily="2" charset="77"/>
              </a:rPr>
              <a:t>Classifying denotative features with GPT-4o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AE5F8-8FF0-11B4-AE70-0CF31B4B8DF0}"/>
              </a:ext>
            </a:extLst>
          </p:cNvPr>
          <p:cNvSpPr txBox="1"/>
          <p:nvPr/>
        </p:nvSpPr>
        <p:spPr>
          <a:xfrm>
            <a:off x="6534320" y="1802535"/>
            <a:ext cx="44331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"/>
                <a:ea typeface="Palatino" pitchFamily="2" charset="77"/>
              </a:rPr>
              <a:t>Classifying semiotic features with CV2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000C4DF-8FC1-5AD8-4B9F-8BC87AC36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32157DC-121E-6EA4-6422-5E311817BF17}"/>
              </a:ext>
            </a:extLst>
          </p:cNvPr>
          <p:cNvSpPr txBox="1">
            <a:spLocks/>
          </p:cNvSpPr>
          <p:nvPr/>
        </p:nvSpPr>
        <p:spPr>
          <a:xfrm>
            <a:off x="680720" y="828045"/>
            <a:ext cx="1083056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Stage 1. Identify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denotative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and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semiotic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elements</a:t>
            </a: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524EB-D7D1-A109-F835-EEB7E86EE274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71 </a:t>
            </a:r>
          </a:p>
        </p:txBody>
      </p:sp>
    </p:spTree>
    <p:extLst>
      <p:ext uri="{BB962C8B-B14F-4D97-AF65-F5344CB8AC3E}">
        <p14:creationId xmlns:p14="http://schemas.microsoft.com/office/powerpoint/2010/main" val="39484703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0CA58-45D1-65B5-174B-9CABB0F9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82750E8-F99C-C61B-5CC1-86F459F57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42AFE0E-A772-0847-E7E1-3B32EC60EBE7}"/>
              </a:ext>
            </a:extLst>
          </p:cNvPr>
          <p:cNvSpPr txBox="1">
            <a:spLocks/>
          </p:cNvSpPr>
          <p:nvPr/>
        </p:nvSpPr>
        <p:spPr>
          <a:xfrm>
            <a:off x="324632" y="424054"/>
            <a:ext cx="1293212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Stage 2.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Explain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relationship between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lower-level</a:t>
            </a:r>
          </a:p>
          <a:p>
            <a:pPr algn="l">
              <a:lnSpc>
                <a:spcPct val="100000"/>
              </a:lnSpc>
            </a:pP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and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higher-level frames 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through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logistic regression</a:t>
            </a: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pic>
        <p:nvPicPr>
          <p:cNvPr id="2" name="image3.png">
            <a:extLst>
              <a:ext uri="{FF2B5EF4-FFF2-40B4-BE49-F238E27FC236}">
                <a16:creationId xmlns:a16="http://schemas.microsoft.com/office/drawing/2014/main" id="{00918B24-0E9A-C05F-28DB-4A4538BC899A}"/>
              </a:ext>
            </a:extLst>
          </p:cNvPr>
          <p:cNvPicPr/>
          <p:nvPr/>
        </p:nvPicPr>
        <p:blipFill>
          <a:blip r:embed="rId2"/>
          <a:srcRect b="9967"/>
          <a:stretch/>
        </p:blipFill>
        <p:spPr>
          <a:xfrm>
            <a:off x="8118877" y="1933298"/>
            <a:ext cx="2663037" cy="1756713"/>
          </a:xfrm>
          <a:prstGeom prst="rect">
            <a:avLst/>
          </a:prstGeom>
          <a:ln/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15CCAD61-66C4-346C-C14F-634429E203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88"/>
          <a:stretch/>
        </p:blipFill>
        <p:spPr>
          <a:xfrm>
            <a:off x="7595639" y="3799240"/>
            <a:ext cx="3709515" cy="2025479"/>
          </a:xfrm>
          <a:prstGeom prst="rect">
            <a:avLst/>
          </a:prstGeom>
        </p:spPr>
      </p:pic>
      <p:pic>
        <p:nvPicPr>
          <p:cNvPr id="11" name="Picture 10" descr="A person being held by police&#10;&#10;AI-generated content may be incorrect.">
            <a:extLst>
              <a:ext uri="{FF2B5EF4-FFF2-40B4-BE49-F238E27FC236}">
                <a16:creationId xmlns:a16="http://schemas.microsoft.com/office/drawing/2014/main" id="{D3A5C7F8-343C-AB72-2333-163AFB462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32" y="2057926"/>
            <a:ext cx="5243448" cy="31260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CD2E4B-3FC5-C3FC-9D5B-7472A59791F7}"/>
              </a:ext>
            </a:extLst>
          </p:cNvPr>
          <p:cNvSpPr txBox="1"/>
          <p:nvPr/>
        </p:nvSpPr>
        <p:spPr>
          <a:xfrm>
            <a:off x="324632" y="5267913"/>
            <a:ext cx="556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"/>
                <a:ea typeface="Palatino" pitchFamily="2" charset="77"/>
              </a:rPr>
              <a:t>Protest Paradigm (0,1)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B4258-3B38-4EC1-C761-7BFB6FBAA2A8}"/>
              </a:ext>
            </a:extLst>
          </p:cNvPr>
          <p:cNvSpPr txBox="1"/>
          <p:nvPr/>
        </p:nvSpPr>
        <p:spPr>
          <a:xfrm>
            <a:off x="1801906" y="6078071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"/>
              </a:rPr>
              <a:t>Y</a:t>
            </a:r>
          </a:p>
        </p:txBody>
      </p:sp>
      <p:pic>
        <p:nvPicPr>
          <p:cNvPr id="65538" name="Picture 2" descr="Human Icon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51A46825-C5ED-2995-7D5B-0E841B858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46" y="5572494"/>
            <a:ext cx="1506071" cy="150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385FE8-DDEC-8DC9-9921-3964D78DEE6D}"/>
              </a:ext>
            </a:extLst>
          </p:cNvPr>
          <p:cNvSpPr txBox="1"/>
          <p:nvPr/>
        </p:nvSpPr>
        <p:spPr>
          <a:xfrm>
            <a:off x="5728509" y="6039361"/>
            <a:ext cx="1286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"/>
              </a:rPr>
              <a:t>~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218E5-416C-35D7-C3A8-3F8A29733057}"/>
              </a:ext>
            </a:extLst>
          </p:cNvPr>
          <p:cNvSpPr txBox="1"/>
          <p:nvPr/>
        </p:nvSpPr>
        <p:spPr>
          <a:xfrm>
            <a:off x="8657018" y="6039361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"/>
              </a:rPr>
              <a:t>X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A2C4DDB6-5CCB-4B53-161E-7612400C31F8}"/>
              </a:ext>
            </a:extLst>
          </p:cNvPr>
          <p:cNvSpPr/>
          <p:nvPr/>
        </p:nvSpPr>
        <p:spPr>
          <a:xfrm>
            <a:off x="6096000" y="2428240"/>
            <a:ext cx="918944" cy="2479936"/>
          </a:xfrm>
          <a:prstGeom prst="leftBrac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4EF21F-67FD-9CB7-EF25-38BA2C0F875E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72 </a:t>
            </a:r>
          </a:p>
        </p:txBody>
      </p:sp>
    </p:spTree>
    <p:extLst>
      <p:ext uri="{BB962C8B-B14F-4D97-AF65-F5344CB8AC3E}">
        <p14:creationId xmlns:p14="http://schemas.microsoft.com/office/powerpoint/2010/main" val="4472970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7B212-6AD6-ACE3-8E34-B0E97BEEA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B64D7CD-C47C-15D0-05C8-560675238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40D91D0-98B9-264B-60AB-72616BC9BA51}"/>
              </a:ext>
            </a:extLst>
          </p:cNvPr>
          <p:cNvSpPr txBox="1">
            <a:spLocks/>
          </p:cNvSpPr>
          <p:nvPr/>
        </p:nvSpPr>
        <p:spPr>
          <a:xfrm>
            <a:off x="257127" y="-186231"/>
            <a:ext cx="1209782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Stage 3.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Predict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higher-level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frames in a new set of images through relationships between </a:t>
            </a:r>
            <a:r>
              <a:rPr lang="en-US" sz="36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lower-level 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frames</a:t>
            </a: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BE0577FA-8540-330A-1BAA-435C192F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88"/>
          <a:stretch/>
        </p:blipFill>
        <p:spPr>
          <a:xfrm>
            <a:off x="136956" y="3951818"/>
            <a:ext cx="3709515" cy="2025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E42D29-547D-158B-52A6-D7B22D189F2F}"/>
              </a:ext>
            </a:extLst>
          </p:cNvPr>
          <p:cNvSpPr txBox="1"/>
          <p:nvPr/>
        </p:nvSpPr>
        <p:spPr>
          <a:xfrm>
            <a:off x="6096000" y="5977297"/>
            <a:ext cx="556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"/>
                <a:ea typeface="Palatino" pitchFamily="2" charset="77"/>
              </a:rPr>
              <a:t>Protest Paradigm (0,1)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8FE8394-D48D-FE58-FA7C-C39A73292888}"/>
              </a:ext>
            </a:extLst>
          </p:cNvPr>
          <p:cNvSpPr/>
          <p:nvPr/>
        </p:nvSpPr>
        <p:spPr>
          <a:xfrm rot="2421322">
            <a:off x="1758603" y="2872610"/>
            <a:ext cx="2092672" cy="2370308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544155-8F80-2697-7832-32E510E531CD}"/>
              </a:ext>
            </a:extLst>
          </p:cNvPr>
          <p:cNvCxnSpPr>
            <a:cxnSpLocks/>
          </p:cNvCxnSpPr>
          <p:nvPr/>
        </p:nvCxnSpPr>
        <p:spPr>
          <a:xfrm>
            <a:off x="3913706" y="3951818"/>
            <a:ext cx="57997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oup of people spraying water on a street&#10;&#10;AI-generated content may be incorrect.">
            <a:extLst>
              <a:ext uri="{FF2B5EF4-FFF2-40B4-BE49-F238E27FC236}">
                <a16:creationId xmlns:a16="http://schemas.microsoft.com/office/drawing/2014/main" id="{EC2018BF-8E40-C37A-4E40-38C039E19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27" y="1797695"/>
            <a:ext cx="3469172" cy="20254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AE56F7E-EA61-1C69-B335-6244C69054D8}"/>
              </a:ext>
            </a:extLst>
          </p:cNvPr>
          <p:cNvSpPr/>
          <p:nvPr/>
        </p:nvSpPr>
        <p:spPr>
          <a:xfrm>
            <a:off x="660922" y="2269349"/>
            <a:ext cx="1008529" cy="94510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289F33-1ED8-CC6B-B93E-FC742813CEB5}"/>
              </a:ext>
            </a:extLst>
          </p:cNvPr>
          <p:cNvSpPr/>
          <p:nvPr/>
        </p:nvSpPr>
        <p:spPr>
          <a:xfrm>
            <a:off x="2543552" y="2269594"/>
            <a:ext cx="1008529" cy="94510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oup of people spraying water on a street&#10;&#10;AI-generated content may be incorrect.">
            <a:extLst>
              <a:ext uri="{FF2B5EF4-FFF2-40B4-BE49-F238E27FC236}">
                <a16:creationId xmlns:a16="http://schemas.microsoft.com/office/drawing/2014/main" id="{D76E3F15-35A5-4343-10D3-24E034F3F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711" y="1800531"/>
            <a:ext cx="7012531" cy="4094272"/>
          </a:xfrm>
          <a:prstGeom prst="rect">
            <a:avLst/>
          </a:prstGeom>
        </p:spPr>
      </p:pic>
      <p:pic>
        <p:nvPicPr>
          <p:cNvPr id="66562" name="Picture 2" descr="Computer Icon Vector Art, Icons, and ...">
            <a:extLst>
              <a:ext uri="{FF2B5EF4-FFF2-40B4-BE49-F238E27FC236}">
                <a16:creationId xmlns:a16="http://schemas.microsoft.com/office/drawing/2014/main" id="{812114A0-F6EE-BC4F-ED18-163F710D3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231" y="5726930"/>
            <a:ext cx="1131070" cy="113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C7D1F5-68F3-9C05-1BED-33F1E022CC56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73 </a:t>
            </a:r>
          </a:p>
        </p:txBody>
      </p:sp>
    </p:spTree>
    <p:extLst>
      <p:ext uri="{BB962C8B-B14F-4D97-AF65-F5344CB8AC3E}">
        <p14:creationId xmlns:p14="http://schemas.microsoft.com/office/powerpoint/2010/main" val="85268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2C15-C05C-68BA-04CB-D4D574CB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350C224-7D3A-BF6F-74F1-52B20A6B0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768A50E-73D3-7319-5254-7F8CF664092E}"/>
              </a:ext>
            </a:extLst>
          </p:cNvPr>
          <p:cNvSpPr txBox="1">
            <a:spLocks/>
          </p:cNvSpPr>
          <p:nvPr/>
        </p:nvSpPr>
        <p:spPr>
          <a:xfrm>
            <a:off x="264160" y="-522273"/>
            <a:ext cx="1083056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Datasets</a:t>
            </a: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FA4DC6-40BA-DEE8-E2B4-3A0796620810}"/>
              </a:ext>
            </a:extLst>
          </p:cNvPr>
          <p:cNvSpPr/>
          <p:nvPr/>
        </p:nvSpPr>
        <p:spPr>
          <a:xfrm>
            <a:off x="1097280" y="2218762"/>
            <a:ext cx="3972261" cy="4208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83EFB22-8DDE-3E74-4854-1A8825AD11D6}"/>
              </a:ext>
            </a:extLst>
          </p:cNvPr>
          <p:cNvSpPr txBox="1">
            <a:spLocks/>
          </p:cNvSpPr>
          <p:nvPr/>
        </p:nvSpPr>
        <p:spPr>
          <a:xfrm>
            <a:off x="967888" y="632153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Dataset 1: Stage 1 &amp; 2</a:t>
            </a: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E51391-427A-8A0E-82C7-F0A7F2092CDD}"/>
              </a:ext>
            </a:extLst>
          </p:cNvPr>
          <p:cNvSpPr txBox="1">
            <a:spLocks/>
          </p:cNvSpPr>
          <p:nvPr/>
        </p:nvSpPr>
        <p:spPr>
          <a:xfrm>
            <a:off x="669513" y="4429761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i="1" dirty="0">
                <a:latin typeface=""/>
                <a:ea typeface="Palatino" pitchFamily="2" charset="77"/>
                <a:cs typeface="Beirut" pitchFamily="2" charset="-78"/>
              </a:rPr>
              <a:t>n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= 245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BLM coverage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From GDELT</a:t>
            </a: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927DB24-E120-ABB1-88B3-228AF94D3DB7}"/>
              </a:ext>
            </a:extLst>
          </p:cNvPr>
          <p:cNvSpPr txBox="1">
            <a:spLocks/>
          </p:cNvSpPr>
          <p:nvPr/>
        </p:nvSpPr>
        <p:spPr>
          <a:xfrm>
            <a:off x="6932811" y="603553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Dataset 2: Stage 3</a:t>
            </a: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68F46E-47FB-0913-BC68-BFD305E6DAED}"/>
              </a:ext>
            </a:extLst>
          </p:cNvPr>
          <p:cNvSpPr/>
          <p:nvPr/>
        </p:nvSpPr>
        <p:spPr>
          <a:xfrm>
            <a:off x="6792012" y="2218762"/>
            <a:ext cx="3972261" cy="4208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4BE7587-3341-961B-AA0C-E7BB346483B8}"/>
              </a:ext>
            </a:extLst>
          </p:cNvPr>
          <p:cNvSpPr txBox="1">
            <a:spLocks/>
          </p:cNvSpPr>
          <p:nvPr/>
        </p:nvSpPr>
        <p:spPr>
          <a:xfrm>
            <a:off x="6457630" y="4470400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i="1" dirty="0">
                <a:latin typeface=""/>
                <a:ea typeface="Palatino" pitchFamily="2" charset="77"/>
                <a:cs typeface="Beirut" pitchFamily="2" charset="-78"/>
              </a:rPr>
              <a:t>n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= 1,536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Google Image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Search Dataset</a:t>
            </a: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7650B-D9B6-0E6B-00B2-6EAC45AE8257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74 </a:t>
            </a:r>
          </a:p>
        </p:txBody>
      </p:sp>
    </p:spTree>
    <p:extLst>
      <p:ext uri="{BB962C8B-B14F-4D97-AF65-F5344CB8AC3E}">
        <p14:creationId xmlns:p14="http://schemas.microsoft.com/office/powerpoint/2010/main" val="29527643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29F0-DE9E-889D-C037-3C902425F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C6BD39F-1248-04C2-AF8D-D0761D7A6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A5A1479-BD73-99FF-BD0B-80F26AEA659D}"/>
              </a:ext>
            </a:extLst>
          </p:cNvPr>
          <p:cNvSpPr txBox="1">
            <a:spLocks/>
          </p:cNvSpPr>
          <p:nvPr/>
        </p:nvSpPr>
        <p:spPr>
          <a:xfrm>
            <a:off x="0" y="-1656238"/>
            <a:ext cx="1371799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S1: 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GPT 4o -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Denotative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 Elements of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Protest Paradigm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846CF5-87C0-715D-EC3E-DCB720D6D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320"/>
              </p:ext>
            </p:extLst>
          </p:nvPr>
        </p:nvGraphicFramePr>
        <p:xfrm>
          <a:off x="38100" y="865833"/>
          <a:ext cx="12115800" cy="57786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15800">
                  <a:extLst>
                    <a:ext uri="{9D8B030D-6E8A-4147-A177-3AD203B41FA5}">
                      <a16:colId xmlns:a16="http://schemas.microsoft.com/office/drawing/2014/main" val="878605699"/>
                    </a:ext>
                  </a:extLst>
                </a:gridCol>
              </a:tblGrid>
              <a:tr h="51477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- 'VA': Code the confrontational protest actions in the image: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1 when there are contested protest actions in the image. This includes: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confrontation with police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heightened tension with police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assault action on police officers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assault action on counter-protesters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assault action on bystanders or journalists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damaged structures and graffiti in the  background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burning objects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looting evidence (broken window)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public infrastructure (e.g., smashing traffic lights, torn down signs)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barricades between police and the protester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resistance action to arrest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arrest of protesters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Throwing projectiles (fireworks)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protesters barricading roads or blocking emergency services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Signs of aggression toward the police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2 when there are no visible confrontational actions. 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621972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51F12C-203A-9320-34F1-49F079EE326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75 </a:t>
            </a:r>
          </a:p>
        </p:txBody>
      </p:sp>
    </p:spTree>
    <p:extLst>
      <p:ext uri="{BB962C8B-B14F-4D97-AF65-F5344CB8AC3E}">
        <p14:creationId xmlns:p14="http://schemas.microsoft.com/office/powerpoint/2010/main" val="24615379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36D72-BCD9-4504-0CE7-DA7F562E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F8DA814-69AD-CE70-7DBD-16505D642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EB3173-DF1F-7DAC-DB56-E23E3A38C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019824"/>
              </p:ext>
            </p:extLst>
          </p:nvPr>
        </p:nvGraphicFramePr>
        <p:xfrm>
          <a:off x="38100" y="1670706"/>
          <a:ext cx="12115800" cy="3165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15800">
                  <a:extLst>
                    <a:ext uri="{9D8B030D-6E8A-4147-A177-3AD203B41FA5}">
                      <a16:colId xmlns:a16="http://schemas.microsoft.com/office/drawing/2014/main" val="878605699"/>
                    </a:ext>
                  </a:extLst>
                </a:gridCol>
              </a:tblGrid>
              <a:tr h="31654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- 'SA': Code the existence of solidarity action in the image: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1 when there are solidarity actions in the image. This includes: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holds hands or links arms.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carries signs with messages of solidarity.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protects vulnerable individuals.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the most prominent protester sings, chants, or engages in non-violent gatherings with a large group of people.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2 when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there are no visible solidarity actions. 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aggressively acts toward the police or other protesters.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6219726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ECA136E-32D8-B52E-1E44-F9573EFD3D71}"/>
              </a:ext>
            </a:extLst>
          </p:cNvPr>
          <p:cNvSpPr txBox="1">
            <a:spLocks/>
          </p:cNvSpPr>
          <p:nvPr/>
        </p:nvSpPr>
        <p:spPr>
          <a:xfrm>
            <a:off x="38100" y="-862862"/>
            <a:ext cx="1371799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S1: 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GPT 4o –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Denotative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 Elements of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Solidarity Framing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3604D-F9BC-1ED0-252B-4A9C769AB463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76 </a:t>
            </a:r>
          </a:p>
        </p:txBody>
      </p:sp>
    </p:spTree>
    <p:extLst>
      <p:ext uri="{BB962C8B-B14F-4D97-AF65-F5344CB8AC3E}">
        <p14:creationId xmlns:p14="http://schemas.microsoft.com/office/powerpoint/2010/main" val="37011361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EBD8-B3A3-AAAC-D4A9-1206C7C5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0FC029B6-9F88-D551-2BF8-7135C33B8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88"/>
          <a:stretch/>
        </p:blipFill>
        <p:spPr>
          <a:xfrm>
            <a:off x="3045949" y="2030501"/>
            <a:ext cx="6353844" cy="346934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B53FC16-0F9C-F2C4-4FCE-48C687A63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E9E6A-C6E5-BDAE-4DE3-DB4482CAF39E}"/>
              </a:ext>
            </a:extLst>
          </p:cNvPr>
          <p:cNvSpPr txBox="1">
            <a:spLocks/>
          </p:cNvSpPr>
          <p:nvPr/>
        </p:nvSpPr>
        <p:spPr>
          <a:xfrm>
            <a:off x="-762999" y="-799731"/>
            <a:ext cx="1371799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S1: 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Classifying semiotic features with CV2</a:t>
            </a:r>
            <a:endParaRPr lang="en-US" sz="3200" b="1" dirty="0">
              <a:solidFill>
                <a:srgbClr val="964421"/>
              </a:solidFill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EAC43-7563-A73B-E534-44DA91E24CA0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77 </a:t>
            </a:r>
          </a:p>
        </p:txBody>
      </p:sp>
    </p:spTree>
    <p:extLst>
      <p:ext uri="{BB962C8B-B14F-4D97-AF65-F5344CB8AC3E}">
        <p14:creationId xmlns:p14="http://schemas.microsoft.com/office/powerpoint/2010/main" val="20381385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E6AF-9C31-8123-D80B-9EA2CF4D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597847D-F501-55F4-99BC-50BEF58C4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1D52FDB-171E-DFB1-7C9A-43EE713A289F}"/>
              </a:ext>
            </a:extLst>
          </p:cNvPr>
          <p:cNvSpPr txBox="1">
            <a:spLocks/>
          </p:cNvSpPr>
          <p:nvPr/>
        </p:nvSpPr>
        <p:spPr>
          <a:xfrm>
            <a:off x="213156" y="-1562407"/>
            <a:ext cx="1083056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S2: Logistic Regression Results: Protest Paradigm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F6EDEF-55D4-2055-5BA3-013CC9C03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647288"/>
              </p:ext>
            </p:extLst>
          </p:nvPr>
        </p:nvGraphicFramePr>
        <p:xfrm>
          <a:off x="1224484" y="1076417"/>
          <a:ext cx="9819234" cy="53676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6115">
                  <a:extLst>
                    <a:ext uri="{9D8B030D-6E8A-4147-A177-3AD203B41FA5}">
                      <a16:colId xmlns:a16="http://schemas.microsoft.com/office/drawing/2014/main" val="3862849231"/>
                    </a:ext>
                  </a:extLst>
                </a:gridCol>
                <a:gridCol w="1247917">
                  <a:extLst>
                    <a:ext uri="{9D8B030D-6E8A-4147-A177-3AD203B41FA5}">
                      <a16:colId xmlns:a16="http://schemas.microsoft.com/office/drawing/2014/main" val="2448258946"/>
                    </a:ext>
                  </a:extLst>
                </a:gridCol>
                <a:gridCol w="1412016">
                  <a:extLst>
                    <a:ext uri="{9D8B030D-6E8A-4147-A177-3AD203B41FA5}">
                      <a16:colId xmlns:a16="http://schemas.microsoft.com/office/drawing/2014/main" val="4170108321"/>
                    </a:ext>
                  </a:extLst>
                </a:gridCol>
                <a:gridCol w="1412016">
                  <a:extLst>
                    <a:ext uri="{9D8B030D-6E8A-4147-A177-3AD203B41FA5}">
                      <a16:colId xmlns:a16="http://schemas.microsoft.com/office/drawing/2014/main" val="3791186770"/>
                    </a:ext>
                  </a:extLst>
                </a:gridCol>
                <a:gridCol w="1412016">
                  <a:extLst>
                    <a:ext uri="{9D8B030D-6E8A-4147-A177-3AD203B41FA5}">
                      <a16:colId xmlns:a16="http://schemas.microsoft.com/office/drawing/2014/main" val="1983496305"/>
                    </a:ext>
                  </a:extLst>
                </a:gridCol>
                <a:gridCol w="2759154">
                  <a:extLst>
                    <a:ext uri="{9D8B030D-6E8A-4147-A177-3AD203B41FA5}">
                      <a16:colId xmlns:a16="http://schemas.microsoft.com/office/drawing/2014/main" val="2501664642"/>
                    </a:ext>
                  </a:extLst>
                </a:gridCol>
              </a:tblGrid>
              <a:tr h="2187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Predictor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B (estimate)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z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OR (expB)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p-value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8796900"/>
                  </a:ext>
                </a:extLst>
              </a:tr>
              <a:tr h="2187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Intercept*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-5.69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2.38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-2.39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4027125"/>
                  </a:ext>
                </a:extLst>
              </a:tr>
              <a:tr h="450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Police Presence</a:t>
                      </a: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***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3.45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0.60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5.79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31.41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&lt; .001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4768104"/>
                  </a:ext>
                </a:extLst>
              </a:tr>
              <a:tr h="450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Protester Presence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-1.24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1.04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-1.19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0.29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0.24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2366965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Contestation between police and protesters </a:t>
                      </a: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***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3.74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4.63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43.32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&lt; .001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3771086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Existence of Police with Weapon (0 = no existence)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0.02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1.15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0.99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6118603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Existence of Protester with Weapon (0 = no existence)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18.35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1150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~94M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0.99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8576985"/>
                  </a:ext>
                </a:extLst>
              </a:tr>
              <a:tr h="450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Existence of Solidarity Action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-0.48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0.76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-0.64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0.62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0.53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5984337"/>
                  </a:ext>
                </a:extLst>
              </a:tr>
              <a:tr h="2187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Color Contrast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1.92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1.05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0.05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8495031"/>
                  </a:ext>
                </a:extLst>
              </a:tr>
              <a:tr h="2187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Color Saturation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1.11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1.01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0.27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6205111"/>
                  </a:ext>
                </a:extLst>
              </a:tr>
              <a:tr h="2187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McFadden’s R²</a:t>
                      </a: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0.55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7097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F37826A-F9A3-7CF1-44C9-E838D70AD548}"/>
              </a:ext>
            </a:extLst>
          </p:cNvPr>
          <p:cNvSpPr/>
          <p:nvPr/>
        </p:nvSpPr>
        <p:spPr>
          <a:xfrm>
            <a:off x="2541495" y="825193"/>
            <a:ext cx="1559858" cy="5804207"/>
          </a:xfrm>
          <a:prstGeom prst="rect">
            <a:avLst/>
          </a:prstGeom>
          <a:noFill/>
          <a:ln w="57150">
            <a:solidFill>
              <a:srgbClr val="964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8FA6F-80F3-A79D-D981-F84D769CB81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78 </a:t>
            </a:r>
          </a:p>
        </p:txBody>
      </p:sp>
    </p:spTree>
    <p:extLst>
      <p:ext uri="{BB962C8B-B14F-4D97-AF65-F5344CB8AC3E}">
        <p14:creationId xmlns:p14="http://schemas.microsoft.com/office/powerpoint/2010/main" val="37044645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CEDD-77E4-2725-B25D-8222F7DD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566DA34-ED1E-228B-73C9-0C939A4A9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8448149-3FB0-F417-95A4-9D614EAD5F81}"/>
              </a:ext>
            </a:extLst>
          </p:cNvPr>
          <p:cNvSpPr txBox="1">
            <a:spLocks/>
          </p:cNvSpPr>
          <p:nvPr/>
        </p:nvSpPr>
        <p:spPr>
          <a:xfrm>
            <a:off x="213156" y="-1562407"/>
            <a:ext cx="1083056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S2: Logistic Regression Results: Solidarity Framing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D6A2A7-A965-3D45-8DE8-F2947006E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495880"/>
              </p:ext>
            </p:extLst>
          </p:nvPr>
        </p:nvGraphicFramePr>
        <p:xfrm>
          <a:off x="335369" y="825193"/>
          <a:ext cx="11719675" cy="579421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1160">
                  <a:extLst>
                    <a:ext uri="{9D8B030D-6E8A-4147-A177-3AD203B41FA5}">
                      <a16:colId xmlns:a16="http://schemas.microsoft.com/office/drawing/2014/main" val="4231309795"/>
                    </a:ext>
                  </a:extLst>
                </a:gridCol>
                <a:gridCol w="1489442">
                  <a:extLst>
                    <a:ext uri="{9D8B030D-6E8A-4147-A177-3AD203B41FA5}">
                      <a16:colId xmlns:a16="http://schemas.microsoft.com/office/drawing/2014/main" val="2316390061"/>
                    </a:ext>
                  </a:extLst>
                </a:gridCol>
                <a:gridCol w="1685302">
                  <a:extLst>
                    <a:ext uri="{9D8B030D-6E8A-4147-A177-3AD203B41FA5}">
                      <a16:colId xmlns:a16="http://schemas.microsoft.com/office/drawing/2014/main" val="1314655838"/>
                    </a:ext>
                  </a:extLst>
                </a:gridCol>
                <a:gridCol w="1685302">
                  <a:extLst>
                    <a:ext uri="{9D8B030D-6E8A-4147-A177-3AD203B41FA5}">
                      <a16:colId xmlns:a16="http://schemas.microsoft.com/office/drawing/2014/main" val="2040473329"/>
                    </a:ext>
                  </a:extLst>
                </a:gridCol>
                <a:gridCol w="1685302">
                  <a:extLst>
                    <a:ext uri="{9D8B030D-6E8A-4147-A177-3AD203B41FA5}">
                      <a16:colId xmlns:a16="http://schemas.microsoft.com/office/drawing/2014/main" val="2960451829"/>
                    </a:ext>
                  </a:extLst>
                </a:gridCol>
                <a:gridCol w="3293167">
                  <a:extLst>
                    <a:ext uri="{9D8B030D-6E8A-4147-A177-3AD203B41FA5}">
                      <a16:colId xmlns:a16="http://schemas.microsoft.com/office/drawing/2014/main" val="121026229"/>
                    </a:ext>
                  </a:extLst>
                </a:gridCol>
              </a:tblGrid>
              <a:tr h="4256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Predictor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B (estimate)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z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OR (expB)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p-value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6474353"/>
                  </a:ext>
                </a:extLst>
              </a:tr>
              <a:tr h="2092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Intercept*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0.41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0.23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0.82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7925478"/>
                  </a:ext>
                </a:extLst>
              </a:tr>
              <a:tr h="4256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Police Presence</a:t>
                      </a: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***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-3.13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0.55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-5.74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&lt; .001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6348827"/>
                  </a:ext>
                </a:extLst>
              </a:tr>
              <a:tr h="4256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Protester Presence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1.82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1.06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6.14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654318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Contestation between police and protesters</a:t>
                      </a: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**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-2.16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0.69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-3.13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0.002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3898026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Existence of Police with Weapon (0 = no existence)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1.07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3.44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0.29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4669773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Existence of Protester with Weapon (0 = no existence)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-16.15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1239.74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-0.01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0.99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8963000"/>
                  </a:ext>
                </a:extLst>
              </a:tr>
              <a:tr h="6419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Existence of </a:t>
                      </a: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** 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  <a:effectLst/>
                          <a:latin typeface=""/>
                          <a:ea typeface="Palatino" pitchFamily="2" charset="77"/>
                        </a:rPr>
                        <a:t>Solidarity Action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1.91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2.83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6.78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0.005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196872"/>
                  </a:ext>
                </a:extLst>
              </a:tr>
              <a:tr h="2092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Color Contrast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-0.01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-0.68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0.99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6952711"/>
                  </a:ext>
                </a:extLst>
              </a:tr>
              <a:tr h="4256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Color Saturation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-0.01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-1.55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0.99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0.12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3493270"/>
                  </a:ext>
                </a:extLst>
              </a:tr>
              <a:tr h="4256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"/>
                          <a:ea typeface="Palatino" pitchFamily="2" charset="77"/>
                        </a:rPr>
                        <a:t>McFadden’s R²</a:t>
                      </a: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"/>
                          <a:ea typeface="Palatino" pitchFamily="2" charset="77"/>
                        </a:rPr>
                        <a:t>0.46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711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BAF05DB-0B70-CE05-900A-CC140C34473C}"/>
              </a:ext>
            </a:extLst>
          </p:cNvPr>
          <p:cNvSpPr/>
          <p:nvPr/>
        </p:nvSpPr>
        <p:spPr>
          <a:xfrm>
            <a:off x="2124636" y="731063"/>
            <a:ext cx="1559858" cy="5888347"/>
          </a:xfrm>
          <a:prstGeom prst="rect">
            <a:avLst/>
          </a:prstGeom>
          <a:noFill/>
          <a:ln w="57150">
            <a:solidFill>
              <a:srgbClr val="964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71531-FFCB-86F9-A7F7-DDC20B0D3B0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79 </a:t>
            </a:r>
          </a:p>
        </p:txBody>
      </p:sp>
    </p:spTree>
    <p:extLst>
      <p:ext uri="{BB962C8B-B14F-4D97-AF65-F5344CB8AC3E}">
        <p14:creationId xmlns:p14="http://schemas.microsoft.com/office/powerpoint/2010/main" val="14083332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1178-A4FD-3F58-5E4C-B0DCB309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7CC4A96-A917-E5E1-5CBC-81360BDCC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69DDE19-5F9D-A280-9BA1-09A719B55FA5}"/>
              </a:ext>
            </a:extLst>
          </p:cNvPr>
          <p:cNvSpPr txBox="1">
            <a:spLocks/>
          </p:cNvSpPr>
          <p:nvPr/>
        </p:nvSpPr>
        <p:spPr>
          <a:xfrm>
            <a:off x="264160" y="-522273"/>
            <a:ext cx="1083056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Datasets</a:t>
            </a: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6B868F-FFCA-3358-6CE0-2F07F31481D5}"/>
              </a:ext>
            </a:extLst>
          </p:cNvPr>
          <p:cNvSpPr/>
          <p:nvPr/>
        </p:nvSpPr>
        <p:spPr>
          <a:xfrm>
            <a:off x="1097280" y="2218762"/>
            <a:ext cx="3972261" cy="42089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861FB4-80A7-6B24-7745-B729F803B427}"/>
              </a:ext>
            </a:extLst>
          </p:cNvPr>
          <p:cNvSpPr txBox="1">
            <a:spLocks/>
          </p:cNvSpPr>
          <p:nvPr/>
        </p:nvSpPr>
        <p:spPr>
          <a:xfrm>
            <a:off x="967888" y="632153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"/>
                <a:ea typeface="Palatino" pitchFamily="2" charset="77"/>
                <a:cs typeface="Beirut" pitchFamily="2" charset="-78"/>
              </a:rPr>
              <a:t>Dataset 1: Stage 1 &amp; 2</a:t>
            </a:r>
            <a:br>
              <a:rPr lang="en-US" sz="3600" dirty="0">
                <a:solidFill>
                  <a:schemeClr val="bg1">
                    <a:lumMod val="50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solidFill>
                <a:schemeClr val="bg1">
                  <a:lumMod val="50000"/>
                </a:schemeClr>
              </a:solidFill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E2D627-F904-F602-33B5-C93B67DDD706}"/>
              </a:ext>
            </a:extLst>
          </p:cNvPr>
          <p:cNvSpPr txBox="1">
            <a:spLocks/>
          </p:cNvSpPr>
          <p:nvPr/>
        </p:nvSpPr>
        <p:spPr>
          <a:xfrm>
            <a:off x="669513" y="4429761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i="1" dirty="0">
                <a:solidFill>
                  <a:schemeClr val="bg1">
                    <a:lumMod val="50000"/>
                  </a:schemeClr>
                </a:solidFill>
                <a:latin typeface=""/>
                <a:ea typeface="Palatino" pitchFamily="2" charset="77"/>
                <a:cs typeface="Beirut" pitchFamily="2" charset="-78"/>
              </a:rPr>
              <a:t>n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"/>
                <a:ea typeface="Palatino" pitchFamily="2" charset="77"/>
                <a:cs typeface="Beirut" pitchFamily="2" charset="-78"/>
              </a:rPr>
              <a:t> = 245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"/>
                <a:ea typeface="Palatino" pitchFamily="2" charset="77"/>
                <a:cs typeface="Beirut" pitchFamily="2" charset="-78"/>
              </a:rPr>
              <a:t>BLM coverage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"/>
                <a:ea typeface="Palatino" pitchFamily="2" charset="77"/>
                <a:cs typeface="Beirut" pitchFamily="2" charset="-78"/>
              </a:rPr>
              <a:t>From GDELT</a:t>
            </a: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3F1D99-5607-6CF4-3A88-D71599D5AD4C}"/>
              </a:ext>
            </a:extLst>
          </p:cNvPr>
          <p:cNvSpPr txBox="1">
            <a:spLocks/>
          </p:cNvSpPr>
          <p:nvPr/>
        </p:nvSpPr>
        <p:spPr>
          <a:xfrm>
            <a:off x="6932811" y="603553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Dataset 2: Stage 3</a:t>
            </a:r>
            <a:br>
              <a:rPr lang="en-US" sz="3600" dirty="0">
                <a:latin typeface="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655C6D-8E1B-CB36-C0B3-9C2E041A4B7E}"/>
              </a:ext>
            </a:extLst>
          </p:cNvPr>
          <p:cNvSpPr/>
          <p:nvPr/>
        </p:nvSpPr>
        <p:spPr>
          <a:xfrm>
            <a:off x="6792012" y="2218762"/>
            <a:ext cx="3972261" cy="4208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4E34F88-DC5D-3036-8F50-BF2FCC4DC7CD}"/>
              </a:ext>
            </a:extLst>
          </p:cNvPr>
          <p:cNvSpPr txBox="1">
            <a:spLocks/>
          </p:cNvSpPr>
          <p:nvPr/>
        </p:nvSpPr>
        <p:spPr>
          <a:xfrm>
            <a:off x="6457630" y="4470400"/>
            <a:ext cx="4827793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i="1" dirty="0">
                <a:latin typeface=""/>
                <a:ea typeface="Palatino" pitchFamily="2" charset="77"/>
                <a:cs typeface="Beirut" pitchFamily="2" charset="-78"/>
              </a:rPr>
              <a:t>n</a:t>
            </a: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 = 1,536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Google Image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Search Dataset</a:t>
            </a: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386B3-58E4-6DC7-C6A3-81BF0C9D666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80 </a:t>
            </a:r>
          </a:p>
        </p:txBody>
      </p:sp>
    </p:spTree>
    <p:extLst>
      <p:ext uri="{BB962C8B-B14F-4D97-AF65-F5344CB8AC3E}">
        <p14:creationId xmlns:p14="http://schemas.microsoft.com/office/powerpoint/2010/main" val="35820205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F0BB-CCC9-300E-16AC-334D7CBB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0E8BD3E-C812-D3F8-53EF-26F83572A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A03BABE-E330-E501-FD71-F2A01853B413}"/>
              </a:ext>
            </a:extLst>
          </p:cNvPr>
          <p:cNvSpPr txBox="1">
            <a:spLocks/>
          </p:cNvSpPr>
          <p:nvPr/>
        </p:nvSpPr>
        <p:spPr>
          <a:xfrm>
            <a:off x="0" y="-1656238"/>
            <a:ext cx="1371799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S3-1: 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GPT 4o -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Denotative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 Elements of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Protest Paradigm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9D88AA-D8B2-0FAD-1556-F795E550D7D6}"/>
              </a:ext>
            </a:extLst>
          </p:cNvPr>
          <p:cNvGraphicFramePr>
            <a:graphicFrameLocks noGrp="1"/>
          </p:cNvGraphicFramePr>
          <p:nvPr/>
        </p:nvGraphicFramePr>
        <p:xfrm>
          <a:off x="38100" y="865833"/>
          <a:ext cx="12115800" cy="57786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15800">
                  <a:extLst>
                    <a:ext uri="{9D8B030D-6E8A-4147-A177-3AD203B41FA5}">
                      <a16:colId xmlns:a16="http://schemas.microsoft.com/office/drawing/2014/main" val="878605699"/>
                    </a:ext>
                  </a:extLst>
                </a:gridCol>
              </a:tblGrid>
              <a:tr h="51477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- 'VA': Code the confrontational protest actions in the image: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1 when there are contested protest actions in the image. This includes: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confrontation with police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heightened tension with police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assault action on police officers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assault action on counter-protesters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assault action on bystanders or journalists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damaged structures and graffiti in the  background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burning objects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looting evidence (broken window)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public infrastructure (e.g., smashing traffic lights, torn down signs)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existence of barricades between police and the protester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resistance action to arrest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arrest of protesters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Throwing projectiles (fireworks)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protesters barricading roads or blocking emergency services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Signs of aggression toward the police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2 when there are no visible confrontational actions. 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621972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488523D-C319-D155-3939-C47B90DFFC1D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81 </a:t>
            </a:r>
          </a:p>
        </p:txBody>
      </p:sp>
    </p:spTree>
    <p:extLst>
      <p:ext uri="{BB962C8B-B14F-4D97-AF65-F5344CB8AC3E}">
        <p14:creationId xmlns:p14="http://schemas.microsoft.com/office/powerpoint/2010/main" val="5749387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BE10-9384-A014-934F-A5D9F68EC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135DFC7-A998-576D-5882-987EEC453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FCEC5A-3667-7C7A-2031-0042BF27328F}"/>
              </a:ext>
            </a:extLst>
          </p:cNvPr>
          <p:cNvGraphicFramePr>
            <a:graphicFrameLocks noGrp="1"/>
          </p:cNvGraphicFramePr>
          <p:nvPr/>
        </p:nvGraphicFramePr>
        <p:xfrm>
          <a:off x="38100" y="1670706"/>
          <a:ext cx="12115800" cy="3165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15800">
                  <a:extLst>
                    <a:ext uri="{9D8B030D-6E8A-4147-A177-3AD203B41FA5}">
                      <a16:colId xmlns:a16="http://schemas.microsoft.com/office/drawing/2014/main" val="878605699"/>
                    </a:ext>
                  </a:extLst>
                </a:gridCol>
              </a:tblGrid>
              <a:tr h="31654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- 'SA': Code the existence of solidarity action in the image: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1 when there are solidarity actions in the image. This includes: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holds hands or links arms.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carries signs with messages of solidarity.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protects vulnerable individuals.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the most prominent protester sings, chants, or engages in non-violent gatherings with a large group of people.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"/>
                          <a:ea typeface="Palatino" pitchFamily="2" charset="77"/>
                        </a:rPr>
                        <a:t>  - Code 2 when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there are no visible solidarity actions. 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●"/>
                      </a:pPr>
                      <a:r>
                        <a:rPr lang="en-US" sz="1800" u="none" strike="noStrike" dirty="0">
                          <a:effectLst/>
                          <a:latin typeface=""/>
                          <a:ea typeface="Palatino" pitchFamily="2" charset="77"/>
                        </a:rPr>
                        <a:t>When the most prominent protester aggressively acts toward the police or other protesters.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6219726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E10AC69-776B-6A96-9731-2DE372BDCB37}"/>
              </a:ext>
            </a:extLst>
          </p:cNvPr>
          <p:cNvSpPr txBox="1">
            <a:spLocks/>
          </p:cNvSpPr>
          <p:nvPr/>
        </p:nvSpPr>
        <p:spPr>
          <a:xfrm>
            <a:off x="38100" y="-862862"/>
            <a:ext cx="1371799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S3-1: 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GPT 4o –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Denotative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 Elements of </a:t>
            </a:r>
            <a:r>
              <a:rPr lang="en-US" sz="3200" b="1" dirty="0">
                <a:solidFill>
                  <a:srgbClr val="964421"/>
                </a:solidFill>
                <a:latin typeface=""/>
                <a:ea typeface="Palatino" pitchFamily="2" charset="77"/>
                <a:cs typeface="Beirut" pitchFamily="2" charset="-78"/>
              </a:rPr>
              <a:t>Solidarity Framing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81AC4-2C23-CE73-B888-B83A644C32D4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82 </a:t>
            </a:r>
          </a:p>
        </p:txBody>
      </p:sp>
    </p:spTree>
    <p:extLst>
      <p:ext uri="{BB962C8B-B14F-4D97-AF65-F5344CB8AC3E}">
        <p14:creationId xmlns:p14="http://schemas.microsoft.com/office/powerpoint/2010/main" val="4858886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15500-68B8-F72F-4F78-F2F431FC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94895C18-5655-D211-05B1-0F882BB3A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88"/>
          <a:stretch/>
        </p:blipFill>
        <p:spPr>
          <a:xfrm>
            <a:off x="3045949" y="2030501"/>
            <a:ext cx="6353844" cy="346934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3F1EA15-C0FA-300E-7FBA-953EEEABE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9199B-E086-6B3A-1A6B-0773BBD972B6}"/>
              </a:ext>
            </a:extLst>
          </p:cNvPr>
          <p:cNvSpPr txBox="1">
            <a:spLocks/>
          </p:cNvSpPr>
          <p:nvPr/>
        </p:nvSpPr>
        <p:spPr>
          <a:xfrm>
            <a:off x="-762999" y="-799731"/>
            <a:ext cx="1371799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S3-1: </a:t>
            </a:r>
            <a:r>
              <a:rPr lang="en-US" sz="3200" dirty="0">
                <a:latin typeface=""/>
                <a:ea typeface="Palatino" pitchFamily="2" charset="77"/>
                <a:cs typeface="Beirut" pitchFamily="2" charset="-78"/>
              </a:rPr>
              <a:t>Classifying semiotic features with CV2</a:t>
            </a:r>
            <a:endParaRPr lang="en-US" sz="3200" b="1" dirty="0">
              <a:solidFill>
                <a:srgbClr val="964421"/>
              </a:solidFill>
              <a:latin typeface=""/>
              <a:ea typeface="Palatino" pitchFamily="2" charset="77"/>
              <a:cs typeface="Beirut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A76DB-93CD-90B6-D319-D9AF0AD868C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83 </a:t>
            </a:r>
          </a:p>
        </p:txBody>
      </p:sp>
    </p:spTree>
    <p:extLst>
      <p:ext uri="{BB962C8B-B14F-4D97-AF65-F5344CB8AC3E}">
        <p14:creationId xmlns:p14="http://schemas.microsoft.com/office/powerpoint/2010/main" val="38944758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9E84D-EC23-4147-073E-DFABCAA4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98BB377-C671-7522-547B-C8B0F466B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29DC6D-067B-3F8F-7B7B-70EA4C610E03}"/>
              </a:ext>
            </a:extLst>
          </p:cNvPr>
          <p:cNvSpPr txBox="1">
            <a:spLocks/>
          </p:cNvSpPr>
          <p:nvPr/>
        </p:nvSpPr>
        <p:spPr>
          <a:xfrm>
            <a:off x="0" y="-472898"/>
            <a:ext cx="1371799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r>
              <a:rPr lang="en-US" sz="3600" dirty="0">
                <a:latin typeface=""/>
                <a:ea typeface="Palatino" pitchFamily="2" charset="77"/>
                <a:cs typeface="Beirut" pitchFamily="2" charset="-78"/>
              </a:rPr>
              <a:t>S3-2: </a:t>
            </a:r>
            <a:r>
              <a:rPr lang="en-US" sz="3600" dirty="0">
                <a:latin typeface=""/>
              </a:rPr>
              <a:t>Use logistic regression estimates to predict </a:t>
            </a:r>
          </a:p>
          <a:p>
            <a:pPr algn="l">
              <a:lnSpc>
                <a:spcPct val="100000"/>
              </a:lnSpc>
            </a:pPr>
            <a:r>
              <a:rPr lang="en-US" sz="3600" dirty="0">
                <a:latin typeface=""/>
              </a:rPr>
              <a:t>protest paradigm and solidarity frames </a:t>
            </a:r>
          </a:p>
          <a:p>
            <a:pPr algn="l">
              <a:lnSpc>
                <a:spcPct val="100000"/>
              </a:lnSpc>
            </a:pPr>
            <a:r>
              <a:rPr lang="en-US" sz="3600" dirty="0">
                <a:latin typeface=""/>
              </a:rPr>
              <a:t>in a new set of images.</a:t>
            </a:r>
            <a:endParaRPr lang="en-US" sz="3600" b="1" dirty="0">
              <a:solidFill>
                <a:srgbClr val="964421"/>
              </a:solidFill>
              <a:latin typeface=""/>
              <a:ea typeface="Palatino" pitchFamily="2" charset="77"/>
              <a:cs typeface="Beirut" pitchFamily="2" charset="-78"/>
            </a:endParaRPr>
          </a:p>
        </p:txBody>
      </p:sp>
      <p:pic>
        <p:nvPicPr>
          <p:cNvPr id="5" name="Picture 4" descr="A collage of people holding signs&#10;&#10;AI-generated content may be incorrect.">
            <a:extLst>
              <a:ext uri="{FF2B5EF4-FFF2-40B4-BE49-F238E27FC236}">
                <a16:creationId xmlns:a16="http://schemas.microsoft.com/office/drawing/2014/main" id="{7CE363DB-C2E7-1B2D-4E93-0CB02240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39" y="2263957"/>
            <a:ext cx="11411243" cy="3894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9629C7-0F52-ECBE-A76E-B7F51F499B08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84 </a:t>
            </a:r>
          </a:p>
        </p:txBody>
      </p:sp>
    </p:spTree>
    <p:extLst>
      <p:ext uri="{BB962C8B-B14F-4D97-AF65-F5344CB8AC3E}">
        <p14:creationId xmlns:p14="http://schemas.microsoft.com/office/powerpoint/2010/main" val="23148101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3B38-CFEE-04F4-75CE-01D0FA7D2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B57A32F-5711-92D6-05B7-223219AD5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56" y="40640"/>
            <a:ext cx="10830560" cy="2387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solidFill>
                  <a:schemeClr val="accent5">
                    <a:lumMod val="75000"/>
                  </a:schemeClr>
                </a:solidFill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br>
              <a:rPr lang="en-US" sz="3600" dirty="0">
                <a:latin typeface="Palatino" pitchFamily="2" charset="77"/>
                <a:ea typeface="Palatino" pitchFamily="2" charset="77"/>
                <a:cs typeface="Beirut" pitchFamily="2" charset="-78"/>
              </a:rPr>
            </a:br>
            <a:endParaRPr lang="en-US" sz="3600" dirty="0">
              <a:latin typeface="Palatino" pitchFamily="2" charset="77"/>
              <a:ea typeface="Palatino" pitchFamily="2" charset="77"/>
              <a:cs typeface="Beirut" pitchFamily="2" charset="-78"/>
            </a:endParaRPr>
          </a:p>
        </p:txBody>
      </p:sp>
      <p:pic>
        <p:nvPicPr>
          <p:cNvPr id="5" name="Picture 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39BFEE4B-9AC3-9ADC-D610-E1D66A2A5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30" y="626461"/>
            <a:ext cx="9412140" cy="5605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66A4EA-AF3E-B8B4-0873-F9D32F32294A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85 </a:t>
            </a:r>
          </a:p>
        </p:txBody>
      </p:sp>
    </p:spTree>
    <p:extLst>
      <p:ext uri="{BB962C8B-B14F-4D97-AF65-F5344CB8AC3E}">
        <p14:creationId xmlns:p14="http://schemas.microsoft.com/office/powerpoint/2010/main" val="24508548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B0DF1-09E6-DDF4-165B-082C67F1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419A-AC5C-DCE0-A16C-B7828A2E890C}"/>
              </a:ext>
            </a:extLst>
          </p:cNvPr>
          <p:cNvSpPr txBox="1">
            <a:spLocks/>
          </p:cNvSpPr>
          <p:nvPr/>
        </p:nvSpPr>
        <p:spPr>
          <a:xfrm>
            <a:off x="625482" y="4787153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Toward a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theoretical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and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interpretive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computational framework</a:t>
            </a: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0E306-400D-C7B6-BD55-2D78A758FC93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86 </a:t>
            </a:r>
          </a:p>
        </p:txBody>
      </p:sp>
    </p:spTree>
    <p:extLst>
      <p:ext uri="{BB962C8B-B14F-4D97-AF65-F5344CB8AC3E}">
        <p14:creationId xmlns:p14="http://schemas.microsoft.com/office/powerpoint/2010/main" val="38049550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60E88-4F05-EAF1-3115-66A2FC4A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C6E26B-EE05-BDEE-B33B-D2EF0B76FB97}"/>
              </a:ext>
            </a:extLst>
          </p:cNvPr>
          <p:cNvSpPr txBox="1">
            <a:spLocks/>
          </p:cNvSpPr>
          <p:nvPr/>
        </p:nvSpPr>
        <p:spPr>
          <a:xfrm>
            <a:off x="248964" y="4787153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Theory-driven visual framing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analysis with high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interpretability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and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empirical rigor </a:t>
            </a: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8EA60-96E7-2925-E7F4-98B4714A6998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87 </a:t>
            </a:r>
          </a:p>
        </p:txBody>
      </p:sp>
    </p:spTree>
    <p:extLst>
      <p:ext uri="{BB962C8B-B14F-4D97-AF65-F5344CB8AC3E}">
        <p14:creationId xmlns:p14="http://schemas.microsoft.com/office/powerpoint/2010/main" val="39155931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9EE1-256E-55E3-5D13-B6322DEF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37E22D-9317-06D8-3A20-F522360844E7}"/>
              </a:ext>
            </a:extLst>
          </p:cNvPr>
          <p:cNvSpPr txBox="1">
            <a:spLocks/>
          </p:cNvSpPr>
          <p:nvPr/>
        </p:nvSpPr>
        <p:spPr>
          <a:xfrm>
            <a:off x="-684583" y="4074459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Outside the black box</a:t>
            </a:r>
            <a:endParaRPr lang="en-US" sz="5400" b="1" dirty="0">
              <a:solidFill>
                <a:srgbClr val="964421"/>
              </a:solidFill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0566A-C87C-F4F3-A9ED-5CDDA6432003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88 </a:t>
            </a:r>
          </a:p>
        </p:txBody>
      </p:sp>
    </p:spTree>
    <p:extLst>
      <p:ext uri="{BB962C8B-B14F-4D97-AF65-F5344CB8AC3E}">
        <p14:creationId xmlns:p14="http://schemas.microsoft.com/office/powerpoint/2010/main" val="3698492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4337-75E2-5101-91A8-A40ACFDF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mask holding an umbrella&#10;&#10;AI-generated content may be incorrect.">
            <a:extLst>
              <a:ext uri="{FF2B5EF4-FFF2-40B4-BE49-F238E27FC236}">
                <a16:creationId xmlns:a16="http://schemas.microsoft.com/office/drawing/2014/main" id="{734736EC-DFE2-059F-44DE-A7FC6821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2124635"/>
            <a:ext cx="5576976" cy="34301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1DBF04-3F06-186F-D55F-6679BDF6B29B}"/>
              </a:ext>
            </a:extLst>
          </p:cNvPr>
          <p:cNvSpPr txBox="1">
            <a:spLocks/>
          </p:cNvSpPr>
          <p:nvPr/>
        </p:nvSpPr>
        <p:spPr>
          <a:xfrm>
            <a:off x="680720" y="1129553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Prompt: </a:t>
            </a:r>
            <a:r>
              <a:rPr lang="en-US" sz="3600" dirty="0">
                <a:latin typeface=""/>
              </a:rPr>
              <a:t>Does this image represent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"/>
              </a:rPr>
              <a:t>the protest paradigm?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6D23A-26B4-2497-26A1-A4A068136E7B}"/>
              </a:ext>
            </a:extLst>
          </p:cNvPr>
          <p:cNvSpPr txBox="1">
            <a:spLocks/>
          </p:cNvSpPr>
          <p:nvPr/>
        </p:nvSpPr>
        <p:spPr>
          <a:xfrm>
            <a:off x="806227" y="5554801"/>
            <a:ext cx="10830560" cy="7416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"/>
                <a:ea typeface="Palatino" pitchFamily="2" charset="77"/>
                <a:cs typeface="Tahoma" panose="020B0604030504040204" pitchFamily="34" charset="0"/>
              </a:rPr>
              <a:t>GPT- 4o: </a:t>
            </a:r>
            <a:r>
              <a:rPr lang="en-US" sz="3600" dirty="0">
                <a:latin typeface=""/>
              </a:rPr>
              <a:t>Yes</a:t>
            </a:r>
            <a:endParaRPr lang="en-US" sz="2800" dirty="0">
              <a:latin typeface=""/>
              <a:ea typeface="Palatino" pitchFamily="2" charset="7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158AD-C0A2-15AA-7829-69389AD3B88B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89 </a:t>
            </a:r>
          </a:p>
        </p:txBody>
      </p:sp>
    </p:spTree>
    <p:extLst>
      <p:ext uri="{BB962C8B-B14F-4D97-AF65-F5344CB8AC3E}">
        <p14:creationId xmlns:p14="http://schemas.microsoft.com/office/powerpoint/2010/main" val="2140683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151C2-DA31-CFE5-02F4-8A094348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Walk Cycle Animation by Hyacinth on Dribbble">
            <a:extLst>
              <a:ext uri="{FF2B5EF4-FFF2-40B4-BE49-F238E27FC236}">
                <a16:creationId xmlns:a16="http://schemas.microsoft.com/office/drawing/2014/main" id="{B7436987-C08B-3906-59CE-C35DFE380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561" y="1873629"/>
            <a:ext cx="6884875" cy="387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6DFCD13-C480-0E1C-54DE-CE6625788AC0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A329C2-6D7A-38C6-564B-CFF46E85C704}"/>
              </a:ext>
            </a:extLst>
          </p:cNvPr>
          <p:cNvCxnSpPr/>
          <p:nvPr/>
        </p:nvCxnSpPr>
        <p:spPr>
          <a:xfrm>
            <a:off x="508746" y="5629835"/>
            <a:ext cx="11174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9910BB0F-5681-F86E-4223-077086786B6C}"/>
              </a:ext>
            </a:extLst>
          </p:cNvPr>
          <p:cNvSpPr txBox="1">
            <a:spLocks/>
          </p:cNvSpPr>
          <p:nvPr/>
        </p:nvSpPr>
        <p:spPr>
          <a:xfrm>
            <a:off x="1802294" y="1111629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Path Forward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052FB8-C33C-6877-7A21-92BB297B5318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90 </a:t>
            </a:r>
          </a:p>
        </p:txBody>
      </p:sp>
    </p:spTree>
    <p:extLst>
      <p:ext uri="{BB962C8B-B14F-4D97-AF65-F5344CB8AC3E}">
        <p14:creationId xmlns:p14="http://schemas.microsoft.com/office/powerpoint/2010/main" val="19926111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6D92-FE11-CBA7-6BDE-612616D4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6FCC10-CA2B-727D-CE88-A66B074AB0DC}"/>
              </a:ext>
            </a:extLst>
          </p:cNvPr>
          <p:cNvSpPr txBox="1">
            <a:spLocks/>
          </p:cNvSpPr>
          <p:nvPr/>
        </p:nvSpPr>
        <p:spPr>
          <a:xfrm>
            <a:off x="-684583" y="4074459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Opening the black box</a:t>
            </a:r>
            <a:endParaRPr lang="en-US" sz="5400" b="1" dirty="0">
              <a:solidFill>
                <a:srgbClr val="964421"/>
              </a:solidFill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F226B4-0321-8565-B2E7-A7336C59E945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91 </a:t>
            </a:r>
          </a:p>
        </p:txBody>
      </p:sp>
    </p:spTree>
    <p:extLst>
      <p:ext uri="{BB962C8B-B14F-4D97-AF65-F5344CB8AC3E}">
        <p14:creationId xmlns:p14="http://schemas.microsoft.com/office/powerpoint/2010/main" val="13876293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6406D-F040-27E9-19DB-39C36AD0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8997FE-5BFF-FF4C-3AAA-792302F2E699}"/>
              </a:ext>
            </a:extLst>
          </p:cNvPr>
          <p:cNvSpPr txBox="1">
            <a:spLocks/>
          </p:cNvSpPr>
          <p:nvPr/>
        </p:nvSpPr>
        <p:spPr>
          <a:xfrm>
            <a:off x="-348407" y="1425388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Counterfactual visual task</a:t>
            </a:r>
            <a:endParaRPr lang="en-US" sz="5400" b="1" dirty="0">
              <a:solidFill>
                <a:srgbClr val="964421"/>
              </a:solidFill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CB89E-D420-59D0-76E1-0FF0C18A61EE}"/>
              </a:ext>
            </a:extLst>
          </p:cNvPr>
          <p:cNvSpPr txBox="1"/>
          <p:nvPr/>
        </p:nvSpPr>
        <p:spPr>
          <a:xfrm>
            <a:off x="389965" y="2004246"/>
            <a:ext cx="11214847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"/>
              </a:rPr>
              <a:t>Counterfactual condition varying by gender:</a:t>
            </a:r>
            <a:br>
              <a:rPr lang="en-US" sz="36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en-US" sz="3600" b="0" i="1" u="none" strike="noStrike" dirty="0">
                <a:solidFill>
                  <a:srgbClr val="000000"/>
                </a:solidFill>
                <a:effectLst/>
                <a:latin typeface=""/>
              </a:rPr>
              <a:t>Persona preface (example): “I am non-binary. …”</a:t>
            </a:r>
            <a:endParaRPr lang="en-US" sz="3600" b="0" dirty="0">
              <a:effectLst/>
              <a:latin typeface=""/>
            </a:endParaRPr>
          </a:p>
          <a:p>
            <a:pPr>
              <a:buNone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"/>
              </a:rPr>
              <a:t>Constant condition across gender:</a:t>
            </a:r>
            <a:br>
              <a:rPr lang="en-US" sz="3600" b="1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en-US" sz="3600" b="0" i="1" u="none" strike="noStrike" dirty="0">
                <a:solidFill>
                  <a:srgbClr val="000000"/>
                </a:solidFill>
                <a:effectLst/>
                <a:latin typeface=""/>
              </a:rPr>
              <a:t>Image classification task (binary gender classification): “Does this image depict a female or a male? Respond with 0 (female) or 1 (male) only.”</a:t>
            </a:r>
            <a:endParaRPr lang="en-US" sz="3600" dirty="0">
              <a:latin typeface="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7CC76-9134-7F26-6C81-3D4F2023FD91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92 </a:t>
            </a:r>
          </a:p>
        </p:txBody>
      </p:sp>
    </p:spTree>
    <p:extLst>
      <p:ext uri="{BB962C8B-B14F-4D97-AF65-F5344CB8AC3E}">
        <p14:creationId xmlns:p14="http://schemas.microsoft.com/office/powerpoint/2010/main" val="27279454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0293-114C-68BC-588B-3CC6687E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AD66-F95A-70EE-B70F-D854D90C620F}"/>
              </a:ext>
            </a:extLst>
          </p:cNvPr>
          <p:cNvSpPr txBox="1">
            <a:spLocks/>
          </p:cNvSpPr>
          <p:nvPr/>
        </p:nvSpPr>
        <p:spPr>
          <a:xfrm>
            <a:off x="-442536" y="1035423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Refusal as silence </a:t>
            </a:r>
            <a:endParaRPr lang="en-US" sz="5400" b="1" dirty="0">
              <a:solidFill>
                <a:srgbClr val="964421"/>
              </a:solidFill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68610" name="Picture 2">
            <a:extLst>
              <a:ext uri="{FF2B5EF4-FFF2-40B4-BE49-F238E27FC236}">
                <a16:creationId xmlns:a16="http://schemas.microsoft.com/office/drawing/2014/main" id="{46D7F553-2660-5A47-F8F2-7163FBC85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923" y="1035423"/>
            <a:ext cx="7086600" cy="56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1C62F3-AD4D-C7ED-2B1D-7EE75242ABBD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93 </a:t>
            </a:r>
          </a:p>
        </p:txBody>
      </p:sp>
    </p:spTree>
    <p:extLst>
      <p:ext uri="{BB962C8B-B14F-4D97-AF65-F5344CB8AC3E}">
        <p14:creationId xmlns:p14="http://schemas.microsoft.com/office/powerpoint/2010/main" val="30658690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2DD0-9AE5-B334-A14E-79F13C8A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9F82-DCBF-09C3-0830-59F846117027}"/>
              </a:ext>
            </a:extLst>
          </p:cNvPr>
          <p:cNvSpPr txBox="1">
            <a:spLocks/>
          </p:cNvSpPr>
          <p:nvPr/>
        </p:nvSpPr>
        <p:spPr>
          <a:xfrm>
            <a:off x="-442536" y="1035423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Refusal as silence </a:t>
            </a:r>
            <a:endParaRPr lang="en-US" sz="5400" b="1" dirty="0">
              <a:solidFill>
                <a:srgbClr val="964421"/>
              </a:solidFill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  <a:p>
            <a:pPr algn="l"/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68610" name="Picture 2">
            <a:extLst>
              <a:ext uri="{FF2B5EF4-FFF2-40B4-BE49-F238E27FC236}">
                <a16:creationId xmlns:a16="http://schemas.microsoft.com/office/drawing/2014/main" id="{6C8DCBCC-68EB-DB25-BA8B-D5E12AA7C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923" y="1035423"/>
            <a:ext cx="7086600" cy="56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6EF7F8-7FE0-5C2D-78C8-C27156AB55D8}"/>
              </a:ext>
            </a:extLst>
          </p:cNvPr>
          <p:cNvSpPr/>
          <p:nvPr/>
        </p:nvSpPr>
        <p:spPr>
          <a:xfrm>
            <a:off x="2218765" y="2111188"/>
            <a:ext cx="7409329" cy="1317812"/>
          </a:xfrm>
          <a:prstGeom prst="rect">
            <a:avLst/>
          </a:prstGeom>
          <a:noFill/>
          <a:ln w="57150">
            <a:solidFill>
              <a:srgbClr val="964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93161-576F-770D-2293-977217CB5412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94 </a:t>
            </a:r>
          </a:p>
        </p:txBody>
      </p:sp>
    </p:spTree>
    <p:extLst>
      <p:ext uri="{BB962C8B-B14F-4D97-AF65-F5344CB8AC3E}">
        <p14:creationId xmlns:p14="http://schemas.microsoft.com/office/powerpoint/2010/main" val="26084772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FB96C-9221-454D-21F6-9777A2B28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7">
            <a:extLst>
              <a:ext uri="{FF2B5EF4-FFF2-40B4-BE49-F238E27FC236}">
                <a16:creationId xmlns:a16="http://schemas.microsoft.com/office/drawing/2014/main" id="{09CCF815-CD89-9FBA-3A1B-A0510D0BA1F0}"/>
              </a:ext>
            </a:extLst>
          </p:cNvPr>
          <p:cNvSpPr/>
          <p:nvPr/>
        </p:nvSpPr>
        <p:spPr>
          <a:xfrm>
            <a:off x="3444240" y="1285240"/>
            <a:ext cx="4973523" cy="428752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29BFB1-E411-BB87-26D0-DADDF09B1DEA}"/>
              </a:ext>
            </a:extLst>
          </p:cNvPr>
          <p:cNvSpPr txBox="1">
            <a:spLocks/>
          </p:cNvSpPr>
          <p:nvPr/>
        </p:nvSpPr>
        <p:spPr>
          <a:xfrm>
            <a:off x="3378301" y="34290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latin typeface=""/>
              <a:ea typeface="Verdana" panose="020B0604030504040204" pitchFamily="34" charset="0"/>
              <a:cs typeface="CordiaUPC" panose="020B0304020202020204" pitchFamily="34" charset="-34"/>
            </a:endParaRPr>
          </a:p>
        </p:txBody>
      </p:sp>
      <p:pic>
        <p:nvPicPr>
          <p:cNvPr id="13" name="Picture 1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D1FB0149-8157-9747-BBCD-6C599731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7" y="2750633"/>
            <a:ext cx="2822127" cy="2822127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DB8698-12AC-E9AC-256B-EDB85E12377A}"/>
              </a:ext>
            </a:extLst>
          </p:cNvPr>
          <p:cNvSpPr txBox="1">
            <a:spLocks/>
          </p:cNvSpPr>
          <p:nvPr/>
        </p:nvSpPr>
        <p:spPr>
          <a:xfrm>
            <a:off x="-1425001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AE5AAB-B691-0EEA-30CC-B1AEAAD6081A}"/>
              </a:ext>
            </a:extLst>
          </p:cNvPr>
          <p:cNvSpPr txBox="1">
            <a:spLocks/>
          </p:cNvSpPr>
          <p:nvPr/>
        </p:nvSpPr>
        <p:spPr>
          <a:xfrm>
            <a:off x="2703706" y="5775997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EAE533-E511-DA50-C9D9-13C3663CB97A}"/>
              </a:ext>
            </a:extLst>
          </p:cNvPr>
          <p:cNvSpPr txBox="1">
            <a:spLocks/>
          </p:cNvSpPr>
          <p:nvPr/>
        </p:nvSpPr>
        <p:spPr>
          <a:xfrm>
            <a:off x="1802293" y="523240"/>
            <a:ext cx="8257414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E4E6B-1070-B0A2-7851-BBA0E6725790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95 </a:t>
            </a:r>
          </a:p>
        </p:txBody>
      </p:sp>
    </p:spTree>
    <p:extLst>
      <p:ext uri="{BB962C8B-B14F-4D97-AF65-F5344CB8AC3E}">
        <p14:creationId xmlns:p14="http://schemas.microsoft.com/office/powerpoint/2010/main" val="323439574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8B6DD-06D5-E2B1-465E-8B25BBA4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miling at camera&#10;&#10;AI-generated content may be incorrect.">
            <a:extLst>
              <a:ext uri="{FF2B5EF4-FFF2-40B4-BE49-F238E27FC236}">
                <a16:creationId xmlns:a16="http://schemas.microsoft.com/office/drawing/2014/main" id="{158072EA-92EA-5218-2DD4-3628FC685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25" y="739589"/>
            <a:ext cx="2822127" cy="2822127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5A7F71-5DE7-F9A2-EDCF-C5D55C2700FC}"/>
              </a:ext>
            </a:extLst>
          </p:cNvPr>
          <p:cNvSpPr txBox="1"/>
          <p:nvPr/>
        </p:nvSpPr>
        <p:spPr>
          <a:xfrm>
            <a:off x="11424196" y="43935"/>
            <a:ext cx="6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96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D5FE39-5A7C-DA3C-7EB8-14C6DDCBB403}"/>
              </a:ext>
            </a:extLst>
          </p:cNvPr>
          <p:cNvSpPr txBox="1">
            <a:spLocks/>
          </p:cNvSpPr>
          <p:nvPr/>
        </p:nvSpPr>
        <p:spPr>
          <a:xfrm>
            <a:off x="834935" y="5616389"/>
            <a:ext cx="13077072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How do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emerging technologies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help us analyze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information 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flows </a:t>
            </a:r>
          </a:p>
          <a:p>
            <a:pPr algn="l"/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and</a:t>
            </a:r>
            <a:r>
              <a:rPr lang="en-US" sz="5400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 </a:t>
            </a:r>
            <a:r>
              <a:rPr lang="en-US" sz="5400" b="1" dirty="0">
                <a:solidFill>
                  <a:srgbClr val="964421"/>
                </a:solidFill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multimodal </a:t>
            </a:r>
            <a:r>
              <a:rPr lang="en-US" sz="5400" dirty="0">
                <a:latin typeface=""/>
                <a:ea typeface="Verdana" panose="020B0604030504040204" pitchFamily="34" charset="0"/>
                <a:cs typeface="CordiaUPC" panose="020B0304020202020204" pitchFamily="34" charset="-34"/>
              </a:rPr>
              <a:t>communication?</a:t>
            </a:r>
          </a:p>
        </p:txBody>
      </p:sp>
      <p:pic>
        <p:nvPicPr>
          <p:cNvPr id="10" name="Picture 9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3CEFF547-F4D5-340F-88B7-3B2A3C46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782" y="1072675"/>
            <a:ext cx="2489041" cy="2489041"/>
          </a:xfrm>
          <a:prstGeom prst="rect">
            <a:avLst/>
          </a:prstGeom>
        </p:spPr>
      </p:pic>
      <p:pic>
        <p:nvPicPr>
          <p:cNvPr id="114690" name="Picture 2" descr="Android Apps by LinkedIn on Google Play">
            <a:extLst>
              <a:ext uri="{FF2B5EF4-FFF2-40B4-BE49-F238E27FC236}">
                <a16:creationId xmlns:a16="http://schemas.microsoft.com/office/drawing/2014/main" id="{32CE7B01-A081-973F-D218-8BBD2BE252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2" r="22420"/>
          <a:stretch>
            <a:fillRect/>
          </a:stretch>
        </p:blipFill>
        <p:spPr bwMode="auto">
          <a:xfrm>
            <a:off x="6096000" y="2241622"/>
            <a:ext cx="1277471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261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1801</Words>
  <Application>Microsoft Macintosh PowerPoint</Application>
  <PresentationFormat>Widescreen</PresentationFormat>
  <Paragraphs>530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2" baseType="lpstr">
      <vt:lpstr>Aptos</vt:lpstr>
      <vt:lpstr>Aptos Display</vt:lpstr>
      <vt:lpstr>Arial</vt:lpstr>
      <vt:lpstr>Noto Sans</vt:lpstr>
      <vt:lpstr>Palatino</vt:lpstr>
      <vt:lpstr>Office Theme</vt:lpstr>
      <vt:lpstr>Visual framing at scale:  A theory-driven computational framework for analyzing imagery with generative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Sang Jung</dc:creator>
  <cp:lastModifiedBy>Alvin Zhou</cp:lastModifiedBy>
  <cp:revision>6</cp:revision>
  <dcterms:created xsi:type="dcterms:W3CDTF">2026-03-05T01:21:06Z</dcterms:created>
  <dcterms:modified xsi:type="dcterms:W3CDTF">2026-03-05T23:04:27Z</dcterms:modified>
</cp:coreProperties>
</file>