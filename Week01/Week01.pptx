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Course grade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7A-E04F-B5A6-86E84F537970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7A-E04F-B5A6-86E84F537970}"/>
              </c:ext>
            </c:extLst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7A-E04F-B5A6-86E84F537970}"/>
              </c:ext>
            </c:extLst>
          </c:dPt>
          <c:cat>
            <c:strRef>
              <c:f>Sheet1!$A$2:$A$4</c:f>
              <c:strCache>
                <c:ptCount val="3"/>
                <c:pt idx="0">
                  <c:v>Reading</c:v>
                </c:pt>
                <c:pt idx="1">
                  <c:v>Toolkit Demos</c:v>
                </c:pt>
                <c:pt idx="2">
                  <c:v>Final Paper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7A-E04F-B5A6-86E84F5379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0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6459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8500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512064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Communication Research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• Thursdays 2:30–5:00pm • Murphy Hall 25 (basement)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0545775" cy="43891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overview, expectations, and how this class works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Alvin Zhou  •  Office hours: Thu 1:30–2:30pm (Murphy 325)  •  Virtual by appointment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246120"/>
            <a:ext cx="99056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is (and is not)</a:t>
            </a:r>
            <a:endParaRPr lang="en-US" sz="1800" dirty="0"/>
          </a:p>
          <a:p>
            <a:pPr marL="279400" indent="-2794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grading works</a:t>
            </a:r>
            <a:endParaRPr lang="en-US" sz="1800" dirty="0"/>
          </a:p>
          <a:p>
            <a:pPr marL="279400" indent="-2794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deadlines</a:t>
            </a:r>
            <a:endParaRPr lang="en-US" sz="1800" dirty="0"/>
          </a:p>
          <a:p>
            <a:pPr marL="279400" indent="-2794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that matter on day 1</a:t>
            </a:r>
            <a:endParaRPr lang="en-US" sz="1800" dirty="0"/>
          </a:p>
          <a:p>
            <a:pPr marL="279400" indent="-2794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to‑dos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2">
            <a:extLst>
              <a:ext uri="{FF2B5EF4-FFF2-40B4-BE49-F238E27FC236}">
                <a16:creationId xmlns:a16="http://schemas.microsoft.com/office/drawing/2014/main" id="{29EE68DB-A93C-F9DD-66A5-8694EB128880}"/>
              </a:ext>
            </a:extLst>
          </p:cNvPr>
          <p:cNvSpPr/>
          <p:nvPr/>
        </p:nvSpPr>
        <p:spPr>
          <a:xfrm>
            <a:off x="731520" y="6169815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10874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seminar + methods lab for computational communication research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5266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313432"/>
            <a:ext cx="521208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computational tools to study communication/media questions at scale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empirical work and interrogate methods: assumptions, limits, and tradeoffs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you will code, critique, and teach parts of the toolkit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93408" y="1947672"/>
            <a:ext cx="4672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we’ll run class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48272" y="2313432"/>
            <a:ext cx="46177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expectations: you come prepared and contribute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the primary language (no prior coding assumed)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rotate into leadership roles (readings + demos)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transferable skill: learn how to learn new packages fast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If you can Google, ask Chat, StackOverflow, and debug calmly, you can do this class.</a:t>
            </a:r>
            <a:endParaRPr lang="en-US" sz="16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BF1D2E1-228D-E61E-DAF5-A97B3600B234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where things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/ where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313432"/>
            <a:ext cx="53035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Thursdays, 2:30–5:00pm (Jan 22 – Apr 30, 2026)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person: Murphy Hall 25 (basement)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class: Mar 12 (spring break)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Thu 1:30–2:30pm (Murphy 325)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office hours: book via Google Calendar (Zoom)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9128" y="19476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84848" y="2395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84848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z.umn.edu/J8500_Syllabus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3090672"/>
            <a:ext cx="4663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84848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84848" y="3438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z.umn.edu/J8500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803904"/>
            <a:ext cx="4663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84848" y="3822192"/>
            <a:ext cx="2239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demo sign‑up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84848" y="4151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z.umn.edu/J8500_SignUp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4517136"/>
            <a:ext cx="4663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84848" y="45354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meeting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84848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z.umn.edu/Alvin_Meeting</a:t>
            </a:r>
            <a:endParaRPr lang="en-US" sz="13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246EB0BC-9A8B-9FAD-E2E9-0FB9C99950EA}"/>
              </a:ext>
            </a:extLst>
          </p:cNvPr>
          <p:cNvSpPr/>
          <p:nvPr/>
        </p:nvSpPr>
        <p:spPr>
          <a:xfrm>
            <a:off x="731520" y="6169815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Syllabus may change, always visit the URL instead of saving it as a PDF. </a:t>
            </a:r>
            <a:endParaRPr lang="en-US" sz="16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B8AC4187-F9F2-F09A-5F68-F9F15A170E20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grading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10874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buckets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9476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breakdown</a:t>
            </a:r>
            <a:endParaRPr lang="en-US" sz="1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914400" y="233172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739128" y="1947672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those buckets mean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93992" y="2313432"/>
            <a:ext cx="45720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(30%):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discussion + class participation (10%)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lead (5%*4 = 20%)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toolkit demos (10%*3=30%)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 (40%):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idea pitch (5%) + peer review (5%)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Paper proposal (5%) + peer review (5%)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Final paper presentation (5%)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Final paper (15%)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6153912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This class rewards consistency. “Cramming” doesn’t scale.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3EC7477-6A6B-AA6D-F9F3-DDCC1FC9A85B}"/>
              </a:ext>
            </a:extLst>
          </p:cNvPr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4818E7DA-9CC7-C3A0-FE9E-0C2C96D2C965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0">
            <a:extLst>
              <a:ext uri="{FF2B5EF4-FFF2-40B4-BE49-F238E27FC236}">
                <a16:creationId xmlns:a16="http://schemas.microsoft.com/office/drawing/2014/main" id="{ADB04893-9DAE-3B7B-5807-53E02DAE3355}"/>
              </a:ext>
            </a:extLst>
          </p:cNvPr>
          <p:cNvSpPr/>
          <p:nvPr/>
        </p:nvSpPr>
        <p:spPr>
          <a:xfrm>
            <a:off x="731520" y="6153912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discussion + class participation (10%)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313432"/>
            <a:ext cx="53035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required instructional + empirical readings before class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 what the method enables, assumptions, limits, and extends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ready to discuss—not just summarize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readings are optional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endParaRPr lang="en-US" sz="1500" dirty="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In class components: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Reading discussion (1 hour)</a:t>
            </a:r>
          </a:p>
          <a:p>
            <a:pPr marL="666750" lvl="1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Computational toolkit demo (40min*2)</a:t>
            </a:r>
          </a:p>
        </p:txBody>
      </p:sp>
      <p:sp>
        <p:nvSpPr>
          <p:cNvPr id="11" name="Text 9"/>
          <p:cNvSpPr/>
          <p:nvPr/>
        </p:nvSpPr>
        <p:spPr>
          <a:xfrm>
            <a:off x="6739128" y="1947672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discussion + Class participation (10%)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3992" y="2313432"/>
            <a:ext cx="45720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at least TWO thoughtful questions/comments each week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Canvas “[Week X] Readings” due the 11:59pm before class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respond to peers when useful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Engage with class conversations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depth + engagement for both Canvas discussion and class participation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Deadline rule: most assignments/discussions are due 11:59pm the day before class.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D642A66-1E06-C6D0-D095-F564F30EF279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lead (5%*4=20%) with RLA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do (each time)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313432"/>
            <a:ext cx="53035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FOUR empirical readings (one student per paper)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Template available in Course Material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RLA: annotations + ~600‑word reflection/assessment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RLA PDF to Canvas “[Week X] RLA” due 11:59pm before the class (so everyone has an archive)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an interactive discussion (not a mini‑lecture)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9128" y="1947672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graded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3992" y="2313432"/>
            <a:ext cx="45720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 quality (depth, clarity, usefulness to peers)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leadership (organization, engagement)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credit: volunteer for a 5th reading lead (+5%)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can’t attend, you must trade/arrange coverage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6153912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 tip: choose readings that align with your demo + final paper interests.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A4FA657-E1F2-4F51-1FE0-E7B58F8C0C0B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toolkit demos (10%*3=30%)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10874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is the fastest way to learn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313432"/>
            <a:ext cx="53035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(or your group) teach an R package/tool as a ~40‑minute workshop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make others comfortable enough to use it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encouraged to adapt existing tutorials + datasets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up to three students per package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9128" y="19476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(each demo)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84848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Pre‑demo prep (2%)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84848" y="27523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problem set + dataset by end of </a:t>
            </a:r>
            <a:r>
              <a:rPr lang="en-US" sz="1400" b="1" u="sng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class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3410712"/>
            <a:ext cx="4663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84848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In‑class demo (7%)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84848" y="38496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live coding + exercises + Q&amp;A (~40 min)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4507992"/>
            <a:ext cx="4663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84848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Post‑demo (1%)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84848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compiled notebook/markdown + answer keys after class to Canvas (so everyone has an archive)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6153912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The hidden curriculum: develop the confidence to learn any package on your own.</a:t>
            </a:r>
            <a:endParaRPr lang="en-US" sz="16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18CAE05B-5554-84F4-4335-087AEA2B977B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 (40%)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10874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path; everyone hits the same milestones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3152" cy="233172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313432"/>
            <a:ext cx="53035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paper (2–3 students): complete research paper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proposal: design a computational study (no results required)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paper: complete research paper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10744200" cy="2377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446227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70991" y="5575852"/>
            <a:ext cx="9481932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7526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793" y="5760720"/>
            <a:ext cx="123642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idea pitches (individual)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7526" y="6400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8903" y="5468112"/>
            <a:ext cx="219456" cy="219456"/>
          </a:xfrm>
          <a:prstGeom prst="ellipse">
            <a:avLst/>
          </a:prstGeom>
          <a:solidFill>
            <a:srgbClr val="7A00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4894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91740" y="5760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of pitches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48940" y="6400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085" y="5468112"/>
            <a:ext cx="219456" cy="219456"/>
          </a:xfrm>
          <a:prstGeom prst="ellipse">
            <a:avLst/>
          </a:prstGeom>
          <a:solidFill>
            <a:srgbClr val="7A00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56254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99054" y="5776623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draft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(1000–1500 words)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6254" y="6400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35676" y="5468112"/>
            <a:ext cx="219456" cy="219456"/>
          </a:xfrm>
          <a:prstGeom prst="ellipse">
            <a:avLst/>
          </a:prstGeom>
          <a:solidFill>
            <a:srgbClr val="7A00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52016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94816" y="5760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(10–15 min)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52016" y="6400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831267" y="5468112"/>
            <a:ext cx="219456" cy="219456"/>
          </a:xfrm>
          <a:prstGeom prst="ellipse">
            <a:avLst/>
          </a:prstGeom>
          <a:solidFill>
            <a:srgbClr val="7A00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47763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90563" y="5760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7763" y="6400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39128" y="1947672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care about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93992" y="2313432"/>
            <a:ext cx="457200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question with a plausible dataset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 justified (not “because it’s cool”)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+ ethical considerations</a:t>
            </a:r>
            <a:endParaRPr lang="en-US" sz="15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260D0E1F-76CC-E88F-1CDE-06809038BAED}"/>
              </a:ext>
            </a:extLst>
          </p:cNvPr>
          <p:cNvSpPr/>
          <p:nvPr/>
        </p:nvSpPr>
        <p:spPr>
          <a:xfrm>
            <a:off x="6409149" y="1789242"/>
            <a:ext cx="73152" cy="233172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64DF4D0A-FFE0-129F-49D8-8E5DB2CCB43C}"/>
              </a:ext>
            </a:extLst>
          </p:cNvPr>
          <p:cNvSpPr/>
          <p:nvPr/>
        </p:nvSpPr>
        <p:spPr>
          <a:xfrm>
            <a:off x="1353312" y="5468112"/>
            <a:ext cx="219456" cy="219456"/>
          </a:xfrm>
          <a:prstGeom prst="ellipse">
            <a:avLst/>
          </a:prstGeom>
          <a:solidFill>
            <a:srgbClr val="7A00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51EF0583-E646-9511-6CF7-BFBAFDCA8C89}"/>
              </a:ext>
            </a:extLst>
          </p:cNvPr>
          <p:cNvSpPr/>
          <p:nvPr/>
        </p:nvSpPr>
        <p:spPr>
          <a:xfrm>
            <a:off x="5144494" y="5468112"/>
            <a:ext cx="219456" cy="219456"/>
          </a:xfrm>
          <a:prstGeom prst="ellipse">
            <a:avLst/>
          </a:prstGeom>
          <a:solidFill>
            <a:srgbClr val="7A001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9A1DEB51-74C0-C616-2542-ADC5D23AF384}"/>
              </a:ext>
            </a:extLst>
          </p:cNvPr>
          <p:cNvSpPr/>
          <p:nvPr/>
        </p:nvSpPr>
        <p:spPr>
          <a:xfrm>
            <a:off x="6745681" y="4897207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2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9FDE6B2F-CE61-1E82-16C0-9F9A4CA4077E}"/>
              </a:ext>
            </a:extLst>
          </p:cNvPr>
          <p:cNvSpPr/>
          <p:nvPr/>
        </p:nvSpPr>
        <p:spPr>
          <a:xfrm>
            <a:off x="6288481" y="57607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of proposals</a:t>
            </a:r>
            <a:endParaRPr lang="en-US" sz="12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5A5F4FF9-6AEE-7D1C-6AAB-A074E458D3C8}"/>
              </a:ext>
            </a:extLst>
          </p:cNvPr>
          <p:cNvSpPr/>
          <p:nvPr/>
        </p:nvSpPr>
        <p:spPr>
          <a:xfrm>
            <a:off x="6745681" y="6400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9">
            <a:extLst>
              <a:ext uri="{FF2B5EF4-FFF2-40B4-BE49-F238E27FC236}">
                <a16:creationId xmlns:a16="http://schemas.microsoft.com/office/drawing/2014/main" id="{0E95FC4F-0878-9106-F77D-39A55968EEED}"/>
              </a:ext>
            </a:extLst>
          </p:cNvPr>
          <p:cNvSpPr/>
          <p:nvPr/>
        </p:nvSpPr>
        <p:spPr>
          <a:xfrm>
            <a:off x="731520" y="6153912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participation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313432"/>
            <a:ext cx="53035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seminar: attendance and active participation are required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excused absences (email 24 hours before class)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come to class sick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you’re assigned a leading role, you must trade/arrange coverage if absent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9128" y="1947672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work &amp; grading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3992" y="2313432"/>
            <a:ext cx="45720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submissions get a 20% ceiling penalty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72 hours late: not accepted (grade = 0)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are rare and require advance communication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grades follow the UMN letter grade scheme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Late work rule of thumb: your maximum possible score drops by 20%.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5B54CB9F-6276-54BF-559E-580F3C51C9CA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what to do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5358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313432"/>
            <a:ext cx="530352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: Reading Leads (RLA) + Toolkit demos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https://</a:t>
            </a:r>
            <a:r>
              <a:rPr lang="en-US" sz="1500" dirty="0" err="1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z.umn.edu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/J8500_SignUp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Due: Monday, Jan 26, 2026</a:t>
            </a:r>
          </a:p>
        </p:txBody>
      </p:sp>
      <p:sp>
        <p:nvSpPr>
          <p:cNvPr id="11" name="Text 9"/>
          <p:cNvSpPr/>
          <p:nvPr/>
        </p:nvSpPr>
        <p:spPr>
          <a:xfrm>
            <a:off x="6739128" y="1947672"/>
            <a:ext cx="4626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in class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3992" y="2313432"/>
            <a:ext cx="45720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Introductions: interests + current skill level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Complete the SICSS Boot Camp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Work through the “Getting Started” tutorial linked on the syllabus</a:t>
            </a: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endParaRPr lang="en-US" sz="1500" dirty="0">
              <a:solidFill>
                <a:srgbClr val="374151"/>
              </a:solidFill>
              <a:latin typeface="Calibri" pitchFamily="34" charset="0"/>
              <a:cs typeface="Calibri" pitchFamily="34" charset="-120"/>
            </a:endParaRPr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cs typeface="Calibri" pitchFamily="34" charset="-120"/>
              </a:rPr>
              <a:t>Read the Overall Course Readings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6153912"/>
            <a:ext cx="10744200" cy="566928"/>
          </a:xfrm>
          <a:prstGeom prst="round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  <a:effectLst>
            <a:outerShdw blurRad="381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6263640"/>
            <a:ext cx="10287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🧯  Practice makes coding easier.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25E9557-B93A-74FD-B104-40B50156E9D0}"/>
              </a:ext>
            </a:extLst>
          </p:cNvPr>
          <p:cNvSpPr/>
          <p:nvPr/>
        </p:nvSpPr>
        <p:spPr>
          <a:xfrm>
            <a:off x="6405306" y="1783080"/>
            <a:ext cx="73152" cy="4251960"/>
          </a:xfrm>
          <a:prstGeom prst="rect">
            <a:avLst/>
          </a:prstGeom>
          <a:solidFill>
            <a:srgbClr val="7A0019"/>
          </a:solidFill>
          <a:ln w="1270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1152</Words>
  <Application>Microsoft Macintosh PowerPoint</Application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Alvin Zhou</dc:creator>
  <cp:lastModifiedBy>Alvin Zhou</cp:lastModifiedBy>
  <cp:revision>63</cp:revision>
  <dcterms:created xsi:type="dcterms:W3CDTF">2026-01-22T02:40:50Z</dcterms:created>
  <dcterms:modified xsi:type="dcterms:W3CDTF">2026-01-22T04:26:03Z</dcterms:modified>
</cp:coreProperties>
</file>